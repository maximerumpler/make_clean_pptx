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31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are" id="{c254490c-9763-5036-99d1-f7bc5d574597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Evolve" id="{d245394c-e324-5daf-92ed-0b613f110b9e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Compose" id="{6801387e-9506-5fc8-b013-536502b584ca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Relate" id="{86fc8167-5052-5522-b594-3962b39d6333}">
          <p14:sldIdLst>
            <p14:sldId id="274"/>
            <p14:sldId id="275"/>
            <p14:sldId id="276"/>
            <p14:sldId id="277"/>
            <p14:sldId id="278"/>
          </p14:sldIdLst>
        </p14:section>
        <p14:section name="KPI" id="{7ac8f4f9-130f-5562-9460-c455737bb6c9}">
          <p14:sldIdLst>
            <p14:sldId id="279"/>
            <p14:sldId id="280"/>
            <p14:sldId id="281"/>
            <p14:sldId id="282"/>
            <p14:sldId id="283"/>
          </p14:sldIdLst>
        </p14:section>
        <p14:section name="Matrix" id="{9524c955-01b6-57b9-a5ed-c881fa2b8ecf}">
          <p14:sldIdLst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Process" id="{b8d99f32-f272-5679-88dd-f58d1695a8a4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Time" id="{5b1e0435-048c-57b2-b0f9-fb314d9959a4}">
          <p14:sldIdLst>
            <p14:sldId id="297"/>
            <p14:sldId id="298"/>
            <p14:sldId id="299"/>
            <p14:sldId id="300"/>
            <p14:sldId id="301"/>
          </p14:sldIdLst>
        </p14:section>
        <p14:section name="Structure" id="{2895ddd2-b46e-5ead-8c47-ef16f25b32c6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Frameworks" id="{cbd404de-4375-580c-94e0-f9e4b25ec513}">
          <p14:sldIdLst>
            <p14:sldId id="310"/>
            <p14:sldId id="311"/>
            <p14:sldId id="312"/>
            <p14:sldId id="313"/>
            <p14:sldId id="314"/>
            <p14:sldId id="31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  <c:pt idx="5">
                    <c:v>Item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24</c:v>
                </c:pt>
                <c:pt idx="4">
                  <c:v>18</c:v>
                </c:pt>
                <c:pt idx="5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Previous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42</c:v>
                </c:pt>
                <c:pt idx="2">
                  <c:v>25</c:v>
                </c:pt>
                <c:pt idx="3">
                  <c:v>18</c:v>
                </c:pt>
                <c:pt idx="4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Category 1</c:v>
                  </c:pt>
                  <c:pt idx="1">
                    <c:v>Category 2</c:v>
                  </c:pt>
                  <c:pt idx="2">
                    <c:v>Category 3</c:v>
                  </c:pt>
                  <c:pt idx="3">
                    <c:v>Category 4</c:v>
                  </c:pt>
                  <c:pt idx="4">
                    <c:v>Category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</c:v>
                </c:pt>
                <c:pt idx="1">
                  <c:v>40</c:v>
                </c:pt>
                <c:pt idx="2">
                  <c:v>31</c:v>
                </c:pt>
                <c:pt idx="3">
                  <c:v>24</c:v>
                </c:pt>
                <c:pt idx="4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chemeClr val="accent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Item 1</c:v>
                  </c:pt>
                  <c:pt idx="1">
                    <c:v>Item 2</c:v>
                  </c:pt>
                  <c:pt idx="2">
                    <c:v>Item 3</c:v>
                  </c:pt>
                  <c:pt idx="3">
                    <c:v>Item 4</c:v>
                  </c:pt>
                  <c:pt idx="4">
                    <c:v>Item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</c:v>
                </c:pt>
                <c:pt idx="1">
                  <c:v>78</c:v>
                </c:pt>
                <c:pt idx="2">
                  <c:v>64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Downside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-30</c:v>
                </c:pt>
                <c:pt idx="1">
                  <c:v>-22</c:v>
                </c:pt>
                <c:pt idx="2">
                  <c:v>-16</c:v>
                </c:pt>
                <c:pt idx="3">
                  <c:v>-10</c:v>
                </c:pt>
                <c:pt idx="4">
                  <c:v>-6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Driver 1</c:v>
                  </c:pt>
                  <c:pt idx="1">
                    <c:v>Driver 2</c:v>
                  </c:pt>
                  <c:pt idx="2">
                    <c:v>Driver 3</c:v>
                  </c:pt>
                  <c:pt idx="3">
                    <c:v>Driver 4</c:v>
                  </c:pt>
                  <c:pt idx="4">
                    <c:v>Driver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26</c:v>
                </c:pt>
                <c:pt idx="1">
                  <c:v>20</c:v>
                </c:pt>
                <c:pt idx="2">
                  <c:v>14</c:v>
                </c:pt>
                <c:pt idx="3">
                  <c:v>12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Item 1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Item 2</c:v>
                </c:pt>
              </c:strCache>
            </c:strRef>
          </c:tx>
          <c:spPr>
            <a:solidFill>
              <a:schemeClr val="accent3"/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3"/>
              </a:solidFill>
              <a:ln w="9525" cap="flat">
                <a:solidFill>
                  <a:schemeClr val="accent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</c:v>
                </c:pt>
                <c:pt idx="1">
                  <c:v>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Item 3</c:v>
                </c:pt>
              </c:strCache>
            </c:strRef>
          </c:tx>
          <c:spPr>
            <a:solidFill>
              <a:schemeClr val="accent2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2"/>
              </a:solidFill>
              <a:ln w="9525" cap="flat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22</c:v>
                </c:pt>
                <c:pt idx="1">
                  <c:v>34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Item 4</c:v>
                </c:pt>
              </c:strCache>
            </c:strRef>
          </c:tx>
          <c:spPr>
            <a:solidFill>
              <a:schemeClr val="accent4"/>
            </a:solidFill>
            <a:ln w="2540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Before</c:v>
                  </c:pt>
                  <c:pt idx="1">
                    <c:v>After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15</c:v>
                </c:pt>
                <c:pt idx="1">
                  <c:v>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22</c:v>
                </c:pt>
                <c:pt idx="2">
                  <c:v>21</c:v>
                </c:pt>
                <c:pt idx="3">
                  <c:v>25</c:v>
                </c:pt>
                <c:pt idx="4">
                  <c:v>27</c:v>
                </c:pt>
                <c:pt idx="5">
                  <c:v>26</c:v>
                </c:pt>
                <c:pt idx="6">
                  <c:v>30</c:v>
                </c:pt>
                <c:pt idx="7">
                  <c:v>36</c:v>
                </c:pt>
                <c:pt idx="8">
                  <c:v>41</c:v>
                </c:pt>
                <c:pt idx="9">
                  <c:v>43</c:v>
                </c:pt>
                <c:pt idx="10">
                  <c:v>46</c:v>
                </c:pt>
                <c:pt idx="11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22</c:v>
                </c:pt>
                <c:pt idx="2">
                  <c:v>25</c:v>
                </c:pt>
                <c:pt idx="3">
                  <c:v>27</c:v>
                </c:pt>
                <c:pt idx="4">
                  <c:v>30</c:v>
                </c:pt>
                <c:pt idx="5">
                  <c:v>33</c:v>
                </c:pt>
                <c:pt idx="6">
                  <c:v>35</c:v>
                </c:pt>
                <c:pt idx="7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</c:v>
                </c:pt>
                <c:pt idx="1">
                  <c:v>13</c:v>
                </c:pt>
                <c:pt idx="2">
                  <c:v>14</c:v>
                </c:pt>
                <c:pt idx="3">
                  <c:v>16</c:v>
                </c:pt>
                <c:pt idx="4">
                  <c:v>17</c:v>
                </c:pt>
                <c:pt idx="5">
                  <c:v>18</c:v>
                </c:pt>
                <c:pt idx="6">
                  <c:v>20</c:v>
                </c:pt>
                <c:pt idx="7">
                  <c:v>21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spPr>
            <a:solidFill>
              <a:schemeClr val="accent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34</c:v>
                </c:pt>
                <c:pt idx="2">
                  <c:v>33</c:v>
                </c:pt>
                <c:pt idx="3">
                  <c:v>40</c:v>
                </c:pt>
                <c:pt idx="4">
                  <c:v>44</c:v>
                </c:pt>
                <c:pt idx="5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13</c:v>
                </c:pt>
                <c:pt idx="2">
                  <c:v>11</c:v>
                </c:pt>
                <c:pt idx="3">
                  <c:v>15</c:v>
                </c:pt>
                <c:pt idx="4">
                  <c:v>17</c:v>
                </c:pt>
                <c:pt idx="5">
                  <c:v>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4"/>
            </a:solidFill>
            <a:ln w="31750" cap="flat">
              <a:solidFill>
                <a:schemeClr val="accent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4"/>
              </a:solidFill>
              <a:ln w="9525" cap="flat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</c:v>
                </c:pt>
                <c:pt idx="1">
                  <c:v>12</c:v>
                </c:pt>
                <c:pt idx="2">
                  <c:v>22</c:v>
                </c:pt>
                <c:pt idx="3">
                  <c:v>35</c:v>
                </c:pt>
                <c:pt idx="4">
                  <c:v>50</c:v>
                </c:pt>
                <c:pt idx="5">
                  <c:v>64</c:v>
                </c:pt>
                <c:pt idx="6">
                  <c:v>76</c:v>
                </c:pt>
                <c:pt idx="7">
                  <c:v>86</c:v>
                </c:pt>
                <c:pt idx="8">
                  <c:v>94</c:v>
                </c:pt>
                <c:pt idx="9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/>
            </a:solidFill>
            <a:ln w="3175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</c:v>
                </c:pt>
                <c:pt idx="1">
                  <c:v>10</c:v>
                </c:pt>
                <c:pt idx="2">
                  <c:v>18</c:v>
                </c:pt>
                <c:pt idx="3">
                  <c:v>29</c:v>
                </c:pt>
                <c:pt idx="4">
                  <c:v>41</c:v>
                </c:pt>
                <c:pt idx="5">
                  <c:v>52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6</c:v>
                </c:pt>
                <c:pt idx="5">
                  <c:v>5</c:v>
                </c:pt>
                <c:pt idx="6">
                  <c:v>7</c:v>
                </c:pt>
                <c:pt idx="7">
                  <c:v>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6</c:v>
                </c:pt>
                <c:pt idx="4">
                  <c:v>7</c:v>
                </c:pt>
                <c:pt idx="5">
                  <c:v>6</c:v>
                </c:pt>
                <c:pt idx="6">
                  <c:v>8</c:v>
                </c:pt>
                <c:pt idx="7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</c:v>
                </c:pt>
                <c:pt idx="1">
                  <c:v>6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  <c:pt idx="5">
                  <c:v>7</c:v>
                </c:pt>
                <c:pt idx="6">
                  <c:v>9</c:v>
                </c:pt>
                <c:pt idx="7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2225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7</c:v>
                </c:pt>
                <c:pt idx="2">
                  <c:v>6</c:v>
                </c:pt>
                <c:pt idx="3">
                  <c:v>8</c:v>
                </c:pt>
                <c:pt idx="4">
                  <c:v>9</c:v>
                </c:pt>
                <c:pt idx="5">
                  <c:v>8</c:v>
                </c:pt>
                <c:pt idx="6">
                  <c:v>10</c:v>
                </c:pt>
                <c:pt idx="7">
                  <c:v>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16</c:v>
                </c:pt>
                <c:pt idx="2">
                  <c:v>17</c:v>
                </c:pt>
                <c:pt idx="3">
                  <c:v>19</c:v>
                </c:pt>
                <c:pt idx="4">
                  <c:v>18</c:v>
                </c:pt>
                <c:pt idx="5">
                  <c:v>21</c:v>
                </c:pt>
                <c:pt idx="6">
                  <c:v>23</c:v>
                </c:pt>
                <c:pt idx="7">
                  <c:v>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12</c:v>
                </c:pt>
                <c:pt idx="2">
                  <c:v>13</c:v>
                </c:pt>
                <c:pt idx="3">
                  <c:v>15</c:v>
                </c:pt>
                <c:pt idx="4">
                  <c:v>14</c:v>
                </c:pt>
                <c:pt idx="5">
                  <c:v>17</c:v>
                </c:pt>
                <c:pt idx="6">
                  <c:v>19</c:v>
                </c:pt>
                <c:pt idx="7">
                  <c:v>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100</c:v>
                </c:pt>
                <c:pt idx="2">
                  <c:v>120</c:v>
                </c:pt>
                <c:pt idx="3">
                  <c:v>112</c:v>
                </c:pt>
                <c:pt idx="4">
                  <c:v>112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20</c:v>
                </c:pt>
                <c:pt idx="2">
                  <c:v>0</c:v>
                </c:pt>
                <c:pt idx="3">
                  <c:v>0</c:v>
                </c:pt>
                <c:pt idx="4">
                  <c:v>13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Start</c:v>
                  </c:pt>
                  <c:pt idx="1">
                    <c:v>Driver 1</c:v>
                  </c:pt>
                  <c:pt idx="2">
                    <c:v>Driver 2</c:v>
                  </c:pt>
                  <c:pt idx="3">
                    <c:v>Driver 3</c:v>
                  </c:pt>
                  <c:pt idx="4">
                    <c:v>Driver 4</c:v>
                  </c:pt>
                  <c:pt idx="5">
                    <c:v>End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8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35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</c:v>
                </c:pt>
                <c:pt idx="1">
                  <c:v>35</c:v>
                </c:pt>
                <c:pt idx="2">
                  <c:v>40</c:v>
                </c:pt>
                <c:pt idx="3">
                  <c:v>30</c:v>
                </c:pt>
                <c:pt idx="4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Group 1</c:v>
                  </c:pt>
                  <c:pt idx="1">
                    <c:v>Group 2</c:v>
                  </c:pt>
                  <c:pt idx="2">
                    <c:v>Group 3</c:v>
                  </c:pt>
                  <c:pt idx="3">
                    <c:v>Group 4</c:v>
                  </c:pt>
                  <c:pt idx="4">
                    <c:v>Group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</c:v>
                </c:pt>
                <c:pt idx="1">
                  <c:v>25</c:v>
                </c:pt>
                <c:pt idx="2">
                  <c:v>25</c:v>
                </c:pt>
                <c:pt idx="3">
                  <c:v>40</c:v>
                </c:pt>
                <c:pt idx="4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3"/>
              </a:solidFill>
              <a:effectLst/>
            </c:spPr>
          </c:dPt>
          <c:dPt>
            <c:idx val="2"/>
            <c:bubble3D val="0"/>
            <c:spPr>
              <a:solidFill>
                <a:schemeClr val="accent4"/>
              </a:solidFill>
              <a:effectLst/>
            </c:spPr>
          </c:dPt>
          <c:dPt>
            <c:idx val="3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Part 1</c:v>
                </c:pt>
                <c:pt idx="1">
                  <c:v>Part 2</c:v>
                </c:pt>
                <c:pt idx="2">
                  <c:v>Part 3</c:v>
                </c:pt>
                <c:pt idx="3">
                  <c:v>Part 4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45</c:v>
                </c:pt>
                <c:pt idx="1">
                  <c:v>25</c:v>
                </c:pt>
                <c:pt idx="2">
                  <c:v>18</c:v>
                </c:pt>
                <c:pt idx="3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Part 1</c:v>
                </c:pt>
                <c:pt idx="1">
                  <c:v>Part 2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</c:v>
                </c:pt>
                <c:pt idx="1">
                  <c:v>32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Component 1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24</c:v>
                </c:pt>
                <c:pt idx="2">
                  <c:v>27</c:v>
                </c:pt>
                <c:pt idx="3">
                  <c:v>31</c:v>
                </c:pt>
                <c:pt idx="4">
                  <c:v>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Component 2</c:v>
                </c:pt>
              </c:strCache>
            </c:strRef>
          </c:tx>
          <c:spPr>
            <a:solidFill>
              <a:schemeClr val="accent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</c:v>
                </c:pt>
                <c:pt idx="1">
                  <c:v>13</c:v>
                </c:pt>
                <c:pt idx="2">
                  <c:v>15</c:v>
                </c:pt>
                <c:pt idx="3">
                  <c:v>15</c:v>
                </c:pt>
                <c:pt idx="4">
                  <c:v>18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Component 3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11</c:v>
                </c:pt>
                <c:pt idx="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3.5</c:v>
                </c:pt>
                <c:pt idx="3">
                  <c:v>4</c:v>
                </c:pt>
                <c:pt idx="4">
                  <c:v>5</c:v>
                </c:pt>
                <c:pt idx="5">
                  <c:v>5.5</c:v>
                </c:pt>
                <c:pt idx="6">
                  <c:v>6</c:v>
                </c:pt>
                <c:pt idx="7">
                  <c:v>7</c:v>
                </c:pt>
                <c:pt idx="8">
                  <c:v>7.5</c:v>
                </c:pt>
                <c:pt idx="9">
                  <c:v>8</c:v>
                </c:pt>
                <c:pt idx="10">
                  <c:v>9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3</c:v>
                </c:pt>
                <c:pt idx="1">
                  <c:v>4</c:v>
                </c:pt>
                <c:pt idx="2">
                  <c:v>3.6</c:v>
                </c:pt>
                <c:pt idx="3">
                  <c:v>5</c:v>
                </c:pt>
                <c:pt idx="4">
                  <c:v>5.2</c:v>
                </c:pt>
                <c:pt idx="5">
                  <c:v>6.4</c:v>
                </c:pt>
                <c:pt idx="6">
                  <c:v>6</c:v>
                </c:pt>
                <c:pt idx="7">
                  <c:v>7.4</c:v>
                </c:pt>
                <c:pt idx="8">
                  <c:v>6.8</c:v>
                </c:pt>
                <c:pt idx="9">
                  <c:v>8.1</c:v>
                </c:pt>
                <c:pt idx="10">
                  <c:v>8.5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</c:v>
                </c:pt>
              </c:strCache>
            </c:strRef>
          </c:tx>
          <c:spPr>
            <a:solidFill>
              <a:schemeClr val="accent3">
                <a:alpha val="70000"/>
              </a:schemeClr>
            </a:solidFill>
            <a:ln w="25400" cap="flat">
              <a:solidFill>
                <a:schemeClr val="accent3"/>
              </a:solidFill>
              <a:prstDash val="solid"/>
              <a:round/>
            </a:ln>
            <a:effectLst/>
          </c:spPr>
          <c:xVal>
            <c:numRef>
              <c:f>Sheet1!$A$2:$A$6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5</c:v>
                </c:pt>
                <c:pt idx="3">
                  <c:v>7</c:v>
                </c:pt>
                <c:pt idx="4">
                  <c:v>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7</c:v>
                </c:pt>
                <c:pt idx="3">
                  <c:v>5</c:v>
                </c:pt>
                <c:pt idx="4">
                  <c:v>8</c:v>
                </c:pt>
              </c:numCache>
            </c:numRef>
          </c:yVal>
          <c:bubbleSize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8</c:v>
                </c:pt>
                <c:pt idx="2">
                  <c:v>5</c:v>
                </c:pt>
                <c:pt idx="3">
                  <c:v>10</c:v>
                </c:pt>
                <c:pt idx="4">
                  <c:v>3</c:v>
                </c:pt>
              </c:numCache>
            </c:numRef>
          </c:bubbleSize>
          <c:bubble3D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>
              <c15:showLeaderLines val="0"/>
            </c:ext>
          </c:extLst>
        </c:dLbls>
        <c:axId val="2094734554"/>
        <c:axId val="2094734552"/>
      </c:bubble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0-10</c:v>
                  </c:pt>
                  <c:pt idx="1">
                    <c:v>10-20</c:v>
                  </c:pt>
                  <c:pt idx="2">
                    <c:v>20-30</c:v>
                  </c:pt>
                  <c:pt idx="3">
                    <c:v>30-40</c:v>
                  </c:pt>
                  <c:pt idx="4">
                    <c:v>40-50</c:v>
                  </c:pt>
                  <c:pt idx="5">
                    <c:v>50-60</c:v>
                  </c:pt>
                  <c:pt idx="6">
                    <c:v>60-70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</c:v>
                </c:pt>
                <c:pt idx="1">
                  <c:v>8</c:v>
                </c:pt>
                <c:pt idx="2">
                  <c:v>15</c:v>
                </c:pt>
                <c:pt idx="3">
                  <c:v>22</c:v>
                </c:pt>
                <c:pt idx="4">
                  <c:v>14</c:v>
                </c:pt>
                <c:pt idx="5">
                  <c:v>7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26</c:v>
                </c:pt>
                <c:pt idx="2">
                  <c:v>14</c:v>
                </c:pt>
                <c:pt idx="3">
                  <c:v>9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Cumulative %</c:v>
                </c:pt>
              </c:strCache>
            </c:strRef>
          </c:tx>
          <c:spPr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chemeClr val="accent1"/>
              </a:solidFill>
              <a:ln w="9525" cap="flat">
                <a:solidFill>
                  <a:schemeClr val="accent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Cause 1</c:v>
                  </c:pt>
                  <c:pt idx="1">
                    <c:v>Cause 2</c:v>
                  </c:pt>
                  <c:pt idx="2">
                    <c:v>Cause 3</c:v>
                  </c:pt>
                  <c:pt idx="3">
                    <c:v>Cause 4</c:v>
                  </c:pt>
                  <c:pt idx="4">
                    <c:v>Cause 5</c:v>
                  </c:pt>
                  <c:pt idx="5">
                    <c:v>Cause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</c:v>
                </c:pt>
                <c:pt idx="1">
                  <c:v>68</c:v>
                </c:pt>
                <c:pt idx="2">
                  <c:v>82</c:v>
                </c:pt>
                <c:pt idx="3">
                  <c:v>91</c:v>
                </c:pt>
                <c:pt idx="4">
                  <c:v>97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chemeClr val="tx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00"/>
          <c:min val="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chemeClr val="tx2"/>
              </a:solidFill>
              <a:latin typeface="+mn-lt"/>
              <a:cs typeface="+mn-c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72</c:v>
                </c:pt>
                <c:pt idx="1">
                  <c:v>28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48</c:v>
                </c:pt>
                <c:pt idx="1">
                  <c:v>52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Rate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Done</c:v>
                </c:pt>
                <c:pt idx="1">
                  <c:v>Left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90</c:v>
                </c:pt>
                <c:pt idx="1">
                  <c:v>10</c:v>
                </c:pt>
              </c:numCache>
            </c:numRef>
          </c:val>
        </c:ser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chemeClr val="accent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14</c:v>
                </c:pt>
                <c:pt idx="2">
                  <c:v>13</c:v>
                </c:pt>
                <c:pt idx="3">
                  <c:v>15</c:v>
                </c:pt>
                <c:pt idx="4">
                  <c:v>16</c:v>
                </c:pt>
                <c:pt idx="5">
                  <c:v>15</c:v>
                </c:pt>
                <c:pt idx="6">
                  <c:v>18</c:v>
                </c:pt>
                <c:pt idx="7">
                  <c:v>19</c:v>
                </c:pt>
                <c:pt idx="8">
                  <c:v>21</c:v>
                </c:pt>
                <c:pt idx="9">
                  <c:v>20</c:v>
                </c:pt>
                <c:pt idx="10">
                  <c:v>23</c:v>
                </c:pt>
                <c:pt idx="11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Gauge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chemeClr val="bg1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chemeClr val="accent1"/>
              </a:solidFill>
              <a:effectLst/>
            </c:spPr>
          </c:dPt>
          <c:dPt>
            <c:idx val="1"/>
            <c:bubble3D val="0"/>
            <c:spPr>
              <a:solidFill>
                <a:schemeClr val="accent6"/>
              </a:solidFill>
              <a:effectLst/>
            </c:spPr>
          </c:dPt>
          <c:dPt>
            <c:idx val="2"/>
            <c:bubble3D val="0"/>
            <c:spPr>
              <a:noFill/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chemeClr val="tx2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chemeClr val="tx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Value</c:v>
                </c:pt>
                <c:pt idx="1">
                  <c:v>Rest</c:v>
                </c:pt>
                <c:pt idx="2">
                  <c:v>Hidden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35</c:v>
                </c:pt>
                <c:pt idx="2">
                  <c:v>100</c:v>
                </c:pt>
              </c:numCache>
            </c:numRef>
          </c:val>
        </c:ser>
        <c:firstSliceAng val="27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  <c:pt idx="4">
                  <c:v>8</c:v>
                </c:pt>
                <c:pt idx="5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</c:v>
                </c:pt>
              </c:strCache>
            </c:strRef>
          </c:tx>
          <c:spPr>
            <a:solidFill>
              <a:schemeClr val="accent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Task 1</c:v>
                  </c:pt>
                  <c:pt idx="1">
                    <c:v>Task 2</c:v>
                  </c:pt>
                  <c:pt idx="2">
                    <c:v>Task 3</c:v>
                  </c:pt>
                  <c:pt idx="3">
                    <c:v>Task 4</c:v>
                  </c:pt>
                  <c:pt idx="4">
                    <c:v>Task 5</c:v>
                  </c:pt>
                  <c:pt idx="5">
                    <c:v>Task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chemeClr val="bg1">
                <a:lumMod val="85000"/>
              </a:schemeClr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chemeClr val="bg1">
                  <a:lumMod val="85000"/>
                </a:schemeClr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V-CMP-01  ·  Ranked bars</a:t>
            </a:r>
            <a:endParaRPr lang="en-US" sz="1000" dirty="0"/>
          </a:p>
        </p:txBody>
      </p:sp>
      <p:grpSp>
        <p:nvGrpSpPr>
          <p:cNvPr id="5" name="V-CMP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V-CMP-02  ·  Two periods</a:t>
            </a:r>
            <a:endParaRPr lang="en-US" sz="1000" dirty="0"/>
          </a:p>
        </p:txBody>
      </p:sp>
      <p:grpSp>
        <p:nvGrpSpPr>
          <p:cNvPr id="5" name="V-CMP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V-CMP-03  ·  Progress to target</a:t>
            </a:r>
            <a:endParaRPr lang="en-US" sz="1000" dirty="0"/>
          </a:p>
        </p:txBody>
      </p:sp>
      <p:grpSp>
        <p:nvGrpSpPr>
          <p:cNvPr id="5" name="V-CMP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V-CMP-04  ·  Sensitivity tornado</a:t>
            </a:r>
            <a:endParaRPr lang="en-US" sz="1000" dirty="0"/>
          </a:p>
        </p:txBody>
      </p:sp>
      <p:grpSp>
        <p:nvGrpSpPr>
          <p:cNvPr id="5" name="V-CMP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V-CMP-05  ·  Slope chart</a:t>
            </a:r>
            <a:endParaRPr lang="en-US" sz="1000" dirty="0"/>
          </a:p>
        </p:txBody>
      </p:sp>
      <p:grpSp>
        <p:nvGrpSpPr>
          <p:cNvPr id="5" name="V-CMP-05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V-CMP-06  ·  Scored comparison</a:t>
            </a:r>
            <a:endParaRPr lang="en-US" sz="1000" dirty="0"/>
          </a:p>
        </p:txBody>
      </p:sp>
      <p:grpSp>
        <p:nvGrpSpPr>
          <p:cNvPr id="39" name="V-CMP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ption 1"/>
            <p:cNvSpPr/>
            <p:nvPr/>
          </p:nvSpPr>
          <p:spPr>
            <a:xfrm>
              <a:off x="3840480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A</a:t>
              </a:r>
              <a:endParaRPr lang="en-US" sz="1200" dirty="0"/>
            </a:p>
          </p:txBody>
        </p:sp>
        <p:sp>
          <p:nvSpPr>
            <p:cNvPr id="4" name="Option 2"/>
            <p:cNvSpPr/>
            <p:nvPr/>
          </p:nvSpPr>
          <p:spPr>
            <a:xfrm>
              <a:off x="5791124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B</a:t>
              </a:r>
              <a:endParaRPr lang="en-US" sz="1200" dirty="0"/>
            </a:p>
          </p:txBody>
        </p:sp>
        <p:sp>
          <p:nvSpPr>
            <p:cNvPr id="5" name="Option 3"/>
            <p:cNvSpPr/>
            <p:nvPr/>
          </p:nvSpPr>
          <p:spPr>
            <a:xfrm>
              <a:off x="7741768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C</a:t>
              </a:r>
              <a:endParaRPr lang="en-US" sz="1200" dirty="0"/>
            </a:p>
          </p:txBody>
        </p:sp>
        <p:sp>
          <p:nvSpPr>
            <p:cNvPr id="6" name="Option 4"/>
            <p:cNvSpPr/>
            <p:nvPr/>
          </p:nvSpPr>
          <p:spPr>
            <a:xfrm>
              <a:off x="9692411" y="1097280"/>
              <a:ext cx="1950644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Option D</a:t>
              </a:r>
              <a:endParaRPr lang="en-US" sz="1200" dirty="0"/>
            </a:p>
          </p:txBody>
        </p:sp>
        <p:sp>
          <p:nvSpPr>
            <p:cNvPr id="7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Criterion 1"/>
            <p:cNvSpPr/>
            <p:nvPr/>
          </p:nvSpPr>
          <p:spPr>
            <a:xfrm>
              <a:off x="548640" y="1645920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1</a:t>
              </a:r>
              <a:endParaRPr lang="en-US" sz="1200" dirty="0"/>
            </a:p>
          </p:txBody>
        </p:sp>
        <p:sp>
          <p:nvSpPr>
            <p:cNvPr id="9" name="Score 1-1"/>
            <p:cNvSpPr/>
            <p:nvPr/>
          </p:nvSpPr>
          <p:spPr>
            <a:xfrm>
              <a:off x="4642066" y="1805940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0" name="Score 1-2"/>
            <p:cNvSpPr/>
            <p:nvPr/>
          </p:nvSpPr>
          <p:spPr>
            <a:xfrm>
              <a:off x="6592710" y="1805940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1" name="Score 1-3"/>
            <p:cNvSpPr/>
            <p:nvPr/>
          </p:nvSpPr>
          <p:spPr>
            <a:xfrm>
              <a:off x="8543354" y="1805940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2" name="Score 1-4"/>
            <p:cNvSpPr/>
            <p:nvPr/>
          </p:nvSpPr>
          <p:spPr>
            <a:xfrm>
              <a:off x="10493997" y="1805940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Criterion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13432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Criterion 2"/>
            <p:cNvSpPr/>
            <p:nvPr/>
          </p:nvSpPr>
          <p:spPr>
            <a:xfrm>
              <a:off x="548640" y="2313432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2</a:t>
              </a:r>
              <a:endParaRPr lang="en-US" sz="1200" dirty="0"/>
            </a:p>
          </p:txBody>
        </p:sp>
        <p:sp>
          <p:nvSpPr>
            <p:cNvPr id="15" name="Score 2-1"/>
            <p:cNvSpPr/>
            <p:nvPr/>
          </p:nvSpPr>
          <p:spPr>
            <a:xfrm>
              <a:off x="4642066" y="2473452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6" name="Score 2-2"/>
            <p:cNvSpPr/>
            <p:nvPr/>
          </p:nvSpPr>
          <p:spPr>
            <a:xfrm>
              <a:off x="6592710" y="2473452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7" name="Score 2-3"/>
            <p:cNvSpPr/>
            <p:nvPr/>
          </p:nvSpPr>
          <p:spPr>
            <a:xfrm>
              <a:off x="8543354" y="2473452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Score 2-4"/>
            <p:cNvSpPr/>
            <p:nvPr/>
          </p:nvSpPr>
          <p:spPr>
            <a:xfrm>
              <a:off x="10493997" y="2473452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9" name="Criterion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980944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Criterion 3"/>
            <p:cNvSpPr/>
            <p:nvPr/>
          </p:nvSpPr>
          <p:spPr>
            <a:xfrm>
              <a:off x="548640" y="2980944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3</a:t>
              </a:r>
              <a:endParaRPr lang="en-US" sz="1200" dirty="0"/>
            </a:p>
          </p:txBody>
        </p:sp>
        <p:sp>
          <p:nvSpPr>
            <p:cNvPr id="21" name="Score 3-1"/>
            <p:cNvSpPr/>
            <p:nvPr/>
          </p:nvSpPr>
          <p:spPr>
            <a:xfrm>
              <a:off x="4642066" y="3140964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2" name="Score 3-2"/>
            <p:cNvSpPr/>
            <p:nvPr/>
          </p:nvSpPr>
          <p:spPr>
            <a:xfrm>
              <a:off x="6592710" y="3140964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Score 3-3"/>
            <p:cNvSpPr/>
            <p:nvPr/>
          </p:nvSpPr>
          <p:spPr>
            <a:xfrm>
              <a:off x="8543354" y="3140964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4" name="Score 3-4"/>
            <p:cNvSpPr/>
            <p:nvPr/>
          </p:nvSpPr>
          <p:spPr>
            <a:xfrm>
              <a:off x="10493997" y="3140964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5" name="Criterion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648456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Criterion 4"/>
            <p:cNvSpPr/>
            <p:nvPr/>
          </p:nvSpPr>
          <p:spPr>
            <a:xfrm>
              <a:off x="548640" y="3648456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4</a:t>
              </a:r>
              <a:endParaRPr lang="en-US" sz="1200" dirty="0"/>
            </a:p>
          </p:txBody>
        </p:sp>
        <p:sp>
          <p:nvSpPr>
            <p:cNvPr id="27" name="Score 4-1"/>
            <p:cNvSpPr/>
            <p:nvPr/>
          </p:nvSpPr>
          <p:spPr>
            <a:xfrm>
              <a:off x="4642066" y="3808476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Score 4-2"/>
            <p:cNvSpPr/>
            <p:nvPr/>
          </p:nvSpPr>
          <p:spPr>
            <a:xfrm>
              <a:off x="6592710" y="3808476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9" name="Score 4-3"/>
            <p:cNvSpPr/>
            <p:nvPr/>
          </p:nvSpPr>
          <p:spPr>
            <a:xfrm>
              <a:off x="8543354" y="3808476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0" name="Score 4-4"/>
            <p:cNvSpPr/>
            <p:nvPr/>
          </p:nvSpPr>
          <p:spPr>
            <a:xfrm>
              <a:off x="10493997" y="3808476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1" name="Criterion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15968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Criterion 5"/>
            <p:cNvSpPr/>
            <p:nvPr/>
          </p:nvSpPr>
          <p:spPr>
            <a:xfrm>
              <a:off x="548640" y="4315968"/>
              <a:ext cx="310896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Criterion 5</a:t>
              </a:r>
              <a:endParaRPr lang="en-US" sz="1200" dirty="0"/>
            </a:p>
          </p:txBody>
        </p:sp>
        <p:sp>
          <p:nvSpPr>
            <p:cNvPr id="33" name="Score 5-1"/>
            <p:cNvSpPr/>
            <p:nvPr/>
          </p:nvSpPr>
          <p:spPr>
            <a:xfrm>
              <a:off x="4642066" y="4475988"/>
              <a:ext cx="347472" cy="347472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4" name="Score 5-2"/>
            <p:cNvSpPr/>
            <p:nvPr/>
          </p:nvSpPr>
          <p:spPr>
            <a:xfrm>
              <a:off x="6592710" y="4475988"/>
              <a:ext cx="347472" cy="347472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5" name="Score 5-3"/>
            <p:cNvSpPr/>
            <p:nvPr/>
          </p:nvSpPr>
          <p:spPr>
            <a:xfrm>
              <a:off x="8543354" y="4475988"/>
              <a:ext cx="347472" cy="347472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6" name="Score 5-4"/>
            <p:cNvSpPr/>
            <p:nvPr/>
          </p:nvSpPr>
          <p:spPr>
            <a:xfrm>
              <a:off x="10493997" y="4475988"/>
              <a:ext cx="347472" cy="347472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7" name="Criterion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834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8" name="Note"/>
            <p:cNvSpPr/>
            <p:nvPr/>
          </p:nvSpPr>
          <p:spPr>
            <a:xfrm>
              <a:off x="548640" y="5001768"/>
              <a:ext cx="11094415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Scale: black = strong, light grey = weak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V-EVO-01  ·  Line with annotation</a:t>
            </a:r>
            <a:endParaRPr lang="en-US" sz="1000" dirty="0"/>
          </a:p>
        </p:txBody>
      </p:sp>
      <p:grpSp>
        <p:nvGrpSpPr>
          <p:cNvPr id="7" name="V-EVO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21708" y="1417320"/>
              <a:ext cx="45720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Callout"/>
            <p:cNvSpPr/>
            <p:nvPr/>
          </p:nvSpPr>
          <p:spPr>
            <a:xfrm>
              <a:off x="4521708" y="1508760"/>
              <a:ext cx="2167128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happened at this point</a:t>
              </a:r>
              <a:endParaRPr lang="en-US" sz="12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V-EVO-02  ·  Stacked area</a:t>
            </a:r>
            <a:endParaRPr lang="en-US" sz="1000" dirty="0"/>
          </a:p>
        </p:txBody>
      </p:sp>
      <p:grpSp>
        <p:nvGrpSpPr>
          <p:cNvPr id="5" name="V-EVO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V-EVO-03  ·  Columns and line</a:t>
            </a:r>
            <a:endParaRPr lang="en-US" sz="1000" dirty="0"/>
          </a:p>
        </p:txBody>
      </p:sp>
      <p:grpSp>
        <p:nvGrpSpPr>
          <p:cNvPr id="5" name="V-EVO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V-EVO-04  ·  Plan versus actual</a:t>
            </a:r>
            <a:endParaRPr lang="en-US" sz="1000" dirty="0"/>
          </a:p>
        </p:txBody>
      </p:sp>
      <p:grpSp>
        <p:nvGrpSpPr>
          <p:cNvPr id="5" name="V-EVO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V-EVO-05  ·  Trend table</a:t>
            </a:r>
            <a:endParaRPr lang="en-US" sz="1000" dirty="0"/>
          </a:p>
        </p:txBody>
      </p:sp>
      <p:grpSp>
        <p:nvGrpSpPr>
          <p:cNvPr id="23" name="V-EVO-05"/>
          <p:cNvGrpSpPr/>
          <p:nvPr/>
        </p:nvGrpSpPr>
        <p:grpSpPr>
          <a:xfrm>
            <a:off x="548640" y="1097280"/>
            <a:ext cx="7223760" cy="3977731"/>
            <a:chOff x="548640" y="1097280"/>
            <a:chExt cx="7223760" cy="3977731"/>
          </a:xfrm>
        </p:grpSpPr>
        <p:sp>
          <p:nvSpPr>
            <p:cNvPr id="3" name="Header 1"/>
            <p:cNvSpPr/>
            <p:nvPr/>
          </p:nvSpPr>
          <p:spPr>
            <a:xfrm>
              <a:off x="548640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Indicator</a:t>
              </a:r>
              <a:endParaRPr lang="en-US" sz="1000" dirty="0"/>
            </a:p>
          </p:txBody>
        </p:sp>
        <p:sp>
          <p:nvSpPr>
            <p:cNvPr id="4" name="Header 2"/>
            <p:cNvSpPr/>
            <p:nvPr/>
          </p:nvSpPr>
          <p:spPr>
            <a:xfrm>
              <a:off x="3438144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Current</a:t>
              </a:r>
              <a:endParaRPr lang="en-US" sz="1000" dirty="0"/>
            </a:p>
          </p:txBody>
        </p:sp>
        <p:sp>
          <p:nvSpPr>
            <p:cNvPr id="5" name="Header 3"/>
            <p:cNvSpPr/>
            <p:nvPr/>
          </p:nvSpPr>
          <p:spPr>
            <a:xfrm>
              <a:off x="5027371" y="1097280"/>
              <a:ext cx="2745029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Trend</a:t>
              </a:r>
              <a:endParaRPr lang="en-US" sz="1000" dirty="0"/>
            </a:p>
          </p:txBody>
        </p:sp>
        <p:sp>
          <p:nvSpPr>
            <p:cNvPr id="6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Indicator 1"/>
            <p:cNvSpPr/>
            <p:nvPr/>
          </p:nvSpPr>
          <p:spPr>
            <a:xfrm>
              <a:off x="548640" y="146304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8" name="Value 1"/>
            <p:cNvSpPr/>
            <p:nvPr/>
          </p:nvSpPr>
          <p:spPr>
            <a:xfrm>
              <a:off x="3438144" y="146304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9" name="Trend 1" descr=""/>
            <p:cNvGraphicFramePr/>
            <p:nvPr/>
          </p:nvGraphicFramePr>
          <p:xfrm>
            <a:off x="5027371" y="1536192"/>
            <a:ext cx="2745029" cy="756666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10" name="Indicator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6601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Indicator 2"/>
            <p:cNvSpPr/>
            <p:nvPr/>
          </p:nvSpPr>
          <p:spPr>
            <a:xfrm>
              <a:off x="548640" y="236601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2" name="Value 2"/>
            <p:cNvSpPr/>
            <p:nvPr/>
          </p:nvSpPr>
          <p:spPr>
            <a:xfrm>
              <a:off x="3438144" y="236601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3" name="Trend 2" descr=""/>
            <p:cNvGraphicFramePr/>
            <p:nvPr/>
          </p:nvGraphicFramePr>
          <p:xfrm>
            <a:off x="5027371" y="2439162"/>
            <a:ext cx="2745029" cy="756666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14" name="Indicator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689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5" name="Indicator 3"/>
            <p:cNvSpPr/>
            <p:nvPr/>
          </p:nvSpPr>
          <p:spPr>
            <a:xfrm>
              <a:off x="548640" y="326898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16" name="Value 3"/>
            <p:cNvSpPr/>
            <p:nvPr/>
          </p:nvSpPr>
          <p:spPr>
            <a:xfrm>
              <a:off x="3438144" y="326898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17" name="Trend 3" descr=""/>
            <p:cNvGraphicFramePr/>
            <p:nvPr/>
          </p:nvGraphicFramePr>
          <p:xfrm>
            <a:off x="5027371" y="3342132"/>
            <a:ext cx="2745029" cy="756666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8" name="Indicator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7195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9" name="Indicator 4"/>
            <p:cNvSpPr/>
            <p:nvPr/>
          </p:nvSpPr>
          <p:spPr>
            <a:xfrm>
              <a:off x="548640" y="4171950"/>
              <a:ext cx="2745029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Indicator name</a:t>
              </a:r>
              <a:endParaRPr lang="en-US" sz="1200" dirty="0"/>
            </a:p>
          </p:txBody>
        </p:sp>
        <p:sp>
          <p:nvSpPr>
            <p:cNvPr id="20" name="Value 4"/>
            <p:cNvSpPr/>
            <p:nvPr/>
          </p:nvSpPr>
          <p:spPr>
            <a:xfrm>
              <a:off x="3438144" y="4171950"/>
              <a:ext cx="1444752" cy="9029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2000" dirty="0"/>
            </a:p>
          </p:txBody>
        </p:sp>
        <p:graphicFrame>
          <p:nvGraphicFramePr>
            <p:cNvPr id="21" name="Trend 4" descr=""/>
            <p:cNvGraphicFramePr/>
            <p:nvPr/>
          </p:nvGraphicFramePr>
          <p:xfrm>
            <a:off x="5027371" y="4245102"/>
            <a:ext cx="2745029" cy="756666"/>
          </p:xfrm>
          <a:graphic>
            <a:graphicData uri="http://schemas.openxmlformats.org/drawingml/2006/chart">
              <c:chart xmlns:c="http://schemas.openxmlformats.org/drawingml/2006/chart" r:id="rId4"/>
            </a:graphicData>
          </a:graphic>
        </p:graphicFrame>
        <p:sp>
          <p:nvSpPr>
            <p:cNvPr id="22" name="Indicator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50749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V-EVO-06  ·  Small multiples</a:t>
            </a:r>
            <a:endParaRPr lang="en-US" sz="1000" dirty="0"/>
          </a:p>
        </p:txBody>
      </p:sp>
      <p:grpSp>
        <p:nvGrpSpPr>
          <p:cNvPr id="13" name="V-EVO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Heading 1"/>
            <p:cNvSpPr/>
            <p:nvPr/>
          </p:nvSpPr>
          <p:spPr>
            <a:xfrm>
              <a:off x="548640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1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5" name="Panel 1" descr=""/>
            <p:cNvGraphicFramePr/>
            <p:nvPr/>
          </p:nvGraphicFramePr>
          <p:xfrm>
            <a:off x="548640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6" name="Heading 2"/>
            <p:cNvSpPr/>
            <p:nvPr/>
          </p:nvSpPr>
          <p:spPr>
            <a:xfrm>
              <a:off x="4353458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2</a:t>
              </a:r>
              <a:endParaRPr lang="en-US" sz="12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53458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8" name="Panel 2" descr=""/>
            <p:cNvGraphicFramePr/>
            <p:nvPr/>
          </p:nvGraphicFramePr>
          <p:xfrm>
            <a:off x="4353458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9" name="Heading 3"/>
            <p:cNvSpPr/>
            <p:nvPr/>
          </p:nvSpPr>
          <p:spPr>
            <a:xfrm>
              <a:off x="8158277" y="1097280"/>
              <a:ext cx="348477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Segment 3</a:t>
              </a:r>
              <a:endParaRPr lang="en-US" sz="12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58277" y="1463040"/>
              <a:ext cx="348477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graphicFrame>
          <p:nvGraphicFramePr>
            <p:cNvPr id="11" name="Panel 3" descr=""/>
            <p:cNvGraphicFramePr/>
            <p:nvPr/>
          </p:nvGraphicFramePr>
          <p:xfrm>
            <a:off x="8158277" y="1554480"/>
            <a:ext cx="3484778" cy="338328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2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V-COM-01  ·  Waterfall bridge</a:t>
            </a:r>
            <a:endParaRPr lang="en-US" sz="1000" dirty="0"/>
          </a:p>
        </p:txBody>
      </p:sp>
      <p:grpSp>
        <p:nvGrpSpPr>
          <p:cNvPr id="5" name="V-COM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V-COM-02  ·  Mix bars</a:t>
            </a:r>
            <a:endParaRPr lang="en-US" sz="1000" dirty="0"/>
          </a:p>
        </p:txBody>
      </p:sp>
      <p:grpSp>
        <p:nvGrpSpPr>
          <p:cNvPr id="5" name="V-COM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V-COM-03  ·  Donut with total</a:t>
            </a:r>
            <a:endParaRPr lang="en-US" sz="1000" dirty="0"/>
          </a:p>
        </p:txBody>
      </p:sp>
      <p:grpSp>
        <p:nvGrpSpPr>
          <p:cNvPr id="7" name="V-COM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Total"/>
            <p:cNvSpPr/>
            <p:nvPr/>
          </p:nvSpPr>
          <p:spPr>
            <a:xfrm>
              <a:off x="2423160" y="2473452"/>
              <a:ext cx="1645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4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000</a:t>
              </a:r>
              <a:endParaRPr lang="en-US" sz="2400" dirty="0"/>
            </a:p>
          </p:txBody>
        </p:sp>
        <p:sp>
          <p:nvSpPr>
            <p:cNvPr id="5" name="Total label"/>
            <p:cNvSpPr/>
            <p:nvPr/>
          </p:nvSpPr>
          <p:spPr>
            <a:xfrm>
              <a:off x="2423160" y="2967228"/>
              <a:ext cx="1645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Total</a:t>
              </a:r>
              <a:endParaRPr lang="en-US" sz="1000" dirty="0"/>
            </a:p>
          </p:txBody>
        </p:sp>
        <p:sp>
          <p:nvSpPr>
            <p:cNvPr id="6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V-COM-04  ·  Simple pie</a:t>
            </a:r>
            <a:endParaRPr lang="en-US" sz="1000" dirty="0"/>
          </a:p>
        </p:txBody>
      </p:sp>
      <p:grpSp>
        <p:nvGrpSpPr>
          <p:cNvPr id="5" name="V-COM-04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35204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663440"/>
              <a:ext cx="5394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V-COM-05  ·  Funnel</a:t>
            </a:r>
            <a:endParaRPr lang="en-US" sz="1000" dirty="0"/>
          </a:p>
        </p:txBody>
      </p:sp>
      <p:grpSp>
        <p:nvGrpSpPr>
          <p:cNvPr id="23" name="V-COM-05"/>
          <p:cNvGrpSpPr/>
          <p:nvPr/>
        </p:nvGrpSpPr>
        <p:grpSpPr>
          <a:xfrm>
            <a:off x="548640" y="1133856"/>
            <a:ext cx="7223760" cy="4123944"/>
            <a:chOff x="548640" y="1133856"/>
            <a:chExt cx="7223760" cy="4123944"/>
          </a:xfrm>
        </p:grpSpPr>
        <p:sp>
          <p:nvSpPr>
            <p:cNvPr id="3" name="Stag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Value 1"/>
            <p:cNvSpPr/>
            <p:nvPr/>
          </p:nvSpPr>
          <p:spPr>
            <a:xfrm>
              <a:off x="548640" y="1133856"/>
              <a:ext cx="3973068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5" name="Stage 1"/>
            <p:cNvSpPr/>
            <p:nvPr/>
          </p:nvSpPr>
          <p:spPr>
            <a:xfrm>
              <a:off x="4796028" y="1133856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6" name="Stag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7" name="Value 2"/>
            <p:cNvSpPr/>
            <p:nvPr/>
          </p:nvSpPr>
          <p:spPr>
            <a:xfrm>
              <a:off x="866485" y="1874520"/>
              <a:ext cx="3337377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8" name="Stage 2"/>
            <p:cNvSpPr/>
            <p:nvPr/>
          </p:nvSpPr>
          <p:spPr>
            <a:xfrm>
              <a:off x="4796028" y="1874520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9" name="Rate 1"/>
            <p:cNvSpPr/>
            <p:nvPr/>
          </p:nvSpPr>
          <p:spPr>
            <a:xfrm>
              <a:off x="6674206" y="1504188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0" name="Stag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1" name="Value 3"/>
            <p:cNvSpPr/>
            <p:nvPr/>
          </p:nvSpPr>
          <p:spPr>
            <a:xfrm>
              <a:off x="1184331" y="2615184"/>
              <a:ext cx="2701686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2" name="Stage 3"/>
            <p:cNvSpPr/>
            <p:nvPr/>
          </p:nvSpPr>
          <p:spPr>
            <a:xfrm>
              <a:off x="4796028" y="2615184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3" name="Rate 2"/>
            <p:cNvSpPr/>
            <p:nvPr/>
          </p:nvSpPr>
          <p:spPr>
            <a:xfrm>
              <a:off x="6674206" y="2244852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4" name="Stag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4"/>
            <p:cNvSpPr/>
            <p:nvPr/>
          </p:nvSpPr>
          <p:spPr>
            <a:xfrm>
              <a:off x="1502176" y="3355848"/>
              <a:ext cx="2065995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16" name="Stage 4"/>
            <p:cNvSpPr/>
            <p:nvPr/>
          </p:nvSpPr>
          <p:spPr>
            <a:xfrm>
              <a:off x="4796028" y="3355848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7" name="Rate 3"/>
            <p:cNvSpPr/>
            <p:nvPr/>
          </p:nvSpPr>
          <p:spPr>
            <a:xfrm>
              <a:off x="6674206" y="2985516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18" name="Stag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9" name="Value 5"/>
            <p:cNvSpPr/>
            <p:nvPr/>
          </p:nvSpPr>
          <p:spPr>
            <a:xfrm>
              <a:off x="1820022" y="4096512"/>
              <a:ext cx="143030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1600" dirty="0"/>
            </a:p>
          </p:txBody>
        </p:sp>
        <p:sp>
          <p:nvSpPr>
            <p:cNvPr id="20" name="Stage 5"/>
            <p:cNvSpPr/>
            <p:nvPr/>
          </p:nvSpPr>
          <p:spPr>
            <a:xfrm>
              <a:off x="4796028" y="4096512"/>
              <a:ext cx="1805940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200" dirty="0"/>
            </a:p>
          </p:txBody>
        </p:sp>
        <p:sp>
          <p:nvSpPr>
            <p:cNvPr id="21" name="Rate 4"/>
            <p:cNvSpPr/>
            <p:nvPr/>
          </p:nvSpPr>
          <p:spPr>
            <a:xfrm>
              <a:off x="6674206" y="3726180"/>
              <a:ext cx="1098194" cy="6675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00%</a:t>
              </a:r>
              <a:endParaRPr lang="en-US" sz="1000" dirty="0"/>
            </a:p>
          </p:txBody>
        </p:sp>
        <p:sp>
          <p:nvSpPr>
            <p:cNvPr id="22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V-COM-06  ·  Stacked columns</a:t>
            </a:r>
            <a:endParaRPr lang="en-US" sz="1000" dirty="0"/>
          </a:p>
        </p:txBody>
      </p:sp>
      <p:grpSp>
        <p:nvGrpSpPr>
          <p:cNvPr id="5" name="V-COM-06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V-REL-01  ·  Scatter plot</a:t>
            </a:r>
            <a:endParaRPr lang="en-US" sz="1000" dirty="0"/>
          </a:p>
        </p:txBody>
      </p:sp>
      <p:grpSp>
        <p:nvGrpSpPr>
          <p:cNvPr id="5" name="V-REL-01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 axis: measure 1 · Y axis: measure 2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V-REL-02  ·  Bubble portfolio</a:t>
            </a:r>
            <a:endParaRPr lang="en-US" sz="1000" dirty="0"/>
          </a:p>
        </p:txBody>
      </p:sp>
      <p:grpSp>
        <p:nvGrpSpPr>
          <p:cNvPr id="5" name="V-REL-02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X: measure 1 · Y: measure 2 · size: measure 3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V-REL-03  ·  Histogram</a:t>
            </a:r>
            <a:endParaRPr lang="en-US" sz="1000" dirty="0"/>
          </a:p>
        </p:txBody>
      </p:sp>
      <p:grpSp>
        <p:nvGrpSpPr>
          <p:cNvPr id="5" name="V-REL-03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V-REL-04  ·  Heatmap grid</a:t>
            </a:r>
            <a:endParaRPr lang="en-US" sz="1000" dirty="0"/>
          </a:p>
        </p:txBody>
      </p:sp>
      <p:grpSp>
        <p:nvGrpSpPr>
          <p:cNvPr id="45" name="V-REL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"/>
            <p:cNvSpPr/>
            <p:nvPr/>
          </p:nvSpPr>
          <p:spPr>
            <a:xfrm>
              <a:off x="2560320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1</a:t>
              </a:r>
              <a:endParaRPr lang="en-US" sz="1000" dirty="0"/>
            </a:p>
          </p:txBody>
        </p:sp>
        <p:sp>
          <p:nvSpPr>
            <p:cNvPr id="4" name="Column 2"/>
            <p:cNvSpPr/>
            <p:nvPr/>
          </p:nvSpPr>
          <p:spPr>
            <a:xfrm>
              <a:off x="4074109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2</a:t>
              </a:r>
              <a:endParaRPr lang="en-US" sz="1000" dirty="0"/>
            </a:p>
          </p:txBody>
        </p:sp>
        <p:sp>
          <p:nvSpPr>
            <p:cNvPr id="5" name="Column 3"/>
            <p:cNvSpPr/>
            <p:nvPr/>
          </p:nvSpPr>
          <p:spPr>
            <a:xfrm>
              <a:off x="558789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3</a:t>
              </a:r>
              <a:endParaRPr lang="en-US" sz="1000" dirty="0"/>
            </a:p>
          </p:txBody>
        </p:sp>
        <p:sp>
          <p:nvSpPr>
            <p:cNvPr id="6" name="Column 4"/>
            <p:cNvSpPr/>
            <p:nvPr/>
          </p:nvSpPr>
          <p:spPr>
            <a:xfrm>
              <a:off x="7101688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4</a:t>
              </a:r>
              <a:endParaRPr lang="en-US" sz="1000" dirty="0"/>
            </a:p>
          </p:txBody>
        </p:sp>
        <p:sp>
          <p:nvSpPr>
            <p:cNvPr id="7" name="Column 5"/>
            <p:cNvSpPr/>
            <p:nvPr/>
          </p:nvSpPr>
          <p:spPr>
            <a:xfrm>
              <a:off x="8615477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5</a:t>
              </a:r>
              <a:endParaRPr lang="en-US" sz="1000" dirty="0"/>
            </a:p>
          </p:txBody>
        </p:sp>
        <p:sp>
          <p:nvSpPr>
            <p:cNvPr id="8" name="Column 6"/>
            <p:cNvSpPr/>
            <p:nvPr/>
          </p:nvSpPr>
          <p:spPr>
            <a:xfrm>
              <a:off x="10129266" y="1097280"/>
              <a:ext cx="151378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Column 6</a:t>
              </a:r>
              <a:endParaRPr lang="en-US" sz="1000" dirty="0"/>
            </a:p>
          </p:txBody>
        </p:sp>
        <p:sp>
          <p:nvSpPr>
            <p:cNvPr id="9" name="Row 1"/>
            <p:cNvSpPr/>
            <p:nvPr/>
          </p:nvSpPr>
          <p:spPr>
            <a:xfrm>
              <a:off x="548640" y="1463040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578608" y="1481328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092397" y="1481328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5606186" y="1481328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7119976" y="1481328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8633765" y="1481328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5" name="Cell 1-6"/>
            <p:cNvSpPr/>
            <p:nvPr/>
          </p:nvSpPr>
          <p:spPr>
            <a:xfrm>
              <a:off x="10147554" y="1481328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6" name="Row 2"/>
            <p:cNvSpPr/>
            <p:nvPr/>
          </p:nvSpPr>
          <p:spPr>
            <a:xfrm>
              <a:off x="548640" y="2157984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2</a:t>
              </a:r>
              <a:endParaRPr lang="en-US" sz="12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578608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092397" y="2176272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5606186" y="2176272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7119976" y="2176272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8633765" y="2176272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2" name="Cell 2-6"/>
            <p:cNvSpPr/>
            <p:nvPr/>
          </p:nvSpPr>
          <p:spPr>
            <a:xfrm>
              <a:off x="10147554" y="2176272"/>
              <a:ext cx="1477213" cy="658368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3" name="Row 3"/>
            <p:cNvSpPr/>
            <p:nvPr/>
          </p:nvSpPr>
          <p:spPr>
            <a:xfrm>
              <a:off x="548640" y="2852928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3</a:t>
              </a:r>
              <a:endParaRPr lang="en-US" sz="12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578608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092397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5606186" y="2871216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7119976" y="2871216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8633765" y="2871216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29" name="Cell 3-6"/>
            <p:cNvSpPr/>
            <p:nvPr/>
          </p:nvSpPr>
          <p:spPr>
            <a:xfrm>
              <a:off x="10147554" y="2871216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0" name="Row 4"/>
            <p:cNvSpPr/>
            <p:nvPr/>
          </p:nvSpPr>
          <p:spPr>
            <a:xfrm>
              <a:off x="548640" y="3547872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4</a:t>
              </a:r>
              <a:endParaRPr lang="en-US" sz="1200" dirty="0"/>
            </a:p>
          </p:txBody>
        </p:sp>
        <p:sp>
          <p:nvSpPr>
            <p:cNvPr id="31" name="Cell 4-1"/>
            <p:cNvSpPr/>
            <p:nvPr/>
          </p:nvSpPr>
          <p:spPr>
            <a:xfrm>
              <a:off x="2578608" y="3566160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2" name="Cell 4-2"/>
            <p:cNvSpPr/>
            <p:nvPr/>
          </p:nvSpPr>
          <p:spPr>
            <a:xfrm>
              <a:off x="4092397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3" name="Cell 4-3"/>
            <p:cNvSpPr/>
            <p:nvPr/>
          </p:nvSpPr>
          <p:spPr>
            <a:xfrm>
              <a:off x="5606186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4" name="Cell 4-4"/>
            <p:cNvSpPr/>
            <p:nvPr/>
          </p:nvSpPr>
          <p:spPr>
            <a:xfrm>
              <a:off x="7119976" y="3566160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5" name="Cell 4-5"/>
            <p:cNvSpPr/>
            <p:nvPr/>
          </p:nvSpPr>
          <p:spPr>
            <a:xfrm>
              <a:off x="8633765" y="3566160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6" name="Cell 4-6"/>
            <p:cNvSpPr/>
            <p:nvPr/>
          </p:nvSpPr>
          <p:spPr>
            <a:xfrm>
              <a:off x="10147554" y="3566160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7" name="Row 5"/>
            <p:cNvSpPr/>
            <p:nvPr/>
          </p:nvSpPr>
          <p:spPr>
            <a:xfrm>
              <a:off x="548640" y="4242816"/>
              <a:ext cx="1874520" cy="6949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Row 5</a:t>
              </a:r>
              <a:endParaRPr lang="en-US" sz="1200" dirty="0"/>
            </a:p>
          </p:txBody>
        </p:sp>
        <p:sp>
          <p:nvSpPr>
            <p:cNvPr id="38" name="Cell 5-1"/>
            <p:cNvSpPr/>
            <p:nvPr/>
          </p:nvSpPr>
          <p:spPr>
            <a:xfrm>
              <a:off x="2578608" y="4261104"/>
              <a:ext cx="1477213" cy="658368"/>
            </a:xfrm>
            <a:prstGeom prst="rect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39" name="Cell 5-2"/>
            <p:cNvSpPr/>
            <p:nvPr/>
          </p:nvSpPr>
          <p:spPr>
            <a:xfrm>
              <a:off x="4092397" y="4261104"/>
              <a:ext cx="1477213" cy="658368"/>
            </a:xfrm>
            <a:prstGeom prst="rect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0" name="Cell 5-3"/>
            <p:cNvSpPr/>
            <p:nvPr/>
          </p:nvSpPr>
          <p:spPr>
            <a:xfrm>
              <a:off x="5606186" y="4261104"/>
              <a:ext cx="1477213" cy="658368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1" name="Cell 5-4"/>
            <p:cNvSpPr/>
            <p:nvPr/>
          </p:nvSpPr>
          <p:spPr>
            <a:xfrm>
              <a:off x="7119976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2" name="Cell 5-5"/>
            <p:cNvSpPr/>
            <p:nvPr/>
          </p:nvSpPr>
          <p:spPr>
            <a:xfrm>
              <a:off x="8633765" y="4261104"/>
              <a:ext cx="1477213" cy="658368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3" name="Cell 5-6"/>
            <p:cNvSpPr/>
            <p:nvPr/>
          </p:nvSpPr>
          <p:spPr>
            <a:xfrm>
              <a:off x="10147554" y="4261104"/>
              <a:ext cx="1477213" cy="658368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00</a:t>
              </a:r>
              <a:endParaRPr lang="en-US" sz="1000" dirty="0"/>
            </a:p>
          </p:txBody>
        </p:sp>
        <p:sp>
          <p:nvSpPr>
            <p:cNvPr id="44" name="Sourc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V-REL-05  ·  Pareto</a:t>
            </a:r>
            <a:endParaRPr lang="en-US" sz="1000" dirty="0"/>
          </a:p>
        </p:txBody>
      </p:sp>
      <p:grpSp>
        <p:nvGrpSpPr>
          <p:cNvPr id="5" name="V-REL-05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7223760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Sourc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Source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V-KPI-01  ·  KPI cards with change</a:t>
            </a:r>
            <a:endParaRPr lang="en-US" sz="1000" dirty="0"/>
          </a:p>
        </p:txBody>
      </p:sp>
      <p:grpSp>
        <p:nvGrpSpPr>
          <p:cNvPr id="18" name="V-KPI-01"/>
          <p:cNvGrpSpPr/>
          <p:nvPr/>
        </p:nvGrpSpPr>
        <p:grpSpPr>
          <a:xfrm>
            <a:off x="548640" y="1097280"/>
            <a:ext cx="7223760" cy="2194560"/>
            <a:chOff x="548640" y="1097280"/>
            <a:chExt cx="7223760" cy="21945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2255520" cy="548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5" name="Value 1"/>
            <p:cNvSpPr/>
            <p:nvPr/>
          </p:nvSpPr>
          <p:spPr>
            <a:xfrm>
              <a:off x="77724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6" name="Label 1"/>
            <p:cNvSpPr/>
            <p:nvPr/>
          </p:nvSpPr>
          <p:spPr>
            <a:xfrm>
              <a:off x="77724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7" name="Change 1"/>
            <p:cNvSpPr/>
            <p:nvPr/>
          </p:nvSpPr>
          <p:spPr>
            <a:xfrm>
              <a:off x="77724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8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9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03276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0" name="Value 2"/>
            <p:cNvSpPr/>
            <p:nvPr/>
          </p:nvSpPr>
          <p:spPr>
            <a:xfrm>
              <a:off x="326136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1" name="Label 2"/>
            <p:cNvSpPr/>
            <p:nvPr/>
          </p:nvSpPr>
          <p:spPr>
            <a:xfrm>
              <a:off x="326136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2" name="Change 2"/>
            <p:cNvSpPr/>
            <p:nvPr/>
          </p:nvSpPr>
          <p:spPr>
            <a:xfrm>
              <a:off x="326136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sp>
          <p:nvSpPr>
            <p:cNvPr id="13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21945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516880" y="1097280"/>
              <a:ext cx="2255520" cy="54864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5" name="Value 3"/>
            <p:cNvSpPr/>
            <p:nvPr/>
          </p:nvSpPr>
          <p:spPr>
            <a:xfrm>
              <a:off x="5745480" y="1371600"/>
              <a:ext cx="179832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4000" dirty="0"/>
            </a:p>
          </p:txBody>
        </p:sp>
        <p:sp>
          <p:nvSpPr>
            <p:cNvPr id="16" name="Label 3"/>
            <p:cNvSpPr/>
            <p:nvPr/>
          </p:nvSpPr>
          <p:spPr>
            <a:xfrm>
              <a:off x="5745480" y="224028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sp>
          <p:nvSpPr>
            <p:cNvPr id="17" name="Change 3"/>
            <p:cNvSpPr/>
            <p:nvPr/>
          </p:nvSpPr>
          <p:spPr>
            <a:xfrm>
              <a:off x="5745480" y="2651760"/>
              <a:ext cx="179832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V-KPI-02  ·  Progress rings</a:t>
            </a:r>
            <a:endParaRPr lang="en-US" sz="1000" dirty="0"/>
          </a:p>
        </p:txBody>
      </p:sp>
      <p:grpSp>
        <p:nvGrpSpPr>
          <p:cNvPr id="12" name="V-KPI-02"/>
          <p:cNvGrpSpPr/>
          <p:nvPr/>
        </p:nvGrpSpPr>
        <p:grpSpPr>
          <a:xfrm>
            <a:off x="548640" y="1097280"/>
            <a:ext cx="7223760" cy="2865120"/>
            <a:chOff x="548640" y="1097280"/>
            <a:chExt cx="7223760" cy="2865120"/>
          </a:xfrm>
        </p:grpSpPr>
        <p:graphicFrame>
          <p:nvGraphicFramePr>
            <p:cNvPr id="3" name="Ring 1" descr=""/>
            <p:cNvGraphicFramePr/>
            <p:nvPr/>
          </p:nvGraphicFramePr>
          <p:xfrm>
            <a:off x="54864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 1"/>
            <p:cNvSpPr/>
            <p:nvPr/>
          </p:nvSpPr>
          <p:spPr>
            <a:xfrm>
              <a:off x="54864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5" name="Label 1"/>
            <p:cNvSpPr/>
            <p:nvPr/>
          </p:nvSpPr>
          <p:spPr>
            <a:xfrm>
              <a:off x="54864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6" name="Ring 2" descr=""/>
            <p:cNvGraphicFramePr/>
            <p:nvPr/>
          </p:nvGraphicFramePr>
          <p:xfrm>
            <a:off x="304800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2"/>
            </a:graphicData>
          </a:graphic>
        </p:graphicFrame>
        <p:sp>
          <p:nvSpPr>
            <p:cNvPr id="7" name="Value 2"/>
            <p:cNvSpPr/>
            <p:nvPr/>
          </p:nvSpPr>
          <p:spPr>
            <a:xfrm>
              <a:off x="304800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8" name="Label 2"/>
            <p:cNvSpPr/>
            <p:nvPr/>
          </p:nvSpPr>
          <p:spPr>
            <a:xfrm>
              <a:off x="304800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  <p:graphicFrame>
          <p:nvGraphicFramePr>
            <p:cNvPr id="9" name="Ring 3" descr=""/>
            <p:cNvGraphicFramePr/>
            <p:nvPr/>
          </p:nvGraphicFramePr>
          <p:xfrm>
            <a:off x="5547360" y="1097280"/>
            <a:ext cx="2225040" cy="2225040"/>
          </p:xfrm>
          <a:graphic>
            <a:graphicData uri="http://schemas.openxmlformats.org/drawingml/2006/chart">
              <c:chart xmlns:c="http://schemas.openxmlformats.org/drawingml/2006/chart" r:id="rId3"/>
            </a:graphicData>
          </a:graphic>
        </p:graphicFrame>
        <p:sp>
          <p:nvSpPr>
            <p:cNvPr id="10" name="Value 3"/>
            <p:cNvSpPr/>
            <p:nvPr/>
          </p:nvSpPr>
          <p:spPr>
            <a:xfrm>
              <a:off x="5547360" y="193548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22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2200" dirty="0"/>
            </a:p>
          </p:txBody>
        </p:sp>
        <p:sp>
          <p:nvSpPr>
            <p:cNvPr id="11" name="Label 3"/>
            <p:cNvSpPr/>
            <p:nvPr/>
          </p:nvSpPr>
          <p:spPr>
            <a:xfrm>
              <a:off x="5547360" y="3413760"/>
              <a:ext cx="2225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V-KPI-03  ·  Figure with trend</a:t>
            </a:r>
            <a:endParaRPr lang="en-US" sz="1000" dirty="0"/>
          </a:p>
        </p:txBody>
      </p:sp>
      <p:grpSp>
        <p:nvGrpSpPr>
          <p:cNvPr id="7" name="V-KPI-03"/>
          <p:cNvGrpSpPr/>
          <p:nvPr/>
        </p:nvGrpSpPr>
        <p:grpSpPr>
          <a:xfrm>
            <a:off x="548640" y="1097280"/>
            <a:ext cx="5394960" cy="3840480"/>
            <a:chOff x="548640" y="1097280"/>
            <a:chExt cx="5394960" cy="3840480"/>
          </a:xfrm>
        </p:grpSpPr>
        <p:sp>
          <p:nvSpPr>
            <p:cNvPr id="3" name="Value"/>
            <p:cNvSpPr/>
            <p:nvPr/>
          </p:nvSpPr>
          <p:spPr>
            <a:xfrm>
              <a:off x="548640" y="1097280"/>
              <a:ext cx="5394960" cy="1005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6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</a:t>
              </a:r>
              <a:endParaRPr lang="en-US" sz="6000" dirty="0"/>
            </a:p>
          </p:txBody>
        </p:sp>
        <p:sp>
          <p:nvSpPr>
            <p:cNvPr id="4" name="Label"/>
            <p:cNvSpPr/>
            <p:nvPr/>
          </p:nvSpPr>
          <p:spPr>
            <a:xfrm>
              <a:off x="548640" y="2148840"/>
              <a:ext cx="539496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4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400" dirty="0"/>
            </a:p>
          </p:txBody>
        </p:sp>
        <p:sp>
          <p:nvSpPr>
            <p:cNvPr id="5" name="Change"/>
            <p:cNvSpPr/>
            <p:nvPr/>
          </p:nvSpPr>
          <p:spPr>
            <a:xfrm>
              <a:off x="548640" y="2514600"/>
              <a:ext cx="539496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+0% vs reference</a:t>
              </a:r>
              <a:endParaRPr lang="en-US" sz="1000" dirty="0"/>
            </a:p>
          </p:txBody>
        </p:sp>
        <p:graphicFrame>
          <p:nvGraphicFramePr>
            <p:cNvPr id="6" name="Chart" descr=""/>
            <p:cNvGraphicFramePr/>
            <p:nvPr/>
          </p:nvGraphicFramePr>
          <p:xfrm>
            <a:off x="548640" y="2926080"/>
            <a:ext cx="5394960" cy="20116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V-KPI-04  ·  Status list</a:t>
            </a:r>
            <a:endParaRPr lang="en-US" sz="1000" dirty="0"/>
          </a:p>
        </p:txBody>
      </p:sp>
      <p:grpSp>
        <p:nvGrpSpPr>
          <p:cNvPr id="38" name="V-KPI-04"/>
          <p:cNvGrpSpPr/>
          <p:nvPr/>
        </p:nvGrpSpPr>
        <p:grpSpPr>
          <a:xfrm>
            <a:off x="548640" y="1097280"/>
            <a:ext cx="7223760" cy="4160520"/>
            <a:chOff x="548640" y="1097280"/>
            <a:chExt cx="7223760" cy="4160520"/>
          </a:xfrm>
        </p:grpSpPr>
        <p:sp>
          <p:nvSpPr>
            <p:cNvPr id="3" name="Header item"/>
            <p:cNvSpPr/>
            <p:nvPr/>
          </p:nvSpPr>
          <p:spPr>
            <a:xfrm>
              <a:off x="1005840" y="1097280"/>
              <a:ext cx="2528316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000" dirty="0"/>
            </a:p>
          </p:txBody>
        </p:sp>
        <p:sp>
          <p:nvSpPr>
            <p:cNvPr id="4" name="Header comment"/>
            <p:cNvSpPr/>
            <p:nvPr/>
          </p:nvSpPr>
          <p:spPr>
            <a:xfrm>
              <a:off x="3606394" y="1097280"/>
              <a:ext cx="288950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Comment</a:t>
              </a:r>
              <a:endParaRPr lang="en-US" sz="1000" dirty="0"/>
            </a:p>
          </p:txBody>
        </p:sp>
        <p:sp>
          <p:nvSpPr>
            <p:cNvPr id="5" name="Header owner"/>
            <p:cNvSpPr/>
            <p:nvPr/>
          </p:nvSpPr>
          <p:spPr>
            <a:xfrm>
              <a:off x="6327648" y="1097280"/>
              <a:ext cx="144475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6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17320"/>
              <a:ext cx="7223760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7" name="Status 1"/>
            <p:cNvSpPr/>
            <p:nvPr/>
          </p:nvSpPr>
          <p:spPr>
            <a:xfrm>
              <a:off x="594360" y="16337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8" name="Item 1"/>
            <p:cNvSpPr/>
            <p:nvPr/>
          </p:nvSpPr>
          <p:spPr>
            <a:xfrm>
              <a:off x="1005840" y="14630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mment 1"/>
            <p:cNvSpPr/>
            <p:nvPr/>
          </p:nvSpPr>
          <p:spPr>
            <a:xfrm>
              <a:off x="3606394" y="14630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0" name="Owner 1"/>
            <p:cNvSpPr/>
            <p:nvPr/>
          </p:nvSpPr>
          <p:spPr>
            <a:xfrm>
              <a:off x="6327648" y="14630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1" name="Item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0421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Status 2"/>
            <p:cNvSpPr/>
            <p:nvPr/>
          </p:nvSpPr>
          <p:spPr>
            <a:xfrm>
              <a:off x="594360" y="221284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3" name="Item 2"/>
            <p:cNvSpPr/>
            <p:nvPr/>
          </p:nvSpPr>
          <p:spPr>
            <a:xfrm>
              <a:off x="1005840" y="204216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4" name="Comment 2"/>
            <p:cNvSpPr/>
            <p:nvPr/>
          </p:nvSpPr>
          <p:spPr>
            <a:xfrm>
              <a:off x="3606394" y="204216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15" name="Owner 2"/>
            <p:cNvSpPr/>
            <p:nvPr/>
          </p:nvSpPr>
          <p:spPr>
            <a:xfrm>
              <a:off x="6327648" y="204216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16" name="Item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2128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Status 3"/>
            <p:cNvSpPr/>
            <p:nvPr/>
          </p:nvSpPr>
          <p:spPr>
            <a:xfrm>
              <a:off x="594360" y="2791968"/>
              <a:ext cx="237744" cy="237744"/>
            </a:xfrm>
            <a:prstGeom prst="ellipse">
              <a:avLst/>
            </a:prstGeom>
            <a:solidFill>
              <a:schemeClr val="accent3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1005840" y="262128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19" name="Comment 3"/>
            <p:cNvSpPr/>
            <p:nvPr/>
          </p:nvSpPr>
          <p:spPr>
            <a:xfrm>
              <a:off x="3606394" y="262128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0" name="Owner 3"/>
            <p:cNvSpPr/>
            <p:nvPr/>
          </p:nvSpPr>
          <p:spPr>
            <a:xfrm>
              <a:off x="6327648" y="262128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1" name="Item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0040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Status 4"/>
            <p:cNvSpPr/>
            <p:nvPr/>
          </p:nvSpPr>
          <p:spPr>
            <a:xfrm>
              <a:off x="594360" y="337108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1005840" y="320040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4" name="Comment 4"/>
            <p:cNvSpPr/>
            <p:nvPr/>
          </p:nvSpPr>
          <p:spPr>
            <a:xfrm>
              <a:off x="3606394" y="320040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25" name="Owner 4"/>
            <p:cNvSpPr/>
            <p:nvPr/>
          </p:nvSpPr>
          <p:spPr>
            <a:xfrm>
              <a:off x="6327648" y="320040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26" name="Item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77952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7" name="Status 5"/>
            <p:cNvSpPr/>
            <p:nvPr/>
          </p:nvSpPr>
          <p:spPr>
            <a:xfrm>
              <a:off x="594360" y="3950208"/>
              <a:ext cx="237744" cy="237744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28" name="Item 5"/>
            <p:cNvSpPr/>
            <p:nvPr/>
          </p:nvSpPr>
          <p:spPr>
            <a:xfrm>
              <a:off x="1005840" y="377952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29" name="Comment 5"/>
            <p:cNvSpPr/>
            <p:nvPr/>
          </p:nvSpPr>
          <p:spPr>
            <a:xfrm>
              <a:off x="3606394" y="377952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0" name="Owner 5"/>
            <p:cNvSpPr/>
            <p:nvPr/>
          </p:nvSpPr>
          <p:spPr>
            <a:xfrm>
              <a:off x="6327648" y="377952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1" name="Item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35864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2" name="Status 6"/>
            <p:cNvSpPr/>
            <p:nvPr/>
          </p:nvSpPr>
          <p:spPr>
            <a:xfrm>
              <a:off x="594360" y="4529328"/>
              <a:ext cx="237744" cy="237744"/>
            </a:xfrm>
            <a:prstGeom prst="ellipse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33" name="Item 6"/>
            <p:cNvSpPr/>
            <p:nvPr/>
          </p:nvSpPr>
          <p:spPr>
            <a:xfrm>
              <a:off x="1005840" y="4358640"/>
              <a:ext cx="2528316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34" name="Comment 6"/>
            <p:cNvSpPr/>
            <p:nvPr/>
          </p:nvSpPr>
          <p:spPr>
            <a:xfrm>
              <a:off x="3606394" y="4358640"/>
              <a:ext cx="3033979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comment</a:t>
              </a:r>
              <a:endParaRPr lang="en-US" sz="1000" dirty="0"/>
            </a:p>
          </p:txBody>
        </p:sp>
        <p:sp>
          <p:nvSpPr>
            <p:cNvPr id="35" name="Owner 6"/>
            <p:cNvSpPr/>
            <p:nvPr/>
          </p:nvSpPr>
          <p:spPr>
            <a:xfrm>
              <a:off x="6327648" y="4358640"/>
              <a:ext cx="1444752" cy="579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Owner</a:t>
              </a:r>
              <a:endParaRPr lang="en-US" sz="1000" dirty="0"/>
            </a:p>
          </p:txBody>
        </p:sp>
        <p:sp>
          <p:nvSpPr>
            <p:cNvPr id="36" name="Item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937760"/>
              <a:ext cx="7223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Note"/>
            <p:cNvSpPr/>
            <p:nvPr/>
          </p:nvSpPr>
          <p:spPr>
            <a:xfrm>
              <a:off x="548640" y="4983480"/>
              <a:ext cx="72237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Black: late · grey: at risk · light: on track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V-KPI-05  ·  Gauge</a:t>
            </a:r>
            <a:endParaRPr lang="en-US" sz="1000" dirty="0"/>
          </a:p>
        </p:txBody>
      </p:sp>
      <p:grpSp>
        <p:nvGrpSpPr>
          <p:cNvPr id="6" name="V-KPI-05"/>
          <p:cNvGrpSpPr/>
          <p:nvPr/>
        </p:nvGrpSpPr>
        <p:grpSpPr>
          <a:xfrm>
            <a:off x="548640" y="1097280"/>
            <a:ext cx="5394960" cy="5394960"/>
            <a:chOff x="548640" y="1097280"/>
            <a:chExt cx="5394960" cy="539496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5394960" cy="539496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Value"/>
            <p:cNvSpPr/>
            <p:nvPr/>
          </p:nvSpPr>
          <p:spPr>
            <a:xfrm>
              <a:off x="548640" y="3017520"/>
              <a:ext cx="539496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4000" dirty="0"/>
            </a:p>
          </p:txBody>
        </p:sp>
        <p:sp>
          <p:nvSpPr>
            <p:cNvPr id="5" name="Label"/>
            <p:cNvSpPr/>
            <p:nvPr/>
          </p:nvSpPr>
          <p:spPr>
            <a:xfrm>
              <a:off x="548640" y="3840480"/>
              <a:ext cx="539496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is measured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V-MAT-01  ·  Two-by-two matrix</a:t>
            </a:r>
            <a:endParaRPr lang="en-US" sz="1000" dirty="0"/>
          </a:p>
        </p:txBody>
      </p:sp>
      <p:grpSp>
        <p:nvGrpSpPr>
          <p:cNvPr id="35" name="V-MAT-01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1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7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2</a:t>
              </a:r>
              <a:endParaRPr lang="en-US" sz="1000" dirty="0"/>
            </a:p>
          </p:txBody>
        </p:sp>
        <p:sp>
          <p:nvSpPr>
            <p:cNvPr id="8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9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3</a:t>
              </a:r>
              <a:endParaRPr lang="en-US" sz="1000" dirty="0"/>
            </a:p>
          </p:txBody>
        </p:sp>
        <p:sp>
          <p:nvSpPr>
            <p:cNvPr id="10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Quadrant 4</a:t>
              </a:r>
              <a:endParaRPr lang="en-US" sz="1000" dirty="0"/>
            </a:p>
          </p:txBody>
        </p:sp>
        <p:sp>
          <p:nvSpPr>
            <p:cNvPr id="12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  <p:sp>
          <p:nvSpPr>
            <p:cNvPr id="16" name="Item 1"/>
            <p:cNvSpPr/>
            <p:nvPr/>
          </p:nvSpPr>
          <p:spPr>
            <a:xfrm>
              <a:off x="5583072" y="1842516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7" name="Item 2"/>
            <p:cNvSpPr/>
            <p:nvPr/>
          </p:nvSpPr>
          <p:spPr>
            <a:xfrm>
              <a:off x="2831657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8" name="Item 3"/>
            <p:cNvSpPr/>
            <p:nvPr/>
          </p:nvSpPr>
          <p:spPr>
            <a:xfrm>
              <a:off x="6270926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9" name="Item 4"/>
            <p:cNvSpPr/>
            <p:nvPr/>
          </p:nvSpPr>
          <p:spPr>
            <a:xfrm>
              <a:off x="4551292" y="240487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0" name="Item 5"/>
            <p:cNvSpPr/>
            <p:nvPr/>
          </p:nvSpPr>
          <p:spPr>
            <a:xfrm>
              <a:off x="2143803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1" name="Item 6"/>
            <p:cNvSpPr/>
            <p:nvPr/>
          </p:nvSpPr>
          <p:spPr>
            <a:xfrm>
              <a:off x="3519511" y="334213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100" dirty="0"/>
            </a:p>
          </p:txBody>
        </p:sp>
        <p:sp>
          <p:nvSpPr>
            <p:cNvPr id="22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Key</a:t>
              </a:r>
              <a:endParaRPr lang="en-US" sz="1000" dirty="0"/>
            </a:p>
          </p:txBody>
        </p:sp>
        <p:sp>
          <p:nvSpPr>
            <p:cNvPr id="23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4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5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6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7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8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9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0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1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2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3" name="Key 6 number"/>
            <p:cNvSpPr/>
            <p:nvPr/>
          </p:nvSpPr>
          <p:spPr>
            <a:xfrm>
              <a:off x="8295857" y="338328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6</a:t>
              </a:r>
              <a:endParaRPr lang="en-US" sz="1200" dirty="0"/>
            </a:p>
          </p:txBody>
        </p:sp>
        <p:sp>
          <p:nvSpPr>
            <p:cNvPr id="34" name="Key 6"/>
            <p:cNvSpPr/>
            <p:nvPr/>
          </p:nvSpPr>
          <p:spPr>
            <a:xfrm>
              <a:off x="8615897" y="338328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V-MAT-02  ·  SWOT</a:t>
            </a:r>
            <a:endParaRPr lang="en-US" sz="1000" dirty="0"/>
          </a:p>
        </p:txBody>
      </p:sp>
      <p:grpSp>
        <p:nvGrpSpPr>
          <p:cNvPr id="15" name="V-MAT-02"/>
          <p:cNvGrpSpPr/>
          <p:nvPr/>
        </p:nvGrpSpPr>
        <p:grpSpPr>
          <a:xfrm>
            <a:off x="548640" y="1097280"/>
            <a:ext cx="11094416" cy="4160520"/>
            <a:chOff x="548640" y="1097280"/>
            <a:chExt cx="11094416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5492344" cy="2025396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eading 1"/>
            <p:cNvSpPr/>
            <p:nvPr/>
          </p:nvSpPr>
          <p:spPr>
            <a:xfrm>
              <a:off x="777240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Strengths</a:t>
              </a:r>
              <a:endParaRPr lang="en-US" sz="1600" dirty="0"/>
            </a:p>
          </p:txBody>
        </p:sp>
        <p:sp>
          <p:nvSpPr>
            <p:cNvPr id="5" name="Block 1"/>
            <p:cNvSpPr/>
            <p:nvPr/>
          </p:nvSpPr>
          <p:spPr>
            <a:xfrm>
              <a:off x="777240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1097280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Heading 2"/>
            <p:cNvSpPr/>
            <p:nvPr/>
          </p:nvSpPr>
          <p:spPr>
            <a:xfrm>
              <a:off x="6379312" y="1261872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Weaknesses</a:t>
              </a:r>
              <a:endParaRPr lang="en-US" sz="1600" dirty="0"/>
            </a:p>
          </p:txBody>
        </p:sp>
        <p:sp>
          <p:nvSpPr>
            <p:cNvPr id="8" name="Block 2"/>
            <p:cNvSpPr/>
            <p:nvPr/>
          </p:nvSpPr>
          <p:spPr>
            <a:xfrm>
              <a:off x="6379312" y="1691640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232404"/>
              <a:ext cx="5492344" cy="202539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Heading 3"/>
            <p:cNvSpPr/>
            <p:nvPr/>
          </p:nvSpPr>
          <p:spPr>
            <a:xfrm>
              <a:off x="777240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Opportunities</a:t>
              </a:r>
              <a:endParaRPr lang="en-US" sz="1600" dirty="0"/>
            </a:p>
          </p:txBody>
        </p:sp>
        <p:sp>
          <p:nvSpPr>
            <p:cNvPr id="11" name="Block 3"/>
            <p:cNvSpPr/>
            <p:nvPr/>
          </p:nvSpPr>
          <p:spPr>
            <a:xfrm>
              <a:off x="777240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3232404"/>
              <a:ext cx="5492344" cy="202539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3" name="Heading 4"/>
            <p:cNvSpPr/>
            <p:nvPr/>
          </p:nvSpPr>
          <p:spPr>
            <a:xfrm>
              <a:off x="6379312" y="3396996"/>
              <a:ext cx="50351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Threats</a:t>
              </a:r>
              <a:endParaRPr lang="en-US" sz="1600" dirty="0"/>
            </a:p>
          </p:txBody>
        </p:sp>
        <p:sp>
          <p:nvSpPr>
            <p:cNvPr id="14" name="Block 4"/>
            <p:cNvSpPr/>
            <p:nvPr/>
          </p:nvSpPr>
          <p:spPr>
            <a:xfrm>
              <a:off x="6379312" y="3826764"/>
              <a:ext cx="5035144" cy="12938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Point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V-MAT-03  ·  Impact and effort</a:t>
            </a:r>
            <a:endParaRPr lang="en-US" sz="1000" dirty="0"/>
          </a:p>
        </p:txBody>
      </p:sp>
      <p:grpSp>
        <p:nvGrpSpPr>
          <p:cNvPr id="36" name="V-MAT-03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6878537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1124712"/>
              <a:ext cx="3384405" cy="1819656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Quadrant 1"/>
            <p:cNvSpPr/>
            <p:nvPr/>
          </p:nvSpPr>
          <p:spPr>
            <a:xfrm>
              <a:off x="1124712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Quick wins</a:t>
              </a:r>
              <a:endParaRPr lang="en-US" sz="1000" dirty="0"/>
            </a:p>
          </p:txBody>
        </p:sp>
        <p:sp>
          <p:nvSpPr>
            <p:cNvPr id="6" name="Quadrant 1 text"/>
            <p:cNvSpPr/>
            <p:nvPr/>
          </p:nvSpPr>
          <p:spPr>
            <a:xfrm>
              <a:off x="1124712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1124712"/>
              <a:ext cx="3384405" cy="1819656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8" name="Quadrant 2"/>
            <p:cNvSpPr/>
            <p:nvPr/>
          </p:nvSpPr>
          <p:spPr>
            <a:xfrm>
              <a:off x="4563981" y="123444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Big bets</a:t>
              </a:r>
              <a:endParaRPr lang="en-US" sz="1000" dirty="0"/>
            </a:p>
          </p:txBody>
        </p:sp>
        <p:sp>
          <p:nvSpPr>
            <p:cNvPr id="9" name="Quadrant 2 text"/>
            <p:cNvSpPr/>
            <p:nvPr/>
          </p:nvSpPr>
          <p:spPr>
            <a:xfrm>
              <a:off x="4563981" y="155448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7552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Quadrant 3"/>
            <p:cNvSpPr/>
            <p:nvPr/>
          </p:nvSpPr>
          <p:spPr>
            <a:xfrm>
              <a:off x="1124712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Fill-ins</a:t>
              </a:r>
              <a:endParaRPr lang="en-US" sz="1000" dirty="0"/>
            </a:p>
          </p:txBody>
        </p:sp>
        <p:sp>
          <p:nvSpPr>
            <p:cNvPr id="12" name="Quadrant 3 text"/>
            <p:cNvSpPr/>
            <p:nvPr/>
          </p:nvSpPr>
          <p:spPr>
            <a:xfrm>
              <a:off x="1124712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3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426821" y="2999232"/>
              <a:ext cx="3384405" cy="1819656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Quadrant 4"/>
            <p:cNvSpPr/>
            <p:nvPr/>
          </p:nvSpPr>
          <p:spPr>
            <a:xfrm>
              <a:off x="4563981" y="3108960"/>
              <a:ext cx="307350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Time sinks</a:t>
              </a:r>
              <a:endParaRPr lang="en-US" sz="1000" dirty="0"/>
            </a:p>
          </p:txBody>
        </p:sp>
        <p:sp>
          <p:nvSpPr>
            <p:cNvPr id="15" name="Quadrant 4 text"/>
            <p:cNvSpPr/>
            <p:nvPr/>
          </p:nvSpPr>
          <p:spPr>
            <a:xfrm>
              <a:off x="4563981" y="3429000"/>
              <a:ext cx="3073509" cy="12344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What to do here</a:t>
              </a:r>
              <a:endParaRPr lang="en-US" sz="1000" dirty="0"/>
            </a:p>
          </p:txBody>
        </p:sp>
        <p:sp>
          <p:nvSpPr>
            <p:cNvPr id="16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924257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7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8" name="X axis"/>
            <p:cNvSpPr/>
            <p:nvPr/>
          </p:nvSpPr>
          <p:spPr>
            <a:xfrm>
              <a:off x="960120" y="4919472"/>
              <a:ext cx="6878537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Effort</a:t>
              </a:r>
              <a:endParaRPr lang="en-US" sz="1000" dirty="0"/>
            </a:p>
          </p:txBody>
        </p:sp>
        <p:sp>
          <p:nvSpPr>
            <p:cNvPr id="19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20" name="Item 1"/>
            <p:cNvSpPr/>
            <p:nvPr/>
          </p:nvSpPr>
          <p:spPr>
            <a:xfrm>
              <a:off x="2143803" y="165506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21" name="Item 2"/>
            <p:cNvSpPr/>
            <p:nvPr/>
          </p:nvSpPr>
          <p:spPr>
            <a:xfrm>
              <a:off x="5583072" y="1467612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22" name="Item 3"/>
            <p:cNvSpPr/>
            <p:nvPr/>
          </p:nvSpPr>
          <p:spPr>
            <a:xfrm>
              <a:off x="2831657" y="3529584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23" name="Item 4"/>
            <p:cNvSpPr/>
            <p:nvPr/>
          </p:nvSpPr>
          <p:spPr>
            <a:xfrm>
              <a:off x="6270926" y="3904488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24" name="Item 5"/>
            <p:cNvSpPr/>
            <p:nvPr/>
          </p:nvSpPr>
          <p:spPr>
            <a:xfrm>
              <a:off x="3519511" y="2217420"/>
              <a:ext cx="384048" cy="384048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25" name="Key label"/>
            <p:cNvSpPr/>
            <p:nvPr/>
          </p:nvSpPr>
          <p:spPr>
            <a:xfrm>
              <a:off x="8295857" y="1097280"/>
              <a:ext cx="330147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Initiatives</a:t>
              </a:r>
              <a:endParaRPr lang="en-US" sz="1000" dirty="0"/>
            </a:p>
          </p:txBody>
        </p:sp>
        <p:sp>
          <p:nvSpPr>
            <p:cNvPr id="26" name="Key 1 number"/>
            <p:cNvSpPr/>
            <p:nvPr/>
          </p:nvSpPr>
          <p:spPr>
            <a:xfrm>
              <a:off x="8295857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27" name="Key 1"/>
            <p:cNvSpPr/>
            <p:nvPr/>
          </p:nvSpPr>
          <p:spPr>
            <a:xfrm>
              <a:off x="8615897" y="1463040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8" name="Key 2 number"/>
            <p:cNvSpPr/>
            <p:nvPr/>
          </p:nvSpPr>
          <p:spPr>
            <a:xfrm>
              <a:off x="8295857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29" name="Key 2"/>
            <p:cNvSpPr/>
            <p:nvPr/>
          </p:nvSpPr>
          <p:spPr>
            <a:xfrm>
              <a:off x="8615897" y="1847088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0" name="Key 3 number"/>
            <p:cNvSpPr/>
            <p:nvPr/>
          </p:nvSpPr>
          <p:spPr>
            <a:xfrm>
              <a:off x="8295857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31" name="Key 3"/>
            <p:cNvSpPr/>
            <p:nvPr/>
          </p:nvSpPr>
          <p:spPr>
            <a:xfrm>
              <a:off x="8615897" y="2231136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2" name="Key 4 number"/>
            <p:cNvSpPr/>
            <p:nvPr/>
          </p:nvSpPr>
          <p:spPr>
            <a:xfrm>
              <a:off x="8295857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33" name="Key 4"/>
            <p:cNvSpPr/>
            <p:nvPr/>
          </p:nvSpPr>
          <p:spPr>
            <a:xfrm>
              <a:off x="8615897" y="2615184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34" name="Key 5 number"/>
            <p:cNvSpPr/>
            <p:nvPr/>
          </p:nvSpPr>
          <p:spPr>
            <a:xfrm>
              <a:off x="8295857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35" name="Key 5"/>
            <p:cNvSpPr/>
            <p:nvPr/>
          </p:nvSpPr>
          <p:spPr>
            <a:xfrm>
              <a:off x="8615897" y="2999232"/>
              <a:ext cx="298143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V-MAT-04  ·  Risk matrix</a:t>
            </a:r>
            <a:endParaRPr lang="en-US" sz="1000" dirty="0"/>
          </a:p>
        </p:txBody>
      </p:sp>
      <p:grpSp>
        <p:nvGrpSpPr>
          <p:cNvPr id="49" name="V-MAT-04"/>
          <p:cNvGrpSpPr/>
          <p:nvPr/>
        </p:nvGrpSpPr>
        <p:grpSpPr>
          <a:xfrm>
            <a:off x="-1124712" y="1051560"/>
            <a:ext cx="12722047" cy="4142232"/>
            <a:chOff x="-1124712" y="1051560"/>
            <a:chExt cx="12722047" cy="4142232"/>
          </a:xfrm>
        </p:grpSpPr>
        <p:sp>
          <p:nvSpPr>
            <p:cNvPr id="3" name="Plot Area"/>
            <p:cNvSpPr/>
            <p:nvPr/>
          </p:nvSpPr>
          <p:spPr>
            <a:xfrm>
              <a:off x="960120" y="1097280"/>
              <a:ext cx="5998464" cy="374904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115568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115568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8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115568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9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1865376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1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2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1865376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3" name="Decoration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1865376"/>
              <a:ext cx="1163117" cy="713232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4" name="Decoration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2615184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15" name="Decoration 1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Decoration 1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2615184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7" name="Decoration 1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8" name="Decoration 1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2615184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19" name="Decoration 1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0" name="Decoration 1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3364992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1" name="Decoration 1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2" name="Decoration 1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3364992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3" name="Decoration 2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3364992"/>
              <a:ext cx="1163117" cy="713232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24" name="Decoration 2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8408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5" name="Decoration 2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78101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6" name="Decoration 2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77794" y="4114800"/>
              <a:ext cx="1163117" cy="713232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27" name="Decoration 2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77486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Decoration 2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77179" y="4114800"/>
              <a:ext cx="1163117" cy="713232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9" name="Decoration 2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6044184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0" name="Decoration 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X axis"/>
            <p:cNvSpPr/>
            <p:nvPr/>
          </p:nvSpPr>
          <p:spPr>
            <a:xfrm>
              <a:off x="960120" y="4919472"/>
              <a:ext cx="5998464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Impact</a:t>
              </a:r>
              <a:endParaRPr lang="en-US" sz="1000" dirty="0"/>
            </a:p>
          </p:txBody>
        </p:sp>
        <p:sp>
          <p:nvSpPr>
            <p:cNvPr id="32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Likelihood</a:t>
              </a:r>
              <a:endParaRPr lang="en-US" sz="1000" dirty="0"/>
            </a:p>
          </p:txBody>
        </p:sp>
        <p:sp>
          <p:nvSpPr>
            <p:cNvPr id="33" name="Item 1"/>
            <p:cNvSpPr/>
            <p:nvPr/>
          </p:nvSpPr>
          <p:spPr>
            <a:xfrm>
              <a:off x="6166714" y="2029968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34" name="Item 2"/>
            <p:cNvSpPr/>
            <p:nvPr/>
          </p:nvSpPr>
          <p:spPr>
            <a:xfrm>
              <a:off x="3767328" y="12801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35" name="Item 3"/>
            <p:cNvSpPr/>
            <p:nvPr/>
          </p:nvSpPr>
          <p:spPr>
            <a:xfrm>
              <a:off x="4967021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36" name="Item 4"/>
            <p:cNvSpPr/>
            <p:nvPr/>
          </p:nvSpPr>
          <p:spPr>
            <a:xfrm>
              <a:off x="2567635" y="3529584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37" name="Item 5"/>
            <p:cNvSpPr/>
            <p:nvPr/>
          </p:nvSpPr>
          <p:spPr>
            <a:xfrm>
              <a:off x="1367942" y="2779776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38" name="Key label"/>
            <p:cNvSpPr/>
            <p:nvPr/>
          </p:nvSpPr>
          <p:spPr>
            <a:xfrm>
              <a:off x="7415784" y="1097280"/>
              <a:ext cx="418155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Risks</a:t>
              </a:r>
              <a:endParaRPr lang="en-US" sz="1000" dirty="0"/>
            </a:p>
          </p:txBody>
        </p:sp>
        <p:sp>
          <p:nvSpPr>
            <p:cNvPr id="39" name="Key 1 number"/>
            <p:cNvSpPr/>
            <p:nvPr/>
          </p:nvSpPr>
          <p:spPr>
            <a:xfrm>
              <a:off x="7415784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40" name="Key 1"/>
            <p:cNvSpPr/>
            <p:nvPr/>
          </p:nvSpPr>
          <p:spPr>
            <a:xfrm>
              <a:off x="7735824" y="1463040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1" name="Key 2 number"/>
            <p:cNvSpPr/>
            <p:nvPr/>
          </p:nvSpPr>
          <p:spPr>
            <a:xfrm>
              <a:off x="7415784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42" name="Key 2"/>
            <p:cNvSpPr/>
            <p:nvPr/>
          </p:nvSpPr>
          <p:spPr>
            <a:xfrm>
              <a:off x="7735824" y="1847088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3" name="Key 3 number"/>
            <p:cNvSpPr/>
            <p:nvPr/>
          </p:nvSpPr>
          <p:spPr>
            <a:xfrm>
              <a:off x="7415784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44" name="Key 3"/>
            <p:cNvSpPr/>
            <p:nvPr/>
          </p:nvSpPr>
          <p:spPr>
            <a:xfrm>
              <a:off x="7735824" y="2231136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5" name="Key 4 number"/>
            <p:cNvSpPr/>
            <p:nvPr/>
          </p:nvSpPr>
          <p:spPr>
            <a:xfrm>
              <a:off x="7415784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46" name="Key 4"/>
            <p:cNvSpPr/>
            <p:nvPr/>
          </p:nvSpPr>
          <p:spPr>
            <a:xfrm>
              <a:off x="7735824" y="2615184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47" name="Key 5 number"/>
            <p:cNvSpPr/>
            <p:nvPr/>
          </p:nvSpPr>
          <p:spPr>
            <a:xfrm>
              <a:off x="7415784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48" name="Key 5"/>
            <p:cNvSpPr/>
            <p:nvPr/>
          </p:nvSpPr>
          <p:spPr>
            <a:xfrm>
              <a:off x="7735824" y="2999232"/>
              <a:ext cx="3861511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V-MAT-05  ·  Nine-box grid</a:t>
            </a:r>
            <a:endParaRPr lang="en-US" sz="1000" dirty="0"/>
          </a:p>
        </p:txBody>
      </p:sp>
      <p:grpSp>
        <p:nvGrpSpPr>
          <p:cNvPr id="34" name="V-MAT-05"/>
          <p:cNvGrpSpPr/>
          <p:nvPr/>
        </p:nvGrpSpPr>
        <p:grpSpPr>
          <a:xfrm>
            <a:off x="-1124712" y="1051560"/>
            <a:ext cx="12813487" cy="4142232"/>
            <a:chOff x="-1124712" y="1051560"/>
            <a:chExt cx="12813487" cy="4142232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113385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4" name="Box 1 heading"/>
            <p:cNvSpPr/>
            <p:nvPr/>
          </p:nvSpPr>
          <p:spPr>
            <a:xfrm>
              <a:off x="1143000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1</a:t>
              </a:r>
              <a:endParaRPr lang="en-US" sz="1200" dirty="0"/>
            </a:p>
          </p:txBody>
        </p:sp>
        <p:sp>
          <p:nvSpPr>
            <p:cNvPr id="5" name="Box 1 text"/>
            <p:cNvSpPr/>
            <p:nvPr/>
          </p:nvSpPr>
          <p:spPr>
            <a:xfrm>
              <a:off x="1143000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113385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Box 2 heading"/>
            <p:cNvSpPr/>
            <p:nvPr/>
          </p:nvSpPr>
          <p:spPr>
            <a:xfrm>
              <a:off x="4703978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2</a:t>
              </a:r>
              <a:endParaRPr lang="en-US" sz="1200" dirty="0"/>
            </a:p>
          </p:txBody>
        </p:sp>
        <p:sp>
          <p:nvSpPr>
            <p:cNvPr id="8" name="Box 2 text"/>
            <p:cNvSpPr/>
            <p:nvPr/>
          </p:nvSpPr>
          <p:spPr>
            <a:xfrm>
              <a:off x="4703978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1133856"/>
              <a:ext cx="3487826" cy="1176528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0" name="Box 3 heading"/>
            <p:cNvSpPr/>
            <p:nvPr/>
          </p:nvSpPr>
          <p:spPr>
            <a:xfrm>
              <a:off x="8264957" y="123444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Box 3</a:t>
              </a:r>
              <a:endParaRPr lang="en-US" sz="1200" dirty="0"/>
            </a:p>
          </p:txBody>
        </p:sp>
        <p:sp>
          <p:nvSpPr>
            <p:cNvPr id="11" name="Box 3 text"/>
            <p:cNvSpPr/>
            <p:nvPr/>
          </p:nvSpPr>
          <p:spPr>
            <a:xfrm>
              <a:off x="8264957" y="155448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238353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Box 4 heading"/>
            <p:cNvSpPr/>
            <p:nvPr/>
          </p:nvSpPr>
          <p:spPr>
            <a:xfrm>
              <a:off x="1143000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4</a:t>
              </a:r>
              <a:endParaRPr lang="en-US" sz="1200" dirty="0"/>
            </a:p>
          </p:txBody>
        </p:sp>
        <p:sp>
          <p:nvSpPr>
            <p:cNvPr id="14" name="Box 4 text"/>
            <p:cNvSpPr/>
            <p:nvPr/>
          </p:nvSpPr>
          <p:spPr>
            <a:xfrm>
              <a:off x="1143000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238353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6" name="Box 5 heading"/>
            <p:cNvSpPr/>
            <p:nvPr/>
          </p:nvSpPr>
          <p:spPr>
            <a:xfrm>
              <a:off x="4703978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5</a:t>
              </a:r>
              <a:endParaRPr lang="en-US" sz="1200" dirty="0"/>
            </a:p>
          </p:txBody>
        </p:sp>
        <p:sp>
          <p:nvSpPr>
            <p:cNvPr id="17" name="Box 5 text"/>
            <p:cNvSpPr/>
            <p:nvPr/>
          </p:nvSpPr>
          <p:spPr>
            <a:xfrm>
              <a:off x="4703978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2383536"/>
              <a:ext cx="3487826" cy="1176528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19" name="Box 6 heading"/>
            <p:cNvSpPr/>
            <p:nvPr/>
          </p:nvSpPr>
          <p:spPr>
            <a:xfrm>
              <a:off x="8264957" y="248412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6</a:t>
              </a:r>
              <a:endParaRPr lang="en-US" sz="1200" dirty="0"/>
            </a:p>
          </p:txBody>
        </p:sp>
        <p:sp>
          <p:nvSpPr>
            <p:cNvPr id="20" name="Box 6 text"/>
            <p:cNvSpPr/>
            <p:nvPr/>
          </p:nvSpPr>
          <p:spPr>
            <a:xfrm>
              <a:off x="8264957" y="280416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96696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ox 7 heading"/>
            <p:cNvSpPr/>
            <p:nvPr/>
          </p:nvSpPr>
          <p:spPr>
            <a:xfrm>
              <a:off x="1143000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7</a:t>
              </a:r>
              <a:endParaRPr lang="en-US" sz="1200" dirty="0"/>
            </a:p>
          </p:txBody>
        </p:sp>
        <p:sp>
          <p:nvSpPr>
            <p:cNvPr id="23" name="Box 7 text"/>
            <p:cNvSpPr/>
            <p:nvPr/>
          </p:nvSpPr>
          <p:spPr>
            <a:xfrm>
              <a:off x="1143000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57674" y="3633216"/>
              <a:ext cx="3487826" cy="117652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ox 8 heading"/>
            <p:cNvSpPr/>
            <p:nvPr/>
          </p:nvSpPr>
          <p:spPr>
            <a:xfrm>
              <a:off x="4703978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8</a:t>
              </a:r>
              <a:endParaRPr lang="en-US" sz="1200" dirty="0"/>
            </a:p>
          </p:txBody>
        </p:sp>
        <p:sp>
          <p:nvSpPr>
            <p:cNvPr id="26" name="Box 8 text"/>
            <p:cNvSpPr/>
            <p:nvPr/>
          </p:nvSpPr>
          <p:spPr>
            <a:xfrm>
              <a:off x="4703978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18653" y="3633216"/>
              <a:ext cx="3487826" cy="1176528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28" name="Box 9 heading"/>
            <p:cNvSpPr/>
            <p:nvPr/>
          </p:nvSpPr>
          <p:spPr>
            <a:xfrm>
              <a:off x="8264957" y="3733800"/>
              <a:ext cx="319521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Box 9</a:t>
              </a:r>
              <a:endParaRPr lang="en-US" sz="1200" dirty="0"/>
            </a:p>
          </p:txBody>
        </p:sp>
        <p:sp>
          <p:nvSpPr>
            <p:cNvPr id="29" name="Box 9 text"/>
            <p:cNvSpPr/>
            <p:nvPr/>
          </p:nvSpPr>
          <p:spPr>
            <a:xfrm>
              <a:off x="8264957" y="4053840"/>
              <a:ext cx="3195218" cy="609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30" name="Decoration 10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4846320"/>
              <a:ext cx="1072865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1" name="Decoration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105156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32" name="X axis"/>
            <p:cNvSpPr/>
            <p:nvPr/>
          </p:nvSpPr>
          <p:spPr>
            <a:xfrm>
              <a:off x="960120" y="4919472"/>
              <a:ext cx="1068293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Horizontal axis</a:t>
              </a:r>
              <a:endParaRPr lang="en-US" sz="1000" dirty="0"/>
            </a:p>
          </p:txBody>
        </p:sp>
        <p:sp>
          <p:nvSpPr>
            <p:cNvPr id="33" name="Y axis"/>
            <p:cNvSpPr/>
            <p:nvPr/>
          </p:nvSpPr>
          <p:spPr>
            <a:xfrm rot="16200000">
              <a:off x="-1124712" y="2834640"/>
              <a:ext cx="37490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Vertical axis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V-MAT-06  ·  Positioning map</a:t>
            </a:r>
            <a:endParaRPr lang="en-US" sz="1000" dirty="0"/>
          </a:p>
        </p:txBody>
      </p:sp>
      <p:grpSp>
        <p:nvGrpSpPr>
          <p:cNvPr id="26" name="V-MAT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lot Area"/>
            <p:cNvSpPr/>
            <p:nvPr/>
          </p:nvSpPr>
          <p:spPr>
            <a:xfrm>
              <a:off x="548640" y="1097280"/>
              <a:ext cx="7544202" cy="4160520"/>
            </a:xfrm>
            <a:prstGeom prst="rect">
              <a:avLst/>
            </a:prstGeom>
            <a:ln/>
          </p:spPr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7544202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0741" y="1097280"/>
              <a:ext cx="91" cy="41605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6" name="Left end"/>
            <p:cNvSpPr/>
            <p:nvPr/>
          </p:nvSpPr>
          <p:spPr>
            <a:xfrm>
              <a:off x="548640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1</a:t>
              </a:r>
              <a:endParaRPr lang="en-US" sz="1000" dirty="0"/>
            </a:p>
          </p:txBody>
        </p:sp>
        <p:sp>
          <p:nvSpPr>
            <p:cNvPr id="7" name="Right end"/>
            <p:cNvSpPr/>
            <p:nvPr/>
          </p:nvSpPr>
          <p:spPr>
            <a:xfrm>
              <a:off x="6081162" y="322326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1</a:t>
              </a:r>
              <a:endParaRPr lang="en-US" sz="1000" dirty="0"/>
            </a:p>
          </p:txBody>
        </p:sp>
        <p:sp>
          <p:nvSpPr>
            <p:cNvPr id="8" name="Top end"/>
            <p:cNvSpPr/>
            <p:nvPr/>
          </p:nvSpPr>
          <p:spPr>
            <a:xfrm>
              <a:off x="4412181" y="10972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High on axis 2</a:t>
              </a:r>
              <a:endParaRPr lang="en-US" sz="1000" dirty="0"/>
            </a:p>
          </p:txBody>
        </p:sp>
        <p:sp>
          <p:nvSpPr>
            <p:cNvPr id="9" name="Bottom end"/>
            <p:cNvSpPr/>
            <p:nvPr/>
          </p:nvSpPr>
          <p:spPr>
            <a:xfrm>
              <a:off x="4412181" y="4983480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Low on axis 2</a:t>
              </a:r>
              <a:endParaRPr lang="en-US" sz="1000" dirty="0"/>
            </a:p>
          </p:txBody>
        </p:sp>
        <p:sp>
          <p:nvSpPr>
            <p:cNvPr id="10" name="Item 1"/>
            <p:cNvSpPr/>
            <p:nvPr/>
          </p:nvSpPr>
          <p:spPr>
            <a:xfrm>
              <a:off x="6014768" y="1737360"/>
              <a:ext cx="384048" cy="384048"/>
            </a:xfrm>
            <a:prstGeom prst="ellipse">
              <a:avLst/>
            </a:prstGeom>
            <a:solidFill>
              <a:schemeClr val="tx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100" dirty="0"/>
            </a:p>
          </p:txBody>
        </p:sp>
        <p:sp>
          <p:nvSpPr>
            <p:cNvPr id="11" name="Item 2"/>
            <p:cNvSpPr/>
            <p:nvPr/>
          </p:nvSpPr>
          <p:spPr>
            <a:xfrm>
              <a:off x="2619877" y="2153412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100" dirty="0"/>
            </a:p>
          </p:txBody>
        </p:sp>
        <p:sp>
          <p:nvSpPr>
            <p:cNvPr id="12" name="Item 3"/>
            <p:cNvSpPr/>
            <p:nvPr/>
          </p:nvSpPr>
          <p:spPr>
            <a:xfrm>
              <a:off x="4883137" y="3609594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100" dirty="0"/>
            </a:p>
          </p:txBody>
        </p:sp>
        <p:sp>
          <p:nvSpPr>
            <p:cNvPr id="13" name="Item 4"/>
            <p:cNvSpPr/>
            <p:nvPr/>
          </p:nvSpPr>
          <p:spPr>
            <a:xfrm>
              <a:off x="1865456" y="4025646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100" dirty="0"/>
            </a:p>
          </p:txBody>
        </p:sp>
        <p:sp>
          <p:nvSpPr>
            <p:cNvPr id="14" name="Item 5"/>
            <p:cNvSpPr/>
            <p:nvPr/>
          </p:nvSpPr>
          <p:spPr>
            <a:xfrm>
              <a:off x="6769188" y="2777490"/>
              <a:ext cx="384048" cy="384048"/>
            </a:xfrm>
            <a:prstGeom prst="ellipse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1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100" dirty="0"/>
            </a:p>
          </p:txBody>
        </p:sp>
        <p:sp>
          <p:nvSpPr>
            <p:cNvPr id="15" name="Key label"/>
            <p:cNvSpPr/>
            <p:nvPr/>
          </p:nvSpPr>
          <p:spPr>
            <a:xfrm>
              <a:off x="8550042" y="1097280"/>
              <a:ext cx="309301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Players</a:t>
              </a:r>
              <a:endParaRPr lang="en-US" sz="1000" dirty="0"/>
            </a:p>
          </p:txBody>
        </p:sp>
        <p:sp>
          <p:nvSpPr>
            <p:cNvPr id="16" name="Key 1 number"/>
            <p:cNvSpPr/>
            <p:nvPr/>
          </p:nvSpPr>
          <p:spPr>
            <a:xfrm>
              <a:off x="8550042" y="1463040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1</a:t>
              </a:r>
              <a:endParaRPr lang="en-US" sz="1200" dirty="0"/>
            </a:p>
          </p:txBody>
        </p:sp>
        <p:sp>
          <p:nvSpPr>
            <p:cNvPr id="17" name="Key 1"/>
            <p:cNvSpPr/>
            <p:nvPr/>
          </p:nvSpPr>
          <p:spPr>
            <a:xfrm>
              <a:off x="8870082" y="1463040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18" name="Key 2 number"/>
            <p:cNvSpPr/>
            <p:nvPr/>
          </p:nvSpPr>
          <p:spPr>
            <a:xfrm>
              <a:off x="8550042" y="1847088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2</a:t>
              </a:r>
              <a:endParaRPr lang="en-US" sz="1200" dirty="0"/>
            </a:p>
          </p:txBody>
        </p:sp>
        <p:sp>
          <p:nvSpPr>
            <p:cNvPr id="19" name="Key 2"/>
            <p:cNvSpPr/>
            <p:nvPr/>
          </p:nvSpPr>
          <p:spPr>
            <a:xfrm>
              <a:off x="8870082" y="1847088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0" name="Key 3 number"/>
            <p:cNvSpPr/>
            <p:nvPr/>
          </p:nvSpPr>
          <p:spPr>
            <a:xfrm>
              <a:off x="8550042" y="2231136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3</a:t>
              </a:r>
              <a:endParaRPr lang="en-US" sz="1200" dirty="0"/>
            </a:p>
          </p:txBody>
        </p:sp>
        <p:sp>
          <p:nvSpPr>
            <p:cNvPr id="21" name="Key 3"/>
            <p:cNvSpPr/>
            <p:nvPr/>
          </p:nvSpPr>
          <p:spPr>
            <a:xfrm>
              <a:off x="8870082" y="2231136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2" name="Key 4 number"/>
            <p:cNvSpPr/>
            <p:nvPr/>
          </p:nvSpPr>
          <p:spPr>
            <a:xfrm>
              <a:off x="8550042" y="2615184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4</a:t>
              </a:r>
              <a:endParaRPr lang="en-US" sz="1200" dirty="0"/>
            </a:p>
          </p:txBody>
        </p:sp>
        <p:sp>
          <p:nvSpPr>
            <p:cNvPr id="23" name="Key 4"/>
            <p:cNvSpPr/>
            <p:nvPr/>
          </p:nvSpPr>
          <p:spPr>
            <a:xfrm>
              <a:off x="8870082" y="2615184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  <p:sp>
          <p:nvSpPr>
            <p:cNvPr id="24" name="Key 5 number"/>
            <p:cNvSpPr/>
            <p:nvPr/>
          </p:nvSpPr>
          <p:spPr>
            <a:xfrm>
              <a:off x="8550042" y="2999232"/>
              <a:ext cx="274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5</a:t>
              </a:r>
              <a:endParaRPr lang="en-US" sz="1200" dirty="0"/>
            </a:p>
          </p:txBody>
        </p:sp>
        <p:sp>
          <p:nvSpPr>
            <p:cNvPr id="25" name="Key 5"/>
            <p:cNvSpPr/>
            <p:nvPr/>
          </p:nvSpPr>
          <p:spPr>
            <a:xfrm>
              <a:off x="8870082" y="2999232"/>
              <a:ext cx="2772973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 name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V-PRO-01  ·  Chevron process</a:t>
            </a:r>
            <a:endParaRPr lang="en-US" sz="1000" dirty="0"/>
          </a:p>
        </p:txBody>
      </p:sp>
      <p:grpSp>
        <p:nvGrpSpPr>
          <p:cNvPr id="13" name="V-PRO-01"/>
          <p:cNvGrpSpPr/>
          <p:nvPr/>
        </p:nvGrpSpPr>
        <p:grpSpPr>
          <a:xfrm>
            <a:off x="548640" y="1097280"/>
            <a:ext cx="11094415" cy="4114800"/>
            <a:chOff x="548640" y="1097280"/>
            <a:chExt cx="11094415" cy="4114800"/>
          </a:xfrm>
        </p:grpSpPr>
        <p:sp>
          <p:nvSpPr>
            <p:cNvPr id="3" name="Step 1"/>
            <p:cNvSpPr/>
            <p:nvPr/>
          </p:nvSpPr>
          <p:spPr>
            <a:xfrm>
              <a:off x="548640" y="1097280"/>
              <a:ext cx="2401763" cy="777240"/>
            </a:xfrm>
            <a:prstGeom prst="homePlate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1</a:t>
              </a:r>
              <a:endParaRPr lang="en-US" sz="1200" dirty="0"/>
            </a:p>
          </p:txBody>
        </p:sp>
        <p:sp>
          <p:nvSpPr>
            <p:cNvPr id="4" name="Step 1 text"/>
            <p:cNvSpPr/>
            <p:nvPr/>
          </p:nvSpPr>
          <p:spPr>
            <a:xfrm>
              <a:off x="685800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5" name="Step 2"/>
            <p:cNvSpPr/>
            <p:nvPr/>
          </p:nvSpPr>
          <p:spPr>
            <a:xfrm>
              <a:off x="2721803" y="1097280"/>
              <a:ext cx="2401763" cy="77724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Step 2</a:t>
              </a:r>
              <a:endParaRPr lang="en-US" sz="1200" dirty="0"/>
            </a:p>
          </p:txBody>
        </p:sp>
        <p:sp>
          <p:nvSpPr>
            <p:cNvPr id="6" name="Step 2 text"/>
            <p:cNvSpPr/>
            <p:nvPr/>
          </p:nvSpPr>
          <p:spPr>
            <a:xfrm>
              <a:off x="2858963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7" name="Step 3"/>
            <p:cNvSpPr/>
            <p:nvPr/>
          </p:nvSpPr>
          <p:spPr>
            <a:xfrm>
              <a:off x="4894966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3</a:t>
              </a:r>
              <a:endParaRPr lang="en-US" sz="1200" dirty="0"/>
            </a:p>
          </p:txBody>
        </p:sp>
        <p:sp>
          <p:nvSpPr>
            <p:cNvPr id="8" name="Step 3 text"/>
            <p:cNvSpPr/>
            <p:nvPr/>
          </p:nvSpPr>
          <p:spPr>
            <a:xfrm>
              <a:off x="5032126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9" name="Step 4"/>
            <p:cNvSpPr/>
            <p:nvPr/>
          </p:nvSpPr>
          <p:spPr>
            <a:xfrm>
              <a:off x="7068129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4</a:t>
              </a:r>
              <a:endParaRPr lang="en-US" sz="1200" dirty="0"/>
            </a:p>
          </p:txBody>
        </p:sp>
        <p:sp>
          <p:nvSpPr>
            <p:cNvPr id="10" name="Step 4 text"/>
            <p:cNvSpPr/>
            <p:nvPr/>
          </p:nvSpPr>
          <p:spPr>
            <a:xfrm>
              <a:off x="7205289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  <p:sp>
          <p:nvSpPr>
            <p:cNvPr id="11" name="Step 5"/>
            <p:cNvSpPr/>
            <p:nvPr/>
          </p:nvSpPr>
          <p:spPr>
            <a:xfrm>
              <a:off x="9241292" y="1097280"/>
              <a:ext cx="2401763" cy="777240"/>
            </a:xfrm>
            <a:prstGeom prst="chevron">
              <a:avLst/>
            </a:prstGeom>
            <a:solidFill>
              <a:schemeClr val="accent6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Step 5</a:t>
              </a:r>
              <a:endParaRPr lang="en-US" sz="1200" dirty="0"/>
            </a:p>
          </p:txBody>
        </p:sp>
        <p:sp>
          <p:nvSpPr>
            <p:cNvPr id="12" name="Step 5 text"/>
            <p:cNvSpPr/>
            <p:nvPr/>
          </p:nvSpPr>
          <p:spPr>
            <a:xfrm>
              <a:off x="9378452" y="2057400"/>
              <a:ext cx="1898843" cy="3154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 in this step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V-PRO-02  ·  Cycle</a:t>
            </a:r>
            <a:endParaRPr lang="en-US" sz="1000" dirty="0"/>
          </a:p>
        </p:txBody>
      </p:sp>
      <p:grpSp>
        <p:nvGrpSpPr>
          <p:cNvPr id="13" name="V-PRO-02"/>
          <p:cNvGrpSpPr/>
          <p:nvPr/>
        </p:nvGrpSpPr>
        <p:grpSpPr>
          <a:xfrm>
            <a:off x="68580" y="1188720"/>
            <a:ext cx="8183880" cy="4069080"/>
            <a:chOff x="68580" y="1188720"/>
            <a:chExt cx="8183880" cy="40690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583180" y="1600200"/>
              <a:ext cx="3154680" cy="3154680"/>
            </a:xfrm>
            <a:prstGeom prst="ellipse">
              <a:avLst/>
            </a:prstGeom>
            <a:ln w="19050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4" name="Centre"/>
            <p:cNvSpPr/>
            <p:nvPr/>
          </p:nvSpPr>
          <p:spPr>
            <a:xfrm>
              <a:off x="3154680" y="2811780"/>
              <a:ext cx="2011680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Cycle name</a:t>
              </a:r>
              <a:endParaRPr lang="en-US" sz="1600" dirty="0"/>
            </a:p>
          </p:txBody>
        </p:sp>
        <p:sp>
          <p:nvSpPr>
            <p:cNvPr id="5" name="Step 1"/>
            <p:cNvSpPr/>
            <p:nvPr/>
          </p:nvSpPr>
          <p:spPr>
            <a:xfrm>
              <a:off x="3749040" y="1188720"/>
              <a:ext cx="822960" cy="82296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1</a:t>
              </a:r>
              <a:endParaRPr lang="en-US" sz="1600" dirty="0"/>
            </a:p>
          </p:txBody>
        </p:sp>
        <p:sp>
          <p:nvSpPr>
            <p:cNvPr id="6" name="Step 1 text"/>
            <p:cNvSpPr/>
            <p:nvPr/>
          </p:nvSpPr>
          <p:spPr>
            <a:xfrm>
              <a:off x="4663440" y="1188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7" name="Step 2"/>
            <p:cNvSpPr/>
            <p:nvPr/>
          </p:nvSpPr>
          <p:spPr>
            <a:xfrm>
              <a:off x="532638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2</a:t>
              </a:r>
              <a:endParaRPr lang="en-US" sz="1600" dirty="0"/>
            </a:p>
          </p:txBody>
        </p:sp>
        <p:sp>
          <p:nvSpPr>
            <p:cNvPr id="8" name="Step 2 text"/>
            <p:cNvSpPr/>
            <p:nvPr/>
          </p:nvSpPr>
          <p:spPr>
            <a:xfrm>
              <a:off x="62407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9" name="Step 3"/>
            <p:cNvSpPr/>
            <p:nvPr/>
          </p:nvSpPr>
          <p:spPr>
            <a:xfrm>
              <a:off x="3749040" y="434340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3</a:t>
              </a:r>
              <a:endParaRPr lang="en-US" sz="1600" dirty="0"/>
            </a:p>
          </p:txBody>
        </p:sp>
        <p:sp>
          <p:nvSpPr>
            <p:cNvPr id="10" name="Step 3 text"/>
            <p:cNvSpPr/>
            <p:nvPr/>
          </p:nvSpPr>
          <p:spPr>
            <a:xfrm>
              <a:off x="4663440" y="461772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  <p:sp>
          <p:nvSpPr>
            <p:cNvPr id="11" name="Step 4"/>
            <p:cNvSpPr/>
            <p:nvPr/>
          </p:nvSpPr>
          <p:spPr>
            <a:xfrm>
              <a:off x="2171700" y="2766060"/>
              <a:ext cx="822960" cy="822960"/>
            </a:xfrm>
            <a:prstGeom prst="ellipse">
              <a:avLst/>
            </a:prstGeom>
            <a:solidFill>
              <a:schemeClr val="accent4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4</a:t>
              </a:r>
              <a:endParaRPr lang="en-US" sz="1600" dirty="0"/>
            </a:p>
          </p:txBody>
        </p:sp>
        <p:sp>
          <p:nvSpPr>
            <p:cNvPr id="12" name="Step 4 text"/>
            <p:cNvSpPr/>
            <p:nvPr/>
          </p:nvSpPr>
          <p:spPr>
            <a:xfrm>
              <a:off x="68580" y="2857500"/>
              <a:ext cx="201168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Step name and one line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V-PRO-03  ·  Swimlane flow</a:t>
            </a:r>
            <a:endParaRPr lang="en-US" sz="1000" dirty="0"/>
          </a:p>
        </p:txBody>
      </p:sp>
      <p:grpSp>
        <p:nvGrpSpPr>
          <p:cNvPr id="22" name="V-PRO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Lane 1"/>
            <p:cNvSpPr/>
            <p:nvPr/>
          </p:nvSpPr>
          <p:spPr>
            <a:xfrm>
              <a:off x="685800" y="109728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1</a:t>
              </a:r>
              <a:endParaRPr lang="en-US" sz="1200" dirty="0"/>
            </a:p>
          </p:txBody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484120"/>
              <a:ext cx="11094415" cy="1386840"/>
            </a:xfrm>
            <a:prstGeom prst="rect">
              <a:avLst/>
            </a:prstGeom>
            <a:solidFill>
              <a:schemeClr val="bg1"/>
            </a:solidFill>
            <a:ln/>
          </p:spPr>
        </p:sp>
        <p:sp>
          <p:nvSpPr>
            <p:cNvPr id="6" name="Lane 2"/>
            <p:cNvSpPr/>
            <p:nvPr/>
          </p:nvSpPr>
          <p:spPr>
            <a:xfrm>
              <a:off x="685800" y="248412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2</a:t>
              </a:r>
              <a:endParaRPr lang="en-US" sz="1200" dirty="0"/>
            </a:p>
          </p:txBody>
        </p:sp>
        <p:sp>
          <p:nvSpPr>
            <p:cNvPr id="7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870960"/>
              <a:ext cx="11094415" cy="138684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Lane 3"/>
            <p:cNvSpPr/>
            <p:nvPr/>
          </p:nvSpPr>
          <p:spPr>
            <a:xfrm>
              <a:off x="685800" y="3870960"/>
              <a:ext cx="1371600" cy="13868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Actor 3</a:t>
              </a:r>
              <a:endParaRPr lang="en-US" sz="1200" dirty="0"/>
            </a:p>
          </p:txBody>
        </p:sp>
        <p:sp>
          <p:nvSpPr>
            <p:cNvPr id="9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94560" y="1097280"/>
              <a:ext cx="91" cy="416052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Box 1"/>
            <p:cNvSpPr/>
            <p:nvPr/>
          </p:nvSpPr>
          <p:spPr>
            <a:xfrm>
              <a:off x="2400300" y="144780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1" name="Box 2"/>
            <p:cNvSpPr/>
            <p:nvPr/>
          </p:nvSpPr>
          <p:spPr>
            <a:xfrm>
              <a:off x="4289999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2" name="Box 2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878519" y="179070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3" name="Box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9109" y="179070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Box 3"/>
            <p:cNvSpPr/>
            <p:nvPr/>
          </p:nvSpPr>
          <p:spPr>
            <a:xfrm>
              <a:off x="6179698" y="283464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5" name="Box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768218" y="3177540"/>
              <a:ext cx="41148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6" name="Box 4"/>
            <p:cNvSpPr/>
            <p:nvPr/>
          </p:nvSpPr>
          <p:spPr>
            <a:xfrm>
              <a:off x="8069397" y="4221480"/>
              <a:ext cx="1478219" cy="6858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17" name="Box 4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7917" y="317754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18" name="Box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08507" y="3177540"/>
              <a:ext cx="91" cy="10439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Box 5"/>
            <p:cNvSpPr/>
            <p:nvPr/>
          </p:nvSpPr>
          <p:spPr>
            <a:xfrm>
              <a:off x="9959096" y="1447800"/>
              <a:ext cx="1478219" cy="685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</a:ln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Activity</a:t>
              </a:r>
              <a:endParaRPr lang="en-US" sz="1000" dirty="0"/>
            </a:p>
          </p:txBody>
        </p:sp>
        <p:sp>
          <p:nvSpPr>
            <p:cNvPr id="20" name="Box 5 mark elbow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547616" y="4564380"/>
              <a:ext cx="1150590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</a:ln>
          </p:spPr>
        </p:sp>
        <p:sp>
          <p:nvSpPr>
            <p:cNvPr id="21" name="Box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98206" y="2133600"/>
              <a:ext cx="91" cy="243078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V-PRO-04  ·  Stage-gate</a:t>
            </a:r>
            <a:endParaRPr lang="en-US" sz="1000" dirty="0"/>
          </a:p>
        </p:txBody>
      </p:sp>
      <p:grpSp>
        <p:nvGrpSpPr>
          <p:cNvPr id="17" name="V-PRO-04"/>
          <p:cNvGrpSpPr/>
          <p:nvPr/>
        </p:nvGrpSpPr>
        <p:grpSpPr>
          <a:xfrm>
            <a:off x="548640" y="1371600"/>
            <a:ext cx="11094415" cy="3840480"/>
            <a:chOff x="548640" y="1371600"/>
            <a:chExt cx="11094415" cy="3840480"/>
          </a:xfrm>
        </p:grpSpPr>
        <p:sp>
          <p:nvSpPr>
            <p:cNvPr id="3" name="Stage 1"/>
            <p:cNvSpPr/>
            <p:nvPr/>
          </p:nvSpPr>
          <p:spPr>
            <a:xfrm>
              <a:off x="548640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200" dirty="0"/>
            </a:p>
          </p:txBody>
        </p:sp>
        <p:sp>
          <p:nvSpPr>
            <p:cNvPr id="4" name="Stage 1 text"/>
            <p:cNvSpPr/>
            <p:nvPr/>
          </p:nvSpPr>
          <p:spPr>
            <a:xfrm>
              <a:off x="548640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5" name="Gate 1"/>
            <p:cNvSpPr/>
            <p:nvPr/>
          </p:nvSpPr>
          <p:spPr>
            <a:xfrm>
              <a:off x="2796464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G1</a:t>
              </a:r>
              <a:endParaRPr lang="en-US" sz="1000" dirty="0"/>
            </a:p>
          </p:txBody>
        </p:sp>
        <p:sp>
          <p:nvSpPr>
            <p:cNvPr id="6" name="Gate 1 criteria"/>
            <p:cNvSpPr/>
            <p:nvPr/>
          </p:nvSpPr>
          <p:spPr>
            <a:xfrm>
              <a:off x="2476424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7" name="Stage 2"/>
            <p:cNvSpPr/>
            <p:nvPr/>
          </p:nvSpPr>
          <p:spPr>
            <a:xfrm>
              <a:off x="3527984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200" dirty="0"/>
            </a:p>
          </p:txBody>
        </p:sp>
        <p:sp>
          <p:nvSpPr>
            <p:cNvPr id="8" name="Stage 2 text"/>
            <p:cNvSpPr/>
            <p:nvPr/>
          </p:nvSpPr>
          <p:spPr>
            <a:xfrm>
              <a:off x="3527984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9" name="Gate 2"/>
            <p:cNvSpPr/>
            <p:nvPr/>
          </p:nvSpPr>
          <p:spPr>
            <a:xfrm>
              <a:off x="5775808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G2</a:t>
              </a:r>
              <a:endParaRPr lang="en-US" sz="1000" dirty="0"/>
            </a:p>
          </p:txBody>
        </p:sp>
        <p:sp>
          <p:nvSpPr>
            <p:cNvPr id="10" name="Gate 2 criteria"/>
            <p:cNvSpPr/>
            <p:nvPr/>
          </p:nvSpPr>
          <p:spPr>
            <a:xfrm>
              <a:off x="5455768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1" name="Stage 3"/>
            <p:cNvSpPr/>
            <p:nvPr/>
          </p:nvSpPr>
          <p:spPr>
            <a:xfrm>
              <a:off x="6507328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200" dirty="0"/>
            </a:p>
          </p:txBody>
        </p:sp>
        <p:sp>
          <p:nvSpPr>
            <p:cNvPr id="12" name="Stage 3 text"/>
            <p:cNvSpPr/>
            <p:nvPr/>
          </p:nvSpPr>
          <p:spPr>
            <a:xfrm>
              <a:off x="6507328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  <p:sp>
          <p:nvSpPr>
            <p:cNvPr id="13" name="Gate 3"/>
            <p:cNvSpPr/>
            <p:nvPr/>
          </p:nvSpPr>
          <p:spPr>
            <a:xfrm>
              <a:off x="8755151" y="1417320"/>
              <a:ext cx="640080" cy="640080"/>
            </a:xfrm>
            <a:prstGeom prst="diamond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G3</a:t>
              </a:r>
              <a:endParaRPr lang="en-US" sz="1000" dirty="0"/>
            </a:p>
          </p:txBody>
        </p:sp>
        <p:sp>
          <p:nvSpPr>
            <p:cNvPr id="14" name="Gate 3 criteria"/>
            <p:cNvSpPr/>
            <p:nvPr/>
          </p:nvSpPr>
          <p:spPr>
            <a:xfrm>
              <a:off x="8435111" y="2240280"/>
              <a:ext cx="1280160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Decision criteria</a:t>
              </a:r>
              <a:endParaRPr lang="en-US" sz="1000" dirty="0"/>
            </a:p>
          </p:txBody>
        </p:sp>
        <p:sp>
          <p:nvSpPr>
            <p:cNvPr id="15" name="Stage 4"/>
            <p:cNvSpPr/>
            <p:nvPr/>
          </p:nvSpPr>
          <p:spPr>
            <a:xfrm>
              <a:off x="9486671" y="1371600"/>
              <a:ext cx="2156384" cy="73152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200" dirty="0"/>
            </a:p>
          </p:txBody>
        </p:sp>
        <p:sp>
          <p:nvSpPr>
            <p:cNvPr id="16" name="Stage 4 text"/>
            <p:cNvSpPr/>
            <p:nvPr/>
          </p:nvSpPr>
          <p:spPr>
            <a:xfrm>
              <a:off x="9486671" y="2240280"/>
              <a:ext cx="2156384" cy="2971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Main activities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V-PRO-05  ·  Customer journey</a:t>
            </a:r>
            <a:endParaRPr lang="en-US" sz="1000" dirty="0"/>
          </a:p>
        </p:txBody>
      </p:sp>
      <p:grpSp>
        <p:nvGrpSpPr>
          <p:cNvPr id="29" name="V-PRO-05"/>
          <p:cNvGrpSpPr/>
          <p:nvPr/>
        </p:nvGrpSpPr>
        <p:grpSpPr>
          <a:xfrm>
            <a:off x="548640" y="1097280"/>
            <a:ext cx="11277295" cy="4069080"/>
            <a:chOff x="548640" y="1097280"/>
            <a:chExt cx="11277295" cy="4069080"/>
          </a:xfrm>
        </p:grpSpPr>
        <p:sp>
          <p:nvSpPr>
            <p:cNvPr id="3" name="Stage 1"/>
            <p:cNvSpPr/>
            <p:nvPr/>
          </p:nvSpPr>
          <p:spPr>
            <a:xfrm>
              <a:off x="2286000" y="1097280"/>
              <a:ext cx="2054291" cy="64008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1</a:t>
              </a:r>
              <a:endParaRPr lang="en-US" sz="1000" dirty="0"/>
            </a:p>
          </p:txBody>
        </p:sp>
        <p:sp>
          <p:nvSpPr>
            <p:cNvPr id="4" name="Stage 2"/>
            <p:cNvSpPr/>
            <p:nvPr/>
          </p:nvSpPr>
          <p:spPr>
            <a:xfrm>
              <a:off x="4157411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2</a:t>
              </a:r>
              <a:endParaRPr lang="en-US" sz="1000" dirty="0"/>
            </a:p>
          </p:txBody>
        </p:sp>
        <p:sp>
          <p:nvSpPr>
            <p:cNvPr id="5" name="Stage 3"/>
            <p:cNvSpPr/>
            <p:nvPr/>
          </p:nvSpPr>
          <p:spPr>
            <a:xfrm>
              <a:off x="6028822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3</a:t>
              </a:r>
              <a:endParaRPr lang="en-US" sz="1000" dirty="0"/>
            </a:p>
          </p:txBody>
        </p:sp>
        <p:sp>
          <p:nvSpPr>
            <p:cNvPr id="6" name="Stage 4"/>
            <p:cNvSpPr/>
            <p:nvPr/>
          </p:nvSpPr>
          <p:spPr>
            <a:xfrm>
              <a:off x="7900233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4</a:t>
              </a:r>
              <a:endParaRPr lang="en-US" sz="1000" dirty="0"/>
            </a:p>
          </p:txBody>
        </p:sp>
        <p:sp>
          <p:nvSpPr>
            <p:cNvPr id="7" name="Stage 5"/>
            <p:cNvSpPr/>
            <p:nvPr/>
          </p:nvSpPr>
          <p:spPr>
            <a:xfrm>
              <a:off x="9771644" y="1097280"/>
              <a:ext cx="2054291" cy="640080"/>
            </a:xfrm>
            <a:prstGeom prst="chevron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Stage 5</a:t>
              </a:r>
              <a:endParaRPr lang="en-US" sz="1000" dirty="0"/>
            </a:p>
          </p:txBody>
        </p:sp>
        <p:sp>
          <p:nvSpPr>
            <p:cNvPr id="8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87452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Row 1"/>
            <p:cNvSpPr/>
            <p:nvPr/>
          </p:nvSpPr>
          <p:spPr>
            <a:xfrm>
              <a:off x="548640" y="196596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Actions</a:t>
              </a:r>
              <a:endParaRPr lang="en-US" sz="10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2423160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4294571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6165982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037393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9908804" y="196596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00228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6" name="Row 2"/>
            <p:cNvSpPr/>
            <p:nvPr/>
          </p:nvSpPr>
          <p:spPr>
            <a:xfrm>
              <a:off x="548640" y="309372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Touchpoints</a:t>
              </a:r>
              <a:endParaRPr lang="en-US" sz="1000" dirty="0"/>
            </a:p>
          </p:txBody>
        </p:sp>
        <p:sp>
          <p:nvSpPr>
            <p:cNvPr id="17" name="Cell 2-1"/>
            <p:cNvSpPr/>
            <p:nvPr/>
          </p:nvSpPr>
          <p:spPr>
            <a:xfrm>
              <a:off x="2423160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Cell 2-2"/>
            <p:cNvSpPr/>
            <p:nvPr/>
          </p:nvSpPr>
          <p:spPr>
            <a:xfrm>
              <a:off x="4294571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9" name="Cell 2-3"/>
            <p:cNvSpPr/>
            <p:nvPr/>
          </p:nvSpPr>
          <p:spPr>
            <a:xfrm>
              <a:off x="6165982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0" name="Cell 2-4"/>
            <p:cNvSpPr/>
            <p:nvPr/>
          </p:nvSpPr>
          <p:spPr>
            <a:xfrm>
              <a:off x="8037393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Cell 2-5"/>
            <p:cNvSpPr/>
            <p:nvPr/>
          </p:nvSpPr>
          <p:spPr>
            <a:xfrm>
              <a:off x="9908804" y="309372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2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4130040"/>
              <a:ext cx="11094415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3" name="Row 3"/>
            <p:cNvSpPr/>
            <p:nvPr/>
          </p:nvSpPr>
          <p:spPr>
            <a:xfrm>
              <a:off x="548640" y="4221480"/>
              <a:ext cx="1600200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Pain points</a:t>
              </a:r>
              <a:endParaRPr lang="en-US" sz="1000" dirty="0"/>
            </a:p>
          </p:txBody>
        </p:sp>
        <p:sp>
          <p:nvSpPr>
            <p:cNvPr id="24" name="Cell 3-1"/>
            <p:cNvSpPr/>
            <p:nvPr/>
          </p:nvSpPr>
          <p:spPr>
            <a:xfrm>
              <a:off x="2423160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5" name="Cell 3-2"/>
            <p:cNvSpPr/>
            <p:nvPr/>
          </p:nvSpPr>
          <p:spPr>
            <a:xfrm>
              <a:off x="4294571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6" name="Cell 3-3"/>
            <p:cNvSpPr/>
            <p:nvPr/>
          </p:nvSpPr>
          <p:spPr>
            <a:xfrm>
              <a:off x="6165982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Cell 3-4"/>
            <p:cNvSpPr/>
            <p:nvPr/>
          </p:nvSpPr>
          <p:spPr>
            <a:xfrm>
              <a:off x="8037393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8" name="Cell 3-5"/>
            <p:cNvSpPr/>
            <p:nvPr/>
          </p:nvSpPr>
          <p:spPr>
            <a:xfrm>
              <a:off x="9908804" y="4221480"/>
              <a:ext cx="1642811" cy="944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V-PRO-06  ·  Double diamond</a:t>
            </a:r>
            <a:endParaRPr lang="en-US" sz="1000" dirty="0"/>
          </a:p>
        </p:txBody>
      </p:sp>
      <p:grpSp>
        <p:nvGrpSpPr>
          <p:cNvPr id="17" name="V-PRO-06"/>
          <p:cNvGrpSpPr/>
          <p:nvPr/>
        </p:nvGrpSpPr>
        <p:grpSpPr>
          <a:xfrm>
            <a:off x="548640" y="1078992"/>
            <a:ext cx="11094416" cy="4133088"/>
            <a:chOff x="548640" y="1078992"/>
            <a:chExt cx="11094416" cy="4133088"/>
          </a:xfrm>
        </p:grpSpPr>
        <p:sp>
          <p:nvSpPr>
            <p:cNvPr id="3" name="Diamond 1"/>
            <p:cNvSpPr/>
            <p:nvPr/>
          </p:nvSpPr>
          <p:spPr>
            <a:xfrm>
              <a:off x="548640" y="1097280"/>
              <a:ext cx="5547208" cy="3063240"/>
            </a:xfrm>
            <a:prstGeom prst="diamond">
              <a:avLst/>
            </a:prstGeom>
            <a:solidFill>
              <a:schemeClr val="accent6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iamond 2"/>
            <p:cNvSpPr/>
            <p:nvPr/>
          </p:nvSpPr>
          <p:spPr>
            <a:xfrm>
              <a:off x="6095848" y="1097280"/>
              <a:ext cx="5547208" cy="3063240"/>
            </a:xfrm>
            <a:prstGeom prst="diamond">
              <a:avLst/>
            </a:prstGeom>
            <a:solidFill>
              <a:schemeClr val="accent5"/>
            </a:solidFill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1234440"/>
              <a:ext cx="91" cy="2788920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7" name="Phase 1"/>
            <p:cNvSpPr/>
            <p:nvPr/>
          </p:nvSpPr>
          <p:spPr>
            <a:xfrm>
              <a:off x="731520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1</a:t>
              </a:r>
              <a:endParaRPr lang="en-US" sz="1200" dirty="0"/>
            </a:p>
          </p:txBody>
        </p:sp>
        <p:sp>
          <p:nvSpPr>
            <p:cNvPr id="8" name="Phase 1 text"/>
            <p:cNvSpPr/>
            <p:nvPr/>
          </p:nvSpPr>
          <p:spPr>
            <a:xfrm>
              <a:off x="640080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9" name="Phase 2"/>
            <p:cNvSpPr/>
            <p:nvPr/>
          </p:nvSpPr>
          <p:spPr>
            <a:xfrm>
              <a:off x="3505124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2</a:t>
              </a:r>
              <a:endParaRPr lang="en-US" sz="1200" dirty="0"/>
            </a:p>
          </p:txBody>
        </p:sp>
        <p:sp>
          <p:nvSpPr>
            <p:cNvPr id="10" name="Phase 2 text"/>
            <p:cNvSpPr/>
            <p:nvPr/>
          </p:nvSpPr>
          <p:spPr>
            <a:xfrm>
              <a:off x="3413684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1" name="Phase 3"/>
            <p:cNvSpPr/>
            <p:nvPr/>
          </p:nvSpPr>
          <p:spPr>
            <a:xfrm>
              <a:off x="6278728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3</a:t>
              </a:r>
              <a:endParaRPr lang="en-US" sz="1200" dirty="0"/>
            </a:p>
          </p:txBody>
        </p:sp>
        <p:sp>
          <p:nvSpPr>
            <p:cNvPr id="12" name="Phase 3 text"/>
            <p:cNvSpPr/>
            <p:nvPr/>
          </p:nvSpPr>
          <p:spPr>
            <a:xfrm>
              <a:off x="6187288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3" name="Phase 4"/>
            <p:cNvSpPr/>
            <p:nvPr/>
          </p:nvSpPr>
          <p:spPr>
            <a:xfrm>
              <a:off x="9052331" y="24460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Phase 4</a:t>
              </a:r>
              <a:endParaRPr lang="en-US" sz="1200" dirty="0"/>
            </a:p>
          </p:txBody>
        </p:sp>
        <p:sp>
          <p:nvSpPr>
            <p:cNvPr id="14" name="Phase 4 text"/>
            <p:cNvSpPr/>
            <p:nvPr/>
          </p:nvSpPr>
          <p:spPr>
            <a:xfrm>
              <a:off x="8960891" y="4297680"/>
              <a:ext cx="259072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happens</a:t>
              </a:r>
              <a:endParaRPr lang="en-US" sz="1000" dirty="0"/>
            </a:p>
          </p:txBody>
        </p:sp>
        <p:sp>
          <p:nvSpPr>
            <p:cNvPr id="15" name="Milestone 1"/>
            <p:cNvSpPr/>
            <p:nvPr/>
          </p:nvSpPr>
          <p:spPr>
            <a:xfrm>
              <a:off x="4998568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Problem defined</a:t>
              </a:r>
              <a:endParaRPr lang="en-US" sz="1000" dirty="0"/>
            </a:p>
          </p:txBody>
        </p:sp>
        <p:sp>
          <p:nvSpPr>
            <p:cNvPr id="16" name="Milestone 2"/>
            <p:cNvSpPr/>
            <p:nvPr/>
          </p:nvSpPr>
          <p:spPr>
            <a:xfrm>
              <a:off x="9448495" y="1078992"/>
              <a:ext cx="2194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Solution delivered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V-PRO-07  ·  Staircase</a:t>
            </a:r>
            <a:endParaRPr lang="en-US" sz="1000" dirty="0"/>
          </a:p>
        </p:txBody>
      </p:sp>
      <p:grpSp>
        <p:nvGrpSpPr>
          <p:cNvPr id="15" name="V-PRO-07"/>
          <p:cNvGrpSpPr/>
          <p:nvPr/>
        </p:nvGrpSpPr>
        <p:grpSpPr>
          <a:xfrm>
            <a:off x="585216" y="1188720"/>
            <a:ext cx="11021263" cy="4069080"/>
            <a:chOff x="585216" y="1188720"/>
            <a:chExt cx="11021263" cy="406908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4217670"/>
              <a:ext cx="2700452" cy="1040130"/>
            </a:xfrm>
            <a:prstGeom prst="rect">
              <a:avLst/>
            </a:prstGeom>
            <a:solidFill>
              <a:schemeClr val="accent6"/>
            </a:solidFill>
            <a:ln/>
          </p:spPr>
        </p:sp>
        <p:sp>
          <p:nvSpPr>
            <p:cNvPr id="4" name="Level 1"/>
            <p:cNvSpPr/>
            <p:nvPr/>
          </p:nvSpPr>
          <p:spPr>
            <a:xfrm>
              <a:off x="731520" y="435483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1</a:t>
              </a:r>
              <a:endParaRPr lang="en-US" sz="1200" dirty="0"/>
            </a:p>
          </p:txBody>
        </p:sp>
        <p:sp>
          <p:nvSpPr>
            <p:cNvPr id="5" name="Level 1 text"/>
            <p:cNvSpPr/>
            <p:nvPr/>
          </p:nvSpPr>
          <p:spPr>
            <a:xfrm>
              <a:off x="731520" y="321183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58820" y="3543300"/>
              <a:ext cx="2700452" cy="1714500"/>
            </a:xfrm>
            <a:prstGeom prst="rect">
              <a:avLst/>
            </a:prstGeom>
            <a:solidFill>
              <a:schemeClr val="accent4"/>
            </a:solidFill>
            <a:ln/>
          </p:spPr>
        </p:sp>
        <p:sp>
          <p:nvSpPr>
            <p:cNvPr id="7" name="Level 2"/>
            <p:cNvSpPr/>
            <p:nvPr/>
          </p:nvSpPr>
          <p:spPr>
            <a:xfrm>
              <a:off x="3505124" y="368046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8" name="Level 2 text"/>
            <p:cNvSpPr/>
            <p:nvPr/>
          </p:nvSpPr>
          <p:spPr>
            <a:xfrm>
              <a:off x="3505124" y="253746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2868930"/>
              <a:ext cx="2700452" cy="2388870"/>
            </a:xfrm>
            <a:prstGeom prst="rect">
              <a:avLst/>
            </a:prstGeom>
            <a:solidFill>
              <a:schemeClr val="accent2"/>
            </a:solidFill>
            <a:ln/>
          </p:spPr>
        </p:sp>
        <p:sp>
          <p:nvSpPr>
            <p:cNvPr id="10" name="Level 3"/>
            <p:cNvSpPr/>
            <p:nvPr/>
          </p:nvSpPr>
          <p:spPr>
            <a:xfrm>
              <a:off x="6278728" y="300609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1" name="Level 3 text"/>
            <p:cNvSpPr/>
            <p:nvPr/>
          </p:nvSpPr>
          <p:spPr>
            <a:xfrm>
              <a:off x="6278728" y="186309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906027" y="2194560"/>
              <a:ext cx="2700452" cy="306324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Level 4"/>
            <p:cNvSpPr/>
            <p:nvPr/>
          </p:nvSpPr>
          <p:spPr>
            <a:xfrm>
              <a:off x="9052331" y="2331720"/>
              <a:ext cx="2407844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4" name="Level 4 text"/>
            <p:cNvSpPr/>
            <p:nvPr/>
          </p:nvSpPr>
          <p:spPr>
            <a:xfrm>
              <a:off x="9052331" y="1188720"/>
              <a:ext cx="2407844" cy="914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looks like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V-TIM-01  ·  Milestone timeline</a:t>
            </a:r>
            <a:endParaRPr lang="en-US" sz="1000" dirty="0"/>
          </a:p>
        </p:txBody>
      </p:sp>
      <p:grpSp>
        <p:nvGrpSpPr>
          <p:cNvPr id="28" name="V-TIM-01"/>
          <p:cNvGrpSpPr/>
          <p:nvPr/>
        </p:nvGrpSpPr>
        <p:grpSpPr>
          <a:xfrm>
            <a:off x="548640" y="1348740"/>
            <a:ext cx="11094415" cy="3566160"/>
            <a:chOff x="548640" y="1348740"/>
            <a:chExt cx="11094415" cy="356616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11094415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4" name="Mileston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72591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5" name="Milestone 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73175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6" name="Date 1"/>
            <p:cNvSpPr/>
            <p:nvPr/>
          </p:nvSpPr>
          <p:spPr>
            <a:xfrm>
              <a:off x="594360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7" name="Milestone 1"/>
            <p:cNvSpPr/>
            <p:nvPr/>
          </p:nvSpPr>
          <p:spPr>
            <a:xfrm>
              <a:off x="594360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8" name="Mileston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21660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9" name="Milestone 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322244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Date 2"/>
            <p:cNvSpPr/>
            <p:nvPr/>
          </p:nvSpPr>
          <p:spPr>
            <a:xfrm>
              <a:off x="2443429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1" name="Milestone 2"/>
            <p:cNvSpPr/>
            <p:nvPr/>
          </p:nvSpPr>
          <p:spPr>
            <a:xfrm>
              <a:off x="2443429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2" name="Mileston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70729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Milestone 3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171313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Date 3"/>
            <p:cNvSpPr/>
            <p:nvPr/>
          </p:nvSpPr>
          <p:spPr>
            <a:xfrm>
              <a:off x="4292498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5" name="Milestone 3"/>
            <p:cNvSpPr/>
            <p:nvPr/>
          </p:nvSpPr>
          <p:spPr>
            <a:xfrm>
              <a:off x="4292498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16" name="Mileston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919798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7" name="Milestone 4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20382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Date 4"/>
            <p:cNvSpPr/>
            <p:nvPr/>
          </p:nvSpPr>
          <p:spPr>
            <a:xfrm>
              <a:off x="6141568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19" name="Milestone 4"/>
            <p:cNvSpPr/>
            <p:nvPr/>
          </p:nvSpPr>
          <p:spPr>
            <a:xfrm>
              <a:off x="6141568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0" name="Mileston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768867" y="3076956"/>
              <a:ext cx="201168" cy="20116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1" name="Milestone 5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869451" y="2491740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2" name="Date 5"/>
            <p:cNvSpPr/>
            <p:nvPr/>
          </p:nvSpPr>
          <p:spPr>
            <a:xfrm>
              <a:off x="7990637" y="203454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3" name="Milestone 5"/>
            <p:cNvSpPr/>
            <p:nvPr/>
          </p:nvSpPr>
          <p:spPr>
            <a:xfrm>
              <a:off x="7990637" y="134874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  <p:sp>
          <p:nvSpPr>
            <p:cNvPr id="24" name="Mileston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617937" y="3076956"/>
              <a:ext cx="201168" cy="20116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25" name="Milestone 6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718521" y="3278124"/>
              <a:ext cx="91" cy="585216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Date 6"/>
            <p:cNvSpPr/>
            <p:nvPr/>
          </p:nvSpPr>
          <p:spPr>
            <a:xfrm>
              <a:off x="9839706" y="3909060"/>
              <a:ext cx="175762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Date</a:t>
              </a:r>
              <a:endParaRPr lang="en-US" sz="1000" dirty="0"/>
            </a:p>
          </p:txBody>
        </p:sp>
        <p:sp>
          <p:nvSpPr>
            <p:cNvPr id="27" name="Milestone 6"/>
            <p:cNvSpPr/>
            <p:nvPr/>
          </p:nvSpPr>
          <p:spPr>
            <a:xfrm>
              <a:off x="9839706" y="4229100"/>
              <a:ext cx="1757629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Milestone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V-TIM-02  ·  Roadmap by lanes</a:t>
            </a:r>
            <a:endParaRPr lang="en-US" sz="1000" dirty="0"/>
          </a:p>
        </p:txBody>
      </p:sp>
      <p:grpSp>
        <p:nvGrpSpPr>
          <p:cNvPr id="28" name="V-TI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Period 1"/>
            <p:cNvSpPr/>
            <p:nvPr/>
          </p:nvSpPr>
          <p:spPr>
            <a:xfrm>
              <a:off x="2468880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1</a:t>
              </a:r>
              <a:endParaRPr lang="en-US" sz="1000" dirty="0"/>
            </a:p>
          </p:txBody>
        </p:sp>
        <p:sp>
          <p:nvSpPr>
            <p:cNvPr id="4" name="Period 2"/>
            <p:cNvSpPr/>
            <p:nvPr/>
          </p:nvSpPr>
          <p:spPr>
            <a:xfrm>
              <a:off x="4762424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2</a:t>
              </a:r>
              <a:endParaRPr lang="en-US" sz="1000" dirty="0"/>
            </a:p>
          </p:txBody>
        </p:sp>
        <p:sp>
          <p:nvSpPr>
            <p:cNvPr id="5" name="Period 3"/>
            <p:cNvSpPr/>
            <p:nvPr/>
          </p:nvSpPr>
          <p:spPr>
            <a:xfrm>
              <a:off x="7055968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3</a:t>
              </a:r>
              <a:endParaRPr lang="en-US" sz="1000" dirty="0"/>
            </a:p>
          </p:txBody>
        </p:sp>
        <p:sp>
          <p:nvSpPr>
            <p:cNvPr id="6" name="Period 4"/>
            <p:cNvSpPr/>
            <p:nvPr/>
          </p:nvSpPr>
          <p:spPr>
            <a:xfrm>
              <a:off x="9349511" y="1097280"/>
              <a:ext cx="2293544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Period 4</a:t>
              </a:r>
              <a:endParaRPr lang="en-US" sz="1000" dirty="0"/>
            </a:p>
          </p:txBody>
        </p:sp>
        <p:sp>
          <p:nvSpPr>
            <p:cNvPr id="7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481328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8" name="Lane 1"/>
            <p:cNvSpPr/>
            <p:nvPr/>
          </p:nvSpPr>
          <p:spPr>
            <a:xfrm>
              <a:off x="548640" y="155448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1</a:t>
              </a:r>
              <a:endParaRPr lang="en-US" sz="1200" dirty="0"/>
            </a:p>
          </p:txBody>
        </p:sp>
        <p:sp>
          <p:nvSpPr>
            <p:cNvPr id="9" name="Cell 1-1"/>
            <p:cNvSpPr/>
            <p:nvPr/>
          </p:nvSpPr>
          <p:spPr>
            <a:xfrm>
              <a:off x="2523744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0" name="Cell 1-2"/>
            <p:cNvSpPr/>
            <p:nvPr/>
          </p:nvSpPr>
          <p:spPr>
            <a:xfrm>
              <a:off x="4817288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1" name="Cell 1-3"/>
            <p:cNvSpPr/>
            <p:nvPr/>
          </p:nvSpPr>
          <p:spPr>
            <a:xfrm>
              <a:off x="7110832" y="164592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2" name="Cell 1-4"/>
            <p:cNvSpPr/>
            <p:nvPr/>
          </p:nvSpPr>
          <p:spPr>
            <a:xfrm>
              <a:off x="9404375" y="164592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3" name="Lane 2"/>
            <p:cNvSpPr/>
            <p:nvPr/>
          </p:nvSpPr>
          <p:spPr>
            <a:xfrm>
              <a:off x="548640" y="248031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2</a:t>
              </a:r>
              <a:endParaRPr lang="en-US" sz="1200" dirty="0"/>
            </a:p>
          </p:txBody>
        </p:sp>
        <p:sp>
          <p:nvSpPr>
            <p:cNvPr id="14" name="Cell 2-1"/>
            <p:cNvSpPr/>
            <p:nvPr/>
          </p:nvSpPr>
          <p:spPr>
            <a:xfrm>
              <a:off x="2523744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5" name="Cell 2-2"/>
            <p:cNvSpPr/>
            <p:nvPr/>
          </p:nvSpPr>
          <p:spPr>
            <a:xfrm>
              <a:off x="4817288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6" name="Cell 2-3"/>
            <p:cNvSpPr/>
            <p:nvPr/>
          </p:nvSpPr>
          <p:spPr>
            <a:xfrm>
              <a:off x="7110832" y="257175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7" name="Cell 2-4"/>
            <p:cNvSpPr/>
            <p:nvPr/>
          </p:nvSpPr>
          <p:spPr>
            <a:xfrm>
              <a:off x="9404375" y="257175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18" name="Lane 3"/>
            <p:cNvSpPr/>
            <p:nvPr/>
          </p:nvSpPr>
          <p:spPr>
            <a:xfrm>
              <a:off x="548640" y="340614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3</a:t>
              </a:r>
              <a:endParaRPr lang="en-US" sz="1200" dirty="0"/>
            </a:p>
          </p:txBody>
        </p:sp>
        <p:sp>
          <p:nvSpPr>
            <p:cNvPr id="19" name="Cell 3-1"/>
            <p:cNvSpPr/>
            <p:nvPr/>
          </p:nvSpPr>
          <p:spPr>
            <a:xfrm>
              <a:off x="2523744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0" name="Cell 3-2"/>
            <p:cNvSpPr/>
            <p:nvPr/>
          </p:nvSpPr>
          <p:spPr>
            <a:xfrm>
              <a:off x="4817288" y="349758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1" name="Cell 3-3"/>
            <p:cNvSpPr/>
            <p:nvPr/>
          </p:nvSpPr>
          <p:spPr>
            <a:xfrm>
              <a:off x="7110832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2" name="Cell 3-4"/>
            <p:cNvSpPr/>
            <p:nvPr/>
          </p:nvSpPr>
          <p:spPr>
            <a:xfrm>
              <a:off x="9404375" y="349758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3" name="Lane 4"/>
            <p:cNvSpPr/>
            <p:nvPr/>
          </p:nvSpPr>
          <p:spPr>
            <a:xfrm>
              <a:off x="548640" y="4331970"/>
              <a:ext cx="1783080" cy="9258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Workstream 4</a:t>
              </a:r>
              <a:endParaRPr lang="en-US" sz="1200" dirty="0"/>
            </a:p>
          </p:txBody>
        </p:sp>
        <p:sp>
          <p:nvSpPr>
            <p:cNvPr id="24" name="Cell 4-1"/>
            <p:cNvSpPr/>
            <p:nvPr/>
          </p:nvSpPr>
          <p:spPr>
            <a:xfrm>
              <a:off x="2523744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5" name="Cell 4-2"/>
            <p:cNvSpPr/>
            <p:nvPr/>
          </p:nvSpPr>
          <p:spPr>
            <a:xfrm>
              <a:off x="4817288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6" name="Cell 4-3"/>
            <p:cNvSpPr/>
            <p:nvPr/>
          </p:nvSpPr>
          <p:spPr>
            <a:xfrm>
              <a:off x="7110832" y="4423410"/>
              <a:ext cx="2183816" cy="74295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  <p:sp>
          <p:nvSpPr>
            <p:cNvPr id="27" name="Cell 4-4"/>
            <p:cNvSpPr/>
            <p:nvPr/>
          </p:nvSpPr>
          <p:spPr>
            <a:xfrm>
              <a:off x="9404375" y="4423410"/>
              <a:ext cx="2183816" cy="7429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45720" tIns="45720" rIns="45720" bIns="4572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Deliverable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V-TIM-03  ·  Gantt chart</a:t>
            </a:r>
            <a:endParaRPr lang="en-US" sz="1000" dirty="0"/>
          </a:p>
        </p:txBody>
      </p:sp>
      <p:grpSp>
        <p:nvGrpSpPr>
          <p:cNvPr id="5" name="V-TI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graphicFrame>
          <p:nvGraphicFramePr>
            <p:cNvPr id="3" name="Chart" descr=""/>
            <p:cNvGraphicFramePr/>
            <p:nvPr/>
          </p:nvGraphicFramePr>
          <p:xfrm>
            <a:off x="548640" y="1097280"/>
            <a:ext cx="11094415" cy="3840480"/>
          </p:xfrm>
          <a:graphic>
            <a:graphicData uri="http://schemas.openxmlformats.org/drawingml/2006/chart">
              <c:chart xmlns:c="http://schemas.openxmlformats.org/drawingml/2006/chart" r:id="rId1"/>
            </a:graphicData>
          </a:graphic>
        </p:graphicFrame>
        <p:sp>
          <p:nvSpPr>
            <p:cNvPr id="4" name="Note"/>
            <p:cNvSpPr/>
            <p:nvPr/>
          </p:nvSpPr>
          <p:spPr>
            <a:xfrm>
              <a:off x="548640" y="4983480"/>
              <a:ext cx="1109441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 unit: weeks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V-TIM-04  ·  Three horizons</a:t>
            </a:r>
            <a:endParaRPr lang="en-US" sz="1000" dirty="0"/>
          </a:p>
        </p:txBody>
      </p:sp>
      <p:grpSp>
        <p:nvGrpSpPr>
          <p:cNvPr id="16" name="V-TIM-04"/>
          <p:cNvGrpSpPr/>
          <p:nvPr/>
        </p:nvGrpSpPr>
        <p:grpSpPr>
          <a:xfrm>
            <a:off x="109728" y="1097280"/>
            <a:ext cx="11944807" cy="4142232"/>
            <a:chOff x="109728" y="1097280"/>
            <a:chExt cx="11944807" cy="4142232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60120" y="3067396"/>
              <a:ext cx="5042916" cy="1641764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Horizon 1"/>
            <p:cNvSpPr/>
            <p:nvPr/>
          </p:nvSpPr>
          <p:spPr>
            <a:xfrm>
              <a:off x="1143000" y="3204556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Horizon 1</a:t>
              </a:r>
              <a:endParaRPr lang="en-US" sz="1200" dirty="0"/>
            </a:p>
          </p:txBody>
        </p:sp>
        <p:sp>
          <p:nvSpPr>
            <p:cNvPr id="5" name="Horizon 1 text"/>
            <p:cNvSpPr/>
            <p:nvPr/>
          </p:nvSpPr>
          <p:spPr>
            <a:xfrm>
              <a:off x="1143000" y="3570316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6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985870" y="2082338"/>
              <a:ext cx="5042916" cy="1641764"/>
            </a:xfrm>
            <a:prstGeom prst="rect">
              <a:avLst/>
            </a:prstGeom>
            <a:solidFill>
              <a:schemeClr val="accent3"/>
            </a:solidFill>
            <a:ln/>
          </p:spPr>
        </p:sp>
        <p:sp>
          <p:nvSpPr>
            <p:cNvPr id="7" name="Horizon 2"/>
            <p:cNvSpPr/>
            <p:nvPr/>
          </p:nvSpPr>
          <p:spPr>
            <a:xfrm>
              <a:off x="4168750" y="2219498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2</a:t>
              </a:r>
              <a:endParaRPr lang="en-US" sz="1200" dirty="0"/>
            </a:p>
          </p:txBody>
        </p:sp>
        <p:sp>
          <p:nvSpPr>
            <p:cNvPr id="8" name="Horizon 2 text"/>
            <p:cNvSpPr/>
            <p:nvPr/>
          </p:nvSpPr>
          <p:spPr>
            <a:xfrm>
              <a:off x="4168750" y="2585258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011619" y="1097280"/>
              <a:ext cx="5042916" cy="1641764"/>
            </a:xfrm>
            <a:prstGeom prst="rect">
              <a:avLst/>
            </a:prstGeom>
            <a:solidFill>
              <a:schemeClr val="accent5"/>
            </a:solidFill>
            <a:ln/>
          </p:spPr>
        </p:sp>
        <p:sp>
          <p:nvSpPr>
            <p:cNvPr id="10" name="Horizon 3"/>
            <p:cNvSpPr/>
            <p:nvPr/>
          </p:nvSpPr>
          <p:spPr>
            <a:xfrm>
              <a:off x="7194499" y="1234440"/>
              <a:ext cx="4677156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Horizon 3</a:t>
              </a:r>
              <a:endParaRPr lang="en-US" sz="1200" dirty="0"/>
            </a:p>
          </p:txBody>
        </p:sp>
        <p:sp>
          <p:nvSpPr>
            <p:cNvPr id="11" name="Horizon 3 text"/>
            <p:cNvSpPr/>
            <p:nvPr/>
          </p:nvSpPr>
          <p:spPr>
            <a:xfrm>
              <a:off x="7194499" y="1600200"/>
              <a:ext cx="4677156" cy="10016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horizon covers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4892040"/>
              <a:ext cx="10820095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3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22960" y="1097280"/>
              <a:ext cx="91" cy="379476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4" name="X axis"/>
            <p:cNvSpPr/>
            <p:nvPr/>
          </p:nvSpPr>
          <p:spPr>
            <a:xfrm>
              <a:off x="9357055" y="4965192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Time</a:t>
              </a:r>
              <a:endParaRPr lang="en-US" sz="1000" dirty="0"/>
            </a:p>
          </p:txBody>
        </p:sp>
        <p:sp>
          <p:nvSpPr>
            <p:cNvPr id="15" name="Y axis"/>
            <p:cNvSpPr/>
            <p:nvPr/>
          </p:nvSpPr>
          <p:spPr>
            <a:xfrm rot="16200000">
              <a:off x="109728" y="1508760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Value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V-TIM-05  ·  Now, next, later</a:t>
            </a:r>
            <a:endParaRPr lang="en-US" sz="1000" dirty="0"/>
          </a:p>
        </p:txBody>
      </p:sp>
      <p:grpSp>
        <p:nvGrpSpPr>
          <p:cNvPr id="12" name="V-TI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Column 1 heading"/>
            <p:cNvSpPr/>
            <p:nvPr/>
          </p:nvSpPr>
          <p:spPr>
            <a:xfrm>
              <a:off x="548640" y="1097280"/>
              <a:ext cx="3545738" cy="5486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Now</a:t>
              </a:r>
              <a:endParaRPr lang="en-US" sz="16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Column 1 items"/>
            <p:cNvSpPr/>
            <p:nvPr/>
          </p:nvSpPr>
          <p:spPr>
            <a:xfrm>
              <a:off x="731520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6" name="Column 2 heading"/>
            <p:cNvSpPr/>
            <p:nvPr/>
          </p:nvSpPr>
          <p:spPr>
            <a:xfrm>
              <a:off x="4322978" y="1097280"/>
              <a:ext cx="3545738" cy="548640"/>
            </a:xfrm>
            <a:prstGeom prst="rect">
              <a:avLst/>
            </a:prstGeom>
            <a:solidFill>
              <a:schemeClr val="accent3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Next</a:t>
              </a:r>
              <a:endParaRPr lang="en-US" sz="16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22978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8" name="Column 2 items"/>
            <p:cNvSpPr/>
            <p:nvPr/>
          </p:nvSpPr>
          <p:spPr>
            <a:xfrm>
              <a:off x="4505858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  <p:sp>
          <p:nvSpPr>
            <p:cNvPr id="9" name="Column 3 heading"/>
            <p:cNvSpPr/>
            <p:nvPr/>
          </p:nvSpPr>
          <p:spPr>
            <a:xfrm>
              <a:off x="8097317" y="1097280"/>
              <a:ext cx="3545738" cy="548640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6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Later</a:t>
              </a:r>
              <a:endParaRPr lang="en-US" sz="16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97317" y="1645920"/>
              <a:ext cx="3545738" cy="361188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Column 3 items"/>
            <p:cNvSpPr/>
            <p:nvPr/>
          </p:nvSpPr>
          <p:spPr>
            <a:xfrm>
              <a:off x="8280197" y="1828800"/>
              <a:ext cx="3179978" cy="3246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  <a:p>
              <a:pPr algn="l" marL="165100" indent="-1651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Item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V-STR-01  ·  Organisation chart</a:t>
            </a:r>
            <a:endParaRPr lang="en-US" sz="1000" dirty="0"/>
          </a:p>
        </p:txBody>
      </p:sp>
      <p:grpSp>
        <p:nvGrpSpPr>
          <p:cNvPr id="38" name="V-STR-01"/>
          <p:cNvGrpSpPr/>
          <p:nvPr/>
        </p:nvGrpSpPr>
        <p:grpSpPr>
          <a:xfrm>
            <a:off x="548640" y="1097280"/>
            <a:ext cx="11094415" cy="3749040"/>
            <a:chOff x="548640" y="1097280"/>
            <a:chExt cx="11094415" cy="3749040"/>
          </a:xfrm>
        </p:grpSpPr>
        <p:sp>
          <p:nvSpPr>
            <p:cNvPr id="3" name="Head"/>
            <p:cNvSpPr/>
            <p:nvPr/>
          </p:nvSpPr>
          <p:spPr>
            <a:xfrm>
              <a:off x="4907128" y="1097280"/>
              <a:ext cx="2377440" cy="68580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1783080"/>
              <a:ext cx="91" cy="3200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8526551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Unit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32572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7" name="Unit 1"/>
            <p:cNvSpPr/>
            <p:nvPr/>
          </p:nvSpPr>
          <p:spPr>
            <a:xfrm>
              <a:off x="548640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8" name="Unit 1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9" name="Unit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0" name="Unit 1.1"/>
            <p:cNvSpPr/>
            <p:nvPr/>
          </p:nvSpPr>
          <p:spPr>
            <a:xfrm>
              <a:off x="914400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1" name="Unit 1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2" name="Unit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31520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3" name="Unit 1.2"/>
            <p:cNvSpPr/>
            <p:nvPr/>
          </p:nvSpPr>
          <p:spPr>
            <a:xfrm>
              <a:off x="914400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4" name="Unit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674756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5" name="Unit 2"/>
            <p:cNvSpPr/>
            <p:nvPr/>
          </p:nvSpPr>
          <p:spPr>
            <a:xfrm>
              <a:off x="3390824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16" name="Unit 2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7" name="Unit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8" name="Unit 2.1"/>
            <p:cNvSpPr/>
            <p:nvPr/>
          </p:nvSpPr>
          <p:spPr>
            <a:xfrm>
              <a:off x="3756584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19" name="Unit 2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0" name="Unit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73704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1" name="Unit 2.2"/>
            <p:cNvSpPr/>
            <p:nvPr/>
          </p:nvSpPr>
          <p:spPr>
            <a:xfrm>
              <a:off x="3756584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2" name="Unit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516940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23" name="Unit 3"/>
            <p:cNvSpPr/>
            <p:nvPr/>
          </p:nvSpPr>
          <p:spPr>
            <a:xfrm>
              <a:off x="6233008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24" name="Unit 3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5" name="Unit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6" name="Unit 3.1"/>
            <p:cNvSpPr/>
            <p:nvPr/>
          </p:nvSpPr>
          <p:spPr>
            <a:xfrm>
              <a:off x="6598768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27" name="Unit 3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8" name="Unit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415888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29" name="Unit 3.2"/>
            <p:cNvSpPr/>
            <p:nvPr/>
          </p:nvSpPr>
          <p:spPr>
            <a:xfrm>
              <a:off x="6598768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0" name="Unit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359123" y="2103120"/>
              <a:ext cx="91" cy="274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31" name="Unit 4"/>
            <p:cNvSpPr/>
            <p:nvPr/>
          </p:nvSpPr>
          <p:spPr>
            <a:xfrm>
              <a:off x="9075191" y="2377440"/>
              <a:ext cx="2567864" cy="68580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2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200" dirty="0"/>
            </a:p>
          </p:txBody>
        </p:sp>
        <p:sp>
          <p:nvSpPr>
            <p:cNvPr id="32" name="Unit 4.1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59436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3" name="Unit 4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65760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4" name="Unit 4.1"/>
            <p:cNvSpPr/>
            <p:nvPr/>
          </p:nvSpPr>
          <p:spPr>
            <a:xfrm>
              <a:off x="9440951" y="333756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  <p:sp>
          <p:nvSpPr>
            <p:cNvPr id="35" name="Unit 4.2 mark stem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3063240"/>
              <a:ext cx="91" cy="1463040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6" name="Unit 4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258071" y="4526280"/>
              <a:ext cx="18288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37" name="Unit 4.2"/>
            <p:cNvSpPr/>
            <p:nvPr/>
          </p:nvSpPr>
          <p:spPr>
            <a:xfrm>
              <a:off x="9440951" y="4206240"/>
              <a:ext cx="2202104" cy="64008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Name</a:t>
              </a:r>
              <a:endParaRPr lang="en-US" sz="1000" dirty="0"/>
            </a:p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V-STR-02  ·  Logic tree</a:t>
            </a:r>
            <a:endParaRPr lang="en-US" sz="1000" dirty="0"/>
          </a:p>
        </p:txBody>
      </p:sp>
      <p:grpSp>
        <p:nvGrpSpPr>
          <p:cNvPr id="22" name="V-STR-02"/>
          <p:cNvGrpSpPr/>
          <p:nvPr/>
        </p:nvGrpSpPr>
        <p:grpSpPr>
          <a:xfrm>
            <a:off x="548640" y="1197102"/>
            <a:ext cx="10058400" cy="3960876"/>
            <a:chOff x="548640" y="1197102"/>
            <a:chExt cx="10058400" cy="3960876"/>
          </a:xfrm>
        </p:grpSpPr>
        <p:sp>
          <p:nvSpPr>
            <p:cNvPr id="3" name="Root"/>
            <p:cNvSpPr/>
            <p:nvPr/>
          </p:nvSpPr>
          <p:spPr>
            <a:xfrm>
              <a:off x="548640" y="2628900"/>
              <a:ext cx="219456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Question or objective</a:t>
              </a:r>
              <a:endParaRPr lang="en-US" sz="1200" dirty="0"/>
            </a:p>
          </p:txBody>
        </p:sp>
        <p:sp>
          <p:nvSpPr>
            <p:cNvPr id="4" name="Branch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43200" y="179070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5" name="Branch 1"/>
            <p:cNvSpPr/>
            <p:nvPr/>
          </p:nvSpPr>
          <p:spPr>
            <a:xfrm>
              <a:off x="3474720" y="147066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6" name="Leaf 1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144399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Leaf 1.1"/>
            <p:cNvSpPr/>
            <p:nvPr/>
          </p:nvSpPr>
          <p:spPr>
            <a:xfrm>
              <a:off x="6949440" y="11971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8" name="Leaf 1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179070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Leaf 1.2"/>
            <p:cNvSpPr/>
            <p:nvPr/>
          </p:nvSpPr>
          <p:spPr>
            <a:xfrm>
              <a:off x="6949440" y="189052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0" name="Branch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9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1" name="Branch 2"/>
            <p:cNvSpPr/>
            <p:nvPr/>
          </p:nvSpPr>
          <p:spPr>
            <a:xfrm>
              <a:off x="3474720" y="285750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2" name="Leaf 2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283083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3" name="Leaf 2.1"/>
            <p:cNvSpPr/>
            <p:nvPr/>
          </p:nvSpPr>
          <p:spPr>
            <a:xfrm>
              <a:off x="6949440" y="258394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4" name="Leaf 2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317754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5" name="Leaf 2.2"/>
            <p:cNvSpPr/>
            <p:nvPr/>
          </p:nvSpPr>
          <p:spPr>
            <a:xfrm>
              <a:off x="6949440" y="327736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16" name="Branch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43200" y="3177540"/>
              <a:ext cx="731520" cy="13868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7" name="Branch 3"/>
            <p:cNvSpPr/>
            <p:nvPr/>
          </p:nvSpPr>
          <p:spPr>
            <a:xfrm>
              <a:off x="3474720" y="4244340"/>
              <a:ext cx="2743200" cy="64008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Driver</a:t>
              </a:r>
              <a:endParaRPr lang="en-US" sz="1200" dirty="0"/>
            </a:p>
          </p:txBody>
        </p:sp>
        <p:sp>
          <p:nvSpPr>
            <p:cNvPr id="18" name="Leaf 3.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217920" y="421767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19" name="Leaf 3.1"/>
            <p:cNvSpPr/>
            <p:nvPr/>
          </p:nvSpPr>
          <p:spPr>
            <a:xfrm>
              <a:off x="6949440" y="397078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  <p:sp>
          <p:nvSpPr>
            <p:cNvPr id="20" name="Leaf 3.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217920" y="4564380"/>
              <a:ext cx="731520" cy="34671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21" name="Leaf 3.2"/>
            <p:cNvSpPr/>
            <p:nvPr/>
          </p:nvSpPr>
          <p:spPr>
            <a:xfrm>
              <a:off x="6949440" y="4664202"/>
              <a:ext cx="3657600" cy="4937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Sub-driver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V-STR-03  ·  Pyramid</a:t>
            </a:r>
            <a:endParaRPr lang="en-US" sz="1000" dirty="0"/>
          </a:p>
        </p:txBody>
      </p:sp>
      <p:grpSp>
        <p:nvGrpSpPr>
          <p:cNvPr id="15" name="V-STR-03"/>
          <p:cNvGrpSpPr/>
          <p:nvPr/>
        </p:nvGrpSpPr>
        <p:grpSpPr>
          <a:xfrm>
            <a:off x="548640" y="1124712"/>
            <a:ext cx="7223760" cy="4105656"/>
            <a:chOff x="548640" y="1124712"/>
            <a:chExt cx="7223760" cy="4105656"/>
          </a:xfrm>
        </p:grpSpPr>
        <p:sp>
          <p:nvSpPr>
            <p:cNvPr id="3" name="Level 1"/>
            <p:cNvSpPr/>
            <p:nvPr/>
          </p:nvSpPr>
          <p:spPr>
            <a:xfrm>
              <a:off x="1903095" y="1124712"/>
              <a:ext cx="902970" cy="985266"/>
            </a:xfrm>
            <a:prstGeom prst="triangle">
              <a:avLst/>
            </a:prstGeom>
            <a:solidFill>
              <a:schemeClr val="accent1"/>
            </a:solidFill>
            <a:ln/>
          </p:spPr>
          <p:txBody>
            <a:bodyPr wrap="square" lIns="36576" tIns="36576" rIns="36576" bIns="36576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Top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161734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5" name="Level 1 text"/>
            <p:cNvSpPr/>
            <p:nvPr/>
          </p:nvSpPr>
          <p:spPr>
            <a:xfrm>
              <a:off x="4800600" y="114300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6" name="Level 2"/>
            <p:cNvSpPr/>
            <p:nvPr/>
          </p:nvSpPr>
          <p:spPr>
            <a:xfrm>
              <a:off x="1451610" y="2164842"/>
              <a:ext cx="1805940" cy="985266"/>
            </a:xfrm>
            <a:prstGeom prst="trapezoid">
              <a:avLst/>
            </a:prstGeom>
            <a:solidFill>
              <a:schemeClr val="accent2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Level 2</a:t>
              </a:r>
              <a:endParaRPr lang="en-US" sz="1200" dirty="0"/>
            </a:p>
          </p:txBody>
        </p:sp>
        <p:sp>
          <p:nvSpPr>
            <p:cNvPr id="7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265747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8" name="Level 2 text"/>
            <p:cNvSpPr/>
            <p:nvPr/>
          </p:nvSpPr>
          <p:spPr>
            <a:xfrm>
              <a:off x="4800600" y="218313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9" name="Level 3"/>
            <p:cNvSpPr/>
            <p:nvPr/>
          </p:nvSpPr>
          <p:spPr>
            <a:xfrm>
              <a:off x="1000125" y="3204972"/>
              <a:ext cx="2708910" cy="985266"/>
            </a:xfrm>
            <a:prstGeom prst="trapezoid">
              <a:avLst/>
            </a:prstGeom>
            <a:solidFill>
              <a:schemeClr val="accent3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3</a:t>
              </a:r>
              <a:endParaRPr lang="en-US" sz="1200" dirty="0"/>
            </a:p>
          </p:txBody>
        </p:sp>
        <p:sp>
          <p:nvSpPr>
            <p:cNvPr id="10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369760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1" name="Level 3 text"/>
            <p:cNvSpPr/>
            <p:nvPr/>
          </p:nvSpPr>
          <p:spPr>
            <a:xfrm>
              <a:off x="4800600" y="322326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  <p:sp>
          <p:nvSpPr>
            <p:cNvPr id="12" name="Level 4"/>
            <p:cNvSpPr/>
            <p:nvPr/>
          </p:nvSpPr>
          <p:spPr>
            <a:xfrm>
              <a:off x="548640" y="4245102"/>
              <a:ext cx="3611880" cy="985266"/>
            </a:xfrm>
            <a:prstGeom prst="trapezoid">
              <a:avLst/>
            </a:prstGeom>
            <a:solidFill>
              <a:schemeClr val="accent5"/>
            </a:solidFill>
            <a:ln/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Level 4</a:t>
              </a:r>
              <a:endParaRPr lang="en-US" sz="1200" dirty="0"/>
            </a:p>
          </p:txBody>
        </p:sp>
        <p:sp>
          <p:nvSpPr>
            <p:cNvPr id="13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43400" y="4737735"/>
              <a:ext cx="365760" cy="91"/>
            </a:xfrm>
            <a:prstGeom prst="lin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prstDash val="solid"/>
            </a:ln>
          </p:spPr>
        </p:sp>
        <p:sp>
          <p:nvSpPr>
            <p:cNvPr id="14" name="Level 4 text"/>
            <p:cNvSpPr/>
            <p:nvPr/>
          </p:nvSpPr>
          <p:spPr>
            <a:xfrm>
              <a:off x="4800600" y="4263390"/>
              <a:ext cx="2971800" cy="94869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this level means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V-STR-04  ·  Layered architecture</a:t>
            </a:r>
            <a:endParaRPr lang="en-US" sz="1000" dirty="0"/>
          </a:p>
        </p:txBody>
      </p:sp>
      <p:grpSp>
        <p:nvGrpSpPr>
          <p:cNvPr id="27" name="V-STR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ayer 1"/>
            <p:cNvSpPr/>
            <p:nvPr/>
          </p:nvSpPr>
          <p:spPr>
            <a:xfrm>
              <a:off x="548640" y="1097280"/>
              <a:ext cx="1828800" cy="97155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1</a:t>
              </a:r>
              <a:endParaRPr lang="en-US" sz="1200" dirty="0"/>
            </a:p>
          </p:txBody>
        </p:sp>
        <p:sp>
          <p:nvSpPr>
            <p:cNvPr id="4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109728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5" name="Block 1.1"/>
            <p:cNvSpPr/>
            <p:nvPr/>
          </p:nvSpPr>
          <p:spPr>
            <a:xfrm>
              <a:off x="2514600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6" name="Block 1.2"/>
            <p:cNvSpPr/>
            <p:nvPr/>
          </p:nvSpPr>
          <p:spPr>
            <a:xfrm>
              <a:off x="4785284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7" name="Block 1.3"/>
            <p:cNvSpPr/>
            <p:nvPr/>
          </p:nvSpPr>
          <p:spPr>
            <a:xfrm>
              <a:off x="7055968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8" name="Block 1.4"/>
            <p:cNvSpPr/>
            <p:nvPr/>
          </p:nvSpPr>
          <p:spPr>
            <a:xfrm>
              <a:off x="9326651" y="120700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9" name="Layer 2"/>
            <p:cNvSpPr/>
            <p:nvPr/>
          </p:nvSpPr>
          <p:spPr>
            <a:xfrm>
              <a:off x="548640" y="216027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2</a:t>
              </a:r>
              <a:endParaRPr lang="en-US" sz="1200" dirty="0"/>
            </a:p>
          </p:txBody>
        </p:sp>
        <p:sp>
          <p:nvSpPr>
            <p:cNvPr id="10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216027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1" name="Block 2.1"/>
            <p:cNvSpPr/>
            <p:nvPr/>
          </p:nvSpPr>
          <p:spPr>
            <a:xfrm>
              <a:off x="2514600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2" name="Block 2.2"/>
            <p:cNvSpPr/>
            <p:nvPr/>
          </p:nvSpPr>
          <p:spPr>
            <a:xfrm>
              <a:off x="4785284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3" name="Block 2.3"/>
            <p:cNvSpPr/>
            <p:nvPr/>
          </p:nvSpPr>
          <p:spPr>
            <a:xfrm>
              <a:off x="7055968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4" name="Block 2.4"/>
            <p:cNvSpPr/>
            <p:nvPr/>
          </p:nvSpPr>
          <p:spPr>
            <a:xfrm>
              <a:off x="9326651" y="226999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5" name="Layer 3"/>
            <p:cNvSpPr/>
            <p:nvPr/>
          </p:nvSpPr>
          <p:spPr>
            <a:xfrm>
              <a:off x="548640" y="322326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3</a:t>
              </a:r>
              <a:endParaRPr lang="en-US" sz="1200" dirty="0"/>
            </a:p>
          </p:txBody>
        </p:sp>
        <p:sp>
          <p:nvSpPr>
            <p:cNvPr id="16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322326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7" name="Block 3.1"/>
            <p:cNvSpPr/>
            <p:nvPr/>
          </p:nvSpPr>
          <p:spPr>
            <a:xfrm>
              <a:off x="2514600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8" name="Block 3.2"/>
            <p:cNvSpPr/>
            <p:nvPr/>
          </p:nvSpPr>
          <p:spPr>
            <a:xfrm>
              <a:off x="4785284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19" name="Block 3.3"/>
            <p:cNvSpPr/>
            <p:nvPr/>
          </p:nvSpPr>
          <p:spPr>
            <a:xfrm>
              <a:off x="7055968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0" name="Block 3.4"/>
            <p:cNvSpPr/>
            <p:nvPr/>
          </p:nvSpPr>
          <p:spPr>
            <a:xfrm>
              <a:off x="9326651" y="333298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1" name="Layer 4"/>
            <p:cNvSpPr/>
            <p:nvPr/>
          </p:nvSpPr>
          <p:spPr>
            <a:xfrm>
              <a:off x="548640" y="4286250"/>
              <a:ext cx="1828800" cy="97155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109728" tIns="109728" rIns="109728" bIns="109728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Layer 4</a:t>
              </a:r>
              <a:endParaRPr lang="en-US" sz="1200" dirty="0"/>
            </a:p>
          </p:txBody>
        </p:sp>
        <p:sp>
          <p:nvSpPr>
            <p:cNvPr id="2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77440" y="4286250"/>
              <a:ext cx="9265615" cy="97155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3" name="Block 4.1"/>
            <p:cNvSpPr/>
            <p:nvPr/>
          </p:nvSpPr>
          <p:spPr>
            <a:xfrm>
              <a:off x="2514600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4" name="Block 4.2"/>
            <p:cNvSpPr/>
            <p:nvPr/>
          </p:nvSpPr>
          <p:spPr>
            <a:xfrm>
              <a:off x="4785284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5" name="Block 4.3"/>
            <p:cNvSpPr/>
            <p:nvPr/>
          </p:nvSpPr>
          <p:spPr>
            <a:xfrm>
              <a:off x="7055968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  <p:sp>
          <p:nvSpPr>
            <p:cNvPr id="26" name="Block 4.4"/>
            <p:cNvSpPr/>
            <p:nvPr/>
          </p:nvSpPr>
          <p:spPr>
            <a:xfrm>
              <a:off x="9326651" y="4395978"/>
              <a:ext cx="2133524" cy="75209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>
                  <a:lumMod val="85000"/>
                </a:schemeClr>
              </a:solidFill>
            </a:ln>
          </p:spPr>
          <p:txBody>
            <a:bodyPr wrap="square" lIns="54864" tIns="54864" rIns="54864" bIns="54864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Component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V-STR-05  ·  Hub and spoke</a:t>
            </a:r>
            <a:endParaRPr lang="en-US" sz="1000" dirty="0"/>
          </a:p>
        </p:txBody>
      </p:sp>
      <p:grpSp>
        <p:nvGrpSpPr>
          <p:cNvPr id="16" name="V-STR-05"/>
          <p:cNvGrpSpPr/>
          <p:nvPr/>
        </p:nvGrpSpPr>
        <p:grpSpPr>
          <a:xfrm>
            <a:off x="2258114" y="1051560"/>
            <a:ext cx="3804812" cy="4251960"/>
            <a:chOff x="2258114" y="1051560"/>
            <a:chExt cx="3804812" cy="4251960"/>
          </a:xfrm>
        </p:grpSpPr>
        <p:sp>
          <p:nvSpPr>
            <p:cNvPr id="3" name="Node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150876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4" name="Node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4160520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5" name="Node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6" name="Node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160520" y="3177540"/>
              <a:ext cx="91" cy="166878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7" name="Node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2715314" y="317754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8" name="Node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715314" y="2343150"/>
              <a:ext cx="1445206" cy="834390"/>
            </a:xfrm>
            <a:prstGeom prst="line">
              <a:avLst/>
            </a:prstGeom>
            <a:noFill/>
            <a:ln w="9525">
              <a:solidFill>
                <a:schemeClr val="accent4"/>
              </a:solidFill>
              <a:prstDash val="solid"/>
            </a:ln>
          </p:spPr>
        </p:sp>
        <p:sp>
          <p:nvSpPr>
            <p:cNvPr id="9" name="Centre"/>
            <p:cNvSpPr/>
            <p:nvPr/>
          </p:nvSpPr>
          <p:spPr>
            <a:xfrm>
              <a:off x="3474720" y="2491740"/>
              <a:ext cx="1371600" cy="1371600"/>
            </a:xfrm>
            <a:prstGeom prst="ellips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0" name="Node 1"/>
            <p:cNvSpPr/>
            <p:nvPr/>
          </p:nvSpPr>
          <p:spPr>
            <a:xfrm>
              <a:off x="3703320" y="105156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1" name="Node 2"/>
            <p:cNvSpPr/>
            <p:nvPr/>
          </p:nvSpPr>
          <p:spPr>
            <a:xfrm>
              <a:off x="5148526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2" name="Node 3"/>
            <p:cNvSpPr/>
            <p:nvPr/>
          </p:nvSpPr>
          <p:spPr>
            <a:xfrm>
              <a:off x="5148526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3" name="Node 4"/>
            <p:cNvSpPr/>
            <p:nvPr/>
          </p:nvSpPr>
          <p:spPr>
            <a:xfrm>
              <a:off x="3703320" y="438912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4" name="Node 5"/>
            <p:cNvSpPr/>
            <p:nvPr/>
          </p:nvSpPr>
          <p:spPr>
            <a:xfrm>
              <a:off x="2258114" y="355473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  <p:sp>
          <p:nvSpPr>
            <p:cNvPr id="15" name="Node 6"/>
            <p:cNvSpPr/>
            <p:nvPr/>
          </p:nvSpPr>
          <p:spPr>
            <a:xfrm>
              <a:off x="2258114" y="1885950"/>
              <a:ext cx="914400" cy="91440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txBody>
            <a:bodyPr wrap="square" lIns="36576" tIns="36576" rIns="36576" bIns="36576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Node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V-STR-06  ·  Venn diagram</a:t>
            </a:r>
            <a:endParaRPr lang="en-US" sz="1000" dirty="0"/>
          </a:p>
        </p:txBody>
      </p:sp>
      <p:grpSp>
        <p:nvGrpSpPr>
          <p:cNvPr id="10" name="V-STR-06"/>
          <p:cNvGrpSpPr/>
          <p:nvPr/>
        </p:nvGrpSpPr>
        <p:grpSpPr>
          <a:xfrm>
            <a:off x="2126607" y="1320284"/>
            <a:ext cx="4067826" cy="3817693"/>
            <a:chOff x="2126607" y="1320284"/>
            <a:chExt cx="4067826" cy="3817693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148493" y="1320284"/>
              <a:ext cx="2579522" cy="2579522"/>
            </a:xfrm>
            <a:prstGeom prst="ellipse">
              <a:avLst/>
            </a:prstGeom>
            <a:solidFill>
              <a:schemeClr val="accent3">
                <a:alpha val="55000"/>
              </a:schemeClr>
            </a:solidFill>
            <a:ln/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93025" y="1320284"/>
              <a:ext cx="2579522" cy="2579522"/>
            </a:xfrm>
            <a:prstGeom prst="ellipse">
              <a:avLst/>
            </a:prstGeom>
            <a:solidFill>
              <a:schemeClr val="accent4">
                <a:alpha val="55000"/>
              </a:schemeClr>
            </a:solidFill>
            <a:ln/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70759" y="2558455"/>
              <a:ext cx="2579522" cy="2579522"/>
            </a:xfrm>
            <a:prstGeom prst="ellipse">
              <a:avLst/>
            </a:prstGeom>
            <a:solidFill>
              <a:schemeClr val="accent5">
                <a:alpha val="55000"/>
              </a:schemeClr>
            </a:solidFill>
            <a:ln/>
          </p:spPr>
        </p:sp>
        <p:sp>
          <p:nvSpPr>
            <p:cNvPr id="6" name="Set 1"/>
            <p:cNvSpPr/>
            <p:nvPr/>
          </p:nvSpPr>
          <p:spPr>
            <a:xfrm>
              <a:off x="2126607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1</a:t>
              </a:r>
              <a:endParaRPr lang="en-US" sz="1200" dirty="0"/>
            </a:p>
          </p:txBody>
        </p:sp>
        <p:sp>
          <p:nvSpPr>
            <p:cNvPr id="7" name="Set 2"/>
            <p:cNvSpPr/>
            <p:nvPr/>
          </p:nvSpPr>
          <p:spPr>
            <a:xfrm>
              <a:off x="4365633" y="2069323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2</a:t>
              </a:r>
              <a:endParaRPr lang="en-US" sz="1200" dirty="0"/>
            </a:p>
          </p:txBody>
        </p:sp>
        <p:sp>
          <p:nvSpPr>
            <p:cNvPr id="8" name="Set 3"/>
            <p:cNvSpPr/>
            <p:nvPr/>
          </p:nvSpPr>
          <p:spPr>
            <a:xfrm>
              <a:off x="3246120" y="3988488"/>
              <a:ext cx="18288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Set 3</a:t>
              </a:r>
              <a:endParaRPr lang="en-US" sz="1200" dirty="0"/>
            </a:p>
          </p:txBody>
        </p:sp>
        <p:sp>
          <p:nvSpPr>
            <p:cNvPr id="9" name="Centre"/>
            <p:cNvSpPr/>
            <p:nvPr/>
          </p:nvSpPr>
          <p:spPr>
            <a:xfrm>
              <a:off x="3474720" y="2994660"/>
              <a:ext cx="1371600" cy="411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0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Overlap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V-STR-07  ·  Fishbone</a:t>
            </a:r>
            <a:endParaRPr lang="en-US" sz="1000" dirty="0"/>
          </a:p>
        </p:txBody>
      </p:sp>
      <p:grpSp>
        <p:nvGrpSpPr>
          <p:cNvPr id="29" name="V-STR-07"/>
          <p:cNvGrpSpPr/>
          <p:nvPr/>
        </p:nvGrpSpPr>
        <p:grpSpPr>
          <a:xfrm>
            <a:off x="365760" y="1097280"/>
            <a:ext cx="11277295" cy="4160520"/>
            <a:chOff x="365760" y="1097280"/>
            <a:chExt cx="1127729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3177540"/>
              <a:ext cx="8991295" cy="91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4" name="Effect"/>
            <p:cNvSpPr/>
            <p:nvPr/>
          </p:nvSpPr>
          <p:spPr>
            <a:xfrm>
              <a:off x="9631375" y="2628900"/>
              <a:ext cx="2011680" cy="109728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91440" tIns="91440" rIns="91440" bIns="9144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Effect or problem</a:t>
              </a:r>
              <a:endParaRPr lang="en-US" sz="1200" dirty="0"/>
            </a:p>
          </p:txBody>
        </p:sp>
        <p:sp>
          <p:nvSpPr>
            <p:cNvPr id="5" name="Category 1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1440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6" name="Category 1"/>
            <p:cNvSpPr/>
            <p:nvPr/>
          </p:nvSpPr>
          <p:spPr>
            <a:xfrm>
              <a:off x="36576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1</a:t>
              </a:r>
              <a:endParaRPr lang="en-US" sz="1000" dirty="0"/>
            </a:p>
          </p:txBody>
        </p:sp>
        <p:sp>
          <p:nvSpPr>
            <p:cNvPr id="7" name="Cause 1.1"/>
            <p:cNvSpPr/>
            <p:nvPr/>
          </p:nvSpPr>
          <p:spPr>
            <a:xfrm>
              <a:off x="1546723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8" name="Cause 1.2"/>
            <p:cNvSpPr/>
            <p:nvPr/>
          </p:nvSpPr>
          <p:spPr>
            <a:xfrm>
              <a:off x="201033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9" name="Category 2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72418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0" name="Category 2"/>
            <p:cNvSpPr/>
            <p:nvPr/>
          </p:nvSpPr>
          <p:spPr>
            <a:xfrm>
              <a:off x="31755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2</a:t>
              </a:r>
              <a:endParaRPr lang="en-US" sz="1000" dirty="0"/>
            </a:p>
          </p:txBody>
        </p:sp>
        <p:sp>
          <p:nvSpPr>
            <p:cNvPr id="11" name="Cause 2.1"/>
            <p:cNvSpPr/>
            <p:nvPr/>
          </p:nvSpPr>
          <p:spPr>
            <a:xfrm>
              <a:off x="435650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2" name="Cause 2.2"/>
            <p:cNvSpPr/>
            <p:nvPr/>
          </p:nvSpPr>
          <p:spPr>
            <a:xfrm>
              <a:off x="482011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3" name="Category 3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960" y="141732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4" name="Category 3"/>
            <p:cNvSpPr/>
            <p:nvPr/>
          </p:nvSpPr>
          <p:spPr>
            <a:xfrm>
              <a:off x="598532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3</a:t>
              </a:r>
              <a:endParaRPr lang="en-US" sz="1000" dirty="0"/>
            </a:p>
          </p:txBody>
        </p:sp>
        <p:sp>
          <p:nvSpPr>
            <p:cNvPr id="15" name="Cause 3.1"/>
            <p:cNvSpPr/>
            <p:nvPr/>
          </p:nvSpPr>
          <p:spPr>
            <a:xfrm>
              <a:off x="7166282" y="189623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6" name="Cause 3.2"/>
            <p:cNvSpPr/>
            <p:nvPr/>
          </p:nvSpPr>
          <p:spPr>
            <a:xfrm>
              <a:off x="7629896" y="242430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17" name="Category 4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91440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18" name="Category 4"/>
            <p:cNvSpPr/>
            <p:nvPr/>
          </p:nvSpPr>
          <p:spPr>
            <a:xfrm>
              <a:off x="36576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4</a:t>
              </a:r>
              <a:endParaRPr lang="en-US" sz="1000" dirty="0"/>
            </a:p>
          </p:txBody>
        </p:sp>
        <p:sp>
          <p:nvSpPr>
            <p:cNvPr id="19" name="Cause 4.1"/>
            <p:cNvSpPr/>
            <p:nvPr/>
          </p:nvSpPr>
          <p:spPr>
            <a:xfrm>
              <a:off x="1546723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0" name="Cause 4.2"/>
            <p:cNvSpPr/>
            <p:nvPr/>
          </p:nvSpPr>
          <p:spPr>
            <a:xfrm>
              <a:off x="201033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1" name="Category 5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372418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2" name="Category 5"/>
            <p:cNvSpPr/>
            <p:nvPr/>
          </p:nvSpPr>
          <p:spPr>
            <a:xfrm>
              <a:off x="317554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5</a:t>
              </a:r>
              <a:endParaRPr lang="en-US" sz="1000" dirty="0"/>
            </a:p>
          </p:txBody>
        </p:sp>
        <p:sp>
          <p:nvSpPr>
            <p:cNvPr id="23" name="Cause 5.1"/>
            <p:cNvSpPr/>
            <p:nvPr/>
          </p:nvSpPr>
          <p:spPr>
            <a:xfrm>
              <a:off x="435650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4" name="Cause 5.2"/>
            <p:cNvSpPr/>
            <p:nvPr/>
          </p:nvSpPr>
          <p:spPr>
            <a:xfrm>
              <a:off x="482011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5" name="Category 6 mark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V="1">
              <a:off x="6533960" y="3177540"/>
              <a:ext cx="1545379" cy="1760220"/>
            </a:xfrm>
            <a:prstGeom prst="line">
              <a:avLst/>
            </a:prstGeom>
            <a:noFill/>
            <a:ln w="15875">
              <a:solidFill>
                <a:schemeClr val="accent3"/>
              </a:solidFill>
              <a:prstDash val="solid"/>
            </a:ln>
          </p:spPr>
        </p:sp>
        <p:sp>
          <p:nvSpPr>
            <p:cNvPr id="26" name="Category 6"/>
            <p:cNvSpPr/>
            <p:nvPr/>
          </p:nvSpPr>
          <p:spPr>
            <a:xfrm>
              <a:off x="5985320" y="49834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Category 6</a:t>
              </a:r>
              <a:endParaRPr lang="en-US" sz="1000" dirty="0"/>
            </a:p>
          </p:txBody>
        </p:sp>
        <p:sp>
          <p:nvSpPr>
            <p:cNvPr id="27" name="Cause 6.1"/>
            <p:cNvSpPr/>
            <p:nvPr/>
          </p:nvSpPr>
          <p:spPr>
            <a:xfrm>
              <a:off x="7166282" y="4184523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  <p:sp>
          <p:nvSpPr>
            <p:cNvPr id="28" name="Cause 6.2"/>
            <p:cNvSpPr/>
            <p:nvPr/>
          </p:nvSpPr>
          <p:spPr>
            <a:xfrm>
              <a:off x="7629896" y="3656457"/>
              <a:ext cx="140489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Cause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V-STR-08  ·  Concentric circles</a:t>
            </a:r>
            <a:endParaRPr lang="en-US" sz="1000" dirty="0"/>
          </a:p>
        </p:txBody>
      </p:sp>
      <p:grpSp>
        <p:nvGrpSpPr>
          <p:cNvPr id="15" name="V-STR-08"/>
          <p:cNvGrpSpPr/>
          <p:nvPr/>
        </p:nvGrpSpPr>
        <p:grpSpPr>
          <a:xfrm>
            <a:off x="548640" y="1097280"/>
            <a:ext cx="7223760" cy="3973068"/>
            <a:chOff x="548640" y="1097280"/>
            <a:chExt cx="7223760" cy="3973068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097280"/>
              <a:ext cx="3973068" cy="3973068"/>
            </a:xfrm>
            <a:prstGeom prst="ellipse">
              <a:avLst/>
            </a:prstGeom>
            <a:solidFill>
              <a:schemeClr val="accent6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4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84331" y="2368662"/>
              <a:ext cx="2701686" cy="2701686"/>
            </a:xfrm>
            <a:prstGeom prst="ellipse">
              <a:avLst/>
            </a:prstGeom>
            <a:solidFill>
              <a:schemeClr val="accent4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5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820022" y="3640044"/>
              <a:ext cx="1430304" cy="1430304"/>
            </a:xfrm>
            <a:prstGeom prst="ellipse">
              <a:avLst/>
            </a:prstGeom>
            <a:solidFill>
              <a:schemeClr val="accent1"/>
            </a:solidFill>
            <a:ln w="19050">
              <a:solidFill>
                <a:schemeClr val="bg1"/>
              </a:solidFill>
              <a:prstDash val="solid"/>
            </a:ln>
          </p:spPr>
        </p:sp>
        <p:sp>
          <p:nvSpPr>
            <p:cNvPr id="6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132588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7" name="Ring 1"/>
            <p:cNvSpPr/>
            <p:nvPr/>
          </p:nvSpPr>
          <p:spPr>
            <a:xfrm>
              <a:off x="4796028" y="141732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Outer ring</a:t>
              </a:r>
              <a:endParaRPr lang="en-US" sz="1200" dirty="0"/>
            </a:p>
          </p:txBody>
        </p:sp>
        <p:sp>
          <p:nvSpPr>
            <p:cNvPr id="8" name="Ring 1 text"/>
            <p:cNvSpPr/>
            <p:nvPr/>
          </p:nvSpPr>
          <p:spPr>
            <a:xfrm>
              <a:off x="4796028" y="178308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9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259080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0" name="Ring 2"/>
            <p:cNvSpPr/>
            <p:nvPr/>
          </p:nvSpPr>
          <p:spPr>
            <a:xfrm>
              <a:off x="4796028" y="268224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Middle ring</a:t>
              </a:r>
              <a:endParaRPr lang="en-US" sz="1200" dirty="0"/>
            </a:p>
          </p:txBody>
        </p:sp>
        <p:sp>
          <p:nvSpPr>
            <p:cNvPr id="11" name="Ring 2 text"/>
            <p:cNvSpPr/>
            <p:nvPr/>
          </p:nvSpPr>
          <p:spPr>
            <a:xfrm>
              <a:off x="4796028" y="304800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  <p:sp>
          <p:nvSpPr>
            <p:cNvPr id="12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796028" y="3855720"/>
              <a:ext cx="365760" cy="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olid"/>
            </a:ln>
          </p:spPr>
        </p:sp>
        <p:sp>
          <p:nvSpPr>
            <p:cNvPr id="13" name="Ring 3"/>
            <p:cNvSpPr/>
            <p:nvPr/>
          </p:nvSpPr>
          <p:spPr>
            <a:xfrm>
              <a:off x="4796028" y="3947160"/>
              <a:ext cx="2976372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Core</a:t>
              </a:r>
              <a:endParaRPr lang="en-US" sz="1200" dirty="0"/>
            </a:p>
          </p:txBody>
        </p:sp>
        <p:sp>
          <p:nvSpPr>
            <p:cNvPr id="14" name="Ring 3 text"/>
            <p:cNvSpPr/>
            <p:nvPr/>
          </p:nvSpPr>
          <p:spPr>
            <a:xfrm>
              <a:off x="4796028" y="4312920"/>
              <a:ext cx="297637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What it contains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V-FRM-01  ·  Business model canvas</a:t>
            </a:r>
            <a:endParaRPr lang="en-US" sz="1000" dirty="0"/>
          </a:p>
        </p:txBody>
      </p:sp>
      <p:grpSp>
        <p:nvGrpSpPr>
          <p:cNvPr id="30" name="V-FRM-01"/>
          <p:cNvGrpSpPr/>
          <p:nvPr/>
        </p:nvGrpSpPr>
        <p:grpSpPr>
          <a:xfrm>
            <a:off x="585216" y="1097280"/>
            <a:ext cx="11021264" cy="4160520"/>
            <a:chOff x="585216" y="1097280"/>
            <a:chExt cx="11021264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4" name="Block 1 heading"/>
            <p:cNvSpPr/>
            <p:nvPr/>
          </p:nvSpPr>
          <p:spPr>
            <a:xfrm>
              <a:off x="722376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partners</a:t>
              </a:r>
              <a:endParaRPr lang="en-US" sz="1200" dirty="0"/>
            </a:p>
          </p:txBody>
        </p:sp>
        <p:sp>
          <p:nvSpPr>
            <p:cNvPr id="5" name="Block 1 text"/>
            <p:cNvSpPr/>
            <p:nvPr/>
          </p:nvSpPr>
          <p:spPr>
            <a:xfrm>
              <a:off x="722376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Block 2 heading"/>
            <p:cNvSpPr/>
            <p:nvPr/>
          </p:nvSpPr>
          <p:spPr>
            <a:xfrm>
              <a:off x="2941259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activities</a:t>
              </a:r>
              <a:endParaRPr lang="en-US" sz="1200" dirty="0"/>
            </a:p>
          </p:txBody>
        </p:sp>
        <p:sp>
          <p:nvSpPr>
            <p:cNvPr id="8" name="Block 2 text"/>
            <p:cNvSpPr/>
            <p:nvPr/>
          </p:nvSpPr>
          <p:spPr>
            <a:xfrm>
              <a:off x="2941259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804099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Block 3 heading"/>
            <p:cNvSpPr/>
            <p:nvPr/>
          </p:nvSpPr>
          <p:spPr>
            <a:xfrm>
              <a:off x="2941259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resources</a:t>
              </a:r>
              <a:endParaRPr lang="en-US" sz="1200" dirty="0"/>
            </a:p>
          </p:txBody>
        </p:sp>
        <p:sp>
          <p:nvSpPr>
            <p:cNvPr id="11" name="Block 3 text"/>
            <p:cNvSpPr/>
            <p:nvPr/>
          </p:nvSpPr>
          <p:spPr>
            <a:xfrm>
              <a:off x="2941259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022982" y="1097280"/>
              <a:ext cx="2145731" cy="277941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13" name="Block 4 heading"/>
            <p:cNvSpPr/>
            <p:nvPr/>
          </p:nvSpPr>
          <p:spPr>
            <a:xfrm>
              <a:off x="5160142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Value propositions</a:t>
              </a:r>
              <a:endParaRPr lang="en-US" sz="1200" dirty="0"/>
            </a:p>
          </p:txBody>
        </p:sp>
        <p:sp>
          <p:nvSpPr>
            <p:cNvPr id="14" name="Block 4 text"/>
            <p:cNvSpPr/>
            <p:nvPr/>
          </p:nvSpPr>
          <p:spPr>
            <a:xfrm>
              <a:off x="5160142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1097280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Block 5 heading"/>
            <p:cNvSpPr/>
            <p:nvPr/>
          </p:nvSpPr>
          <p:spPr>
            <a:xfrm>
              <a:off x="7379025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relationships</a:t>
              </a:r>
              <a:endParaRPr lang="en-US" sz="1200" dirty="0"/>
            </a:p>
          </p:txBody>
        </p:sp>
        <p:sp>
          <p:nvSpPr>
            <p:cNvPr id="17" name="Block 5 text"/>
            <p:cNvSpPr/>
            <p:nvPr/>
          </p:nvSpPr>
          <p:spPr>
            <a:xfrm>
              <a:off x="7379025" y="1572768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241865" y="2523561"/>
              <a:ext cx="2145731" cy="1353129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Block 6 heading"/>
            <p:cNvSpPr/>
            <p:nvPr/>
          </p:nvSpPr>
          <p:spPr>
            <a:xfrm>
              <a:off x="7379025" y="2633289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Channels</a:t>
              </a:r>
              <a:endParaRPr lang="en-US" sz="1200" dirty="0"/>
            </a:p>
          </p:txBody>
        </p:sp>
        <p:sp>
          <p:nvSpPr>
            <p:cNvPr id="20" name="Block 6 text"/>
            <p:cNvSpPr/>
            <p:nvPr/>
          </p:nvSpPr>
          <p:spPr>
            <a:xfrm>
              <a:off x="7379025" y="2999049"/>
              <a:ext cx="1871411" cy="7587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1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460748" y="1097280"/>
              <a:ext cx="2145731" cy="277941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Block 7 heading"/>
            <p:cNvSpPr/>
            <p:nvPr/>
          </p:nvSpPr>
          <p:spPr>
            <a:xfrm>
              <a:off x="9597908" y="1207008"/>
              <a:ext cx="187141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Customer segments</a:t>
              </a:r>
              <a:endParaRPr lang="en-US" sz="1200" dirty="0"/>
            </a:p>
          </p:txBody>
        </p:sp>
        <p:sp>
          <p:nvSpPr>
            <p:cNvPr id="23" name="Block 7 text"/>
            <p:cNvSpPr/>
            <p:nvPr/>
          </p:nvSpPr>
          <p:spPr>
            <a:xfrm>
              <a:off x="9597908" y="1572768"/>
              <a:ext cx="1871411" cy="21850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4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85216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5" name="Block 8 heading"/>
            <p:cNvSpPr/>
            <p:nvPr/>
          </p:nvSpPr>
          <p:spPr>
            <a:xfrm>
              <a:off x="722376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Cost structure</a:t>
              </a:r>
              <a:endParaRPr lang="en-US" sz="1200" dirty="0"/>
            </a:p>
          </p:txBody>
        </p:sp>
        <p:sp>
          <p:nvSpPr>
            <p:cNvPr id="26" name="Block 8 text"/>
            <p:cNvSpPr/>
            <p:nvPr/>
          </p:nvSpPr>
          <p:spPr>
            <a:xfrm>
              <a:off x="722376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27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32424" y="3949842"/>
              <a:ext cx="5474056" cy="1307958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8" name="Block 9 heading"/>
            <p:cNvSpPr/>
            <p:nvPr/>
          </p:nvSpPr>
          <p:spPr>
            <a:xfrm>
              <a:off x="6269584" y="4059570"/>
              <a:ext cx="5199736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Revenue streams</a:t>
              </a:r>
              <a:endParaRPr lang="en-US" sz="1200" dirty="0"/>
            </a:p>
          </p:txBody>
        </p:sp>
        <p:sp>
          <p:nvSpPr>
            <p:cNvPr id="29" name="Block 9 text"/>
            <p:cNvSpPr/>
            <p:nvPr/>
          </p:nvSpPr>
          <p:spPr>
            <a:xfrm>
              <a:off x="6269584" y="4425330"/>
              <a:ext cx="5199736" cy="7135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V-FRM-02  ·  Five forces</a:t>
            </a:r>
            <a:endParaRPr lang="en-US" sz="1000" dirty="0"/>
          </a:p>
        </p:txBody>
      </p:sp>
      <p:grpSp>
        <p:nvGrpSpPr>
          <p:cNvPr id="22" name="V-FRM-02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2606040"/>
              <a:ext cx="3017520" cy="1143000"/>
            </a:xfrm>
            <a:prstGeom prst="rect">
              <a:avLst/>
            </a:prstGeom>
            <a:solidFill>
              <a:schemeClr val="accent1"/>
            </a:solidFill>
            <a:ln/>
          </p:spPr>
        </p:sp>
        <p:sp>
          <p:nvSpPr>
            <p:cNvPr id="4" name="Force 1 heading"/>
            <p:cNvSpPr/>
            <p:nvPr/>
          </p:nvSpPr>
          <p:spPr>
            <a:xfrm>
              <a:off x="4724248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Industry rivalry</a:t>
              </a:r>
              <a:endParaRPr lang="en-US" sz="1200" dirty="0"/>
            </a:p>
          </p:txBody>
        </p:sp>
        <p:sp>
          <p:nvSpPr>
            <p:cNvPr id="5" name="Force 1 text"/>
            <p:cNvSpPr/>
            <p:nvPr/>
          </p:nvSpPr>
          <p:spPr>
            <a:xfrm>
              <a:off x="4724248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109728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Force 2 heading"/>
            <p:cNvSpPr/>
            <p:nvPr/>
          </p:nvSpPr>
          <p:spPr>
            <a:xfrm>
              <a:off x="4724248" y="120700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new entrants</a:t>
              </a:r>
              <a:endParaRPr lang="en-US" sz="1200" dirty="0"/>
            </a:p>
          </p:txBody>
        </p:sp>
        <p:sp>
          <p:nvSpPr>
            <p:cNvPr id="8" name="Force 2 text"/>
            <p:cNvSpPr/>
            <p:nvPr/>
          </p:nvSpPr>
          <p:spPr>
            <a:xfrm>
              <a:off x="4724248" y="157276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9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orce 3 heading"/>
            <p:cNvSpPr/>
            <p:nvPr/>
          </p:nvSpPr>
          <p:spPr>
            <a:xfrm>
              <a:off x="685800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suppliers</a:t>
              </a:r>
              <a:endParaRPr lang="en-US" sz="1200" dirty="0"/>
            </a:p>
          </p:txBody>
        </p:sp>
        <p:sp>
          <p:nvSpPr>
            <p:cNvPr id="11" name="Force 3 text"/>
            <p:cNvSpPr/>
            <p:nvPr/>
          </p:nvSpPr>
          <p:spPr>
            <a:xfrm>
              <a:off x="685800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625535" y="260604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Force 4 heading"/>
            <p:cNvSpPr/>
            <p:nvPr/>
          </p:nvSpPr>
          <p:spPr>
            <a:xfrm>
              <a:off x="8762695" y="271576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Bargaining power of buyers</a:t>
              </a:r>
              <a:endParaRPr lang="en-US" sz="1200" dirty="0"/>
            </a:p>
          </p:txBody>
        </p:sp>
        <p:sp>
          <p:nvSpPr>
            <p:cNvPr id="14" name="Force 4 text"/>
            <p:cNvSpPr/>
            <p:nvPr/>
          </p:nvSpPr>
          <p:spPr>
            <a:xfrm>
              <a:off x="8762695" y="308152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5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587088" y="4114800"/>
              <a:ext cx="3017520" cy="114300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6" name="Force 5 heading"/>
            <p:cNvSpPr/>
            <p:nvPr/>
          </p:nvSpPr>
          <p:spPr>
            <a:xfrm>
              <a:off x="4724248" y="4224528"/>
              <a:ext cx="27432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Threat of substitutes</a:t>
              </a:r>
              <a:endParaRPr lang="en-US" sz="1200" dirty="0"/>
            </a:p>
          </p:txBody>
        </p:sp>
        <p:sp>
          <p:nvSpPr>
            <p:cNvPr id="17" name="Force 5 text"/>
            <p:cNvSpPr/>
            <p:nvPr/>
          </p:nvSpPr>
          <p:spPr>
            <a:xfrm>
              <a:off x="4724248" y="4590288"/>
              <a:ext cx="274320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Short text</a:t>
              </a:r>
              <a:endParaRPr lang="en-US" sz="1000" dirty="0"/>
            </a:p>
          </p:txBody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19" name="Decoration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3794760"/>
              <a:ext cx="91" cy="32004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0" name="Decoration 8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566160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  <p:sp>
          <p:nvSpPr>
            <p:cNvPr id="21" name="Decoration 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7650328" y="3177540"/>
              <a:ext cx="975208" cy="9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olid"/>
              <a:tailEnd type="triangle"/>
            </a:ln>
          </p:spPr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V-FRM-03  ·  PESTEL</a:t>
            </a:r>
            <a:endParaRPr lang="en-US" sz="1000" dirty="0"/>
          </a:p>
        </p:txBody>
      </p:sp>
      <p:grpSp>
        <p:nvGrpSpPr>
          <p:cNvPr id="27" name="V-FRM-03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Letter 1"/>
            <p:cNvSpPr/>
            <p:nvPr/>
          </p:nvSpPr>
          <p:spPr>
            <a:xfrm>
              <a:off x="548640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P</a:t>
              </a:r>
              <a:endParaRPr lang="en-US" sz="4000" dirty="0"/>
            </a:p>
          </p:txBody>
        </p:sp>
        <p:sp>
          <p:nvSpPr>
            <p:cNvPr id="4" name="Heading 1"/>
            <p:cNvSpPr/>
            <p:nvPr/>
          </p:nvSpPr>
          <p:spPr>
            <a:xfrm>
              <a:off x="548640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Political</a:t>
              </a:r>
              <a:endParaRPr lang="en-US" sz="1200" dirty="0"/>
            </a:p>
          </p:txBody>
        </p:sp>
        <p:sp>
          <p:nvSpPr>
            <p:cNvPr id="5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6" name="Factor 1"/>
            <p:cNvSpPr/>
            <p:nvPr/>
          </p:nvSpPr>
          <p:spPr>
            <a:xfrm>
              <a:off x="658368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7" name="Letter 2"/>
            <p:cNvSpPr/>
            <p:nvPr/>
          </p:nvSpPr>
          <p:spPr>
            <a:xfrm>
              <a:off x="2415997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8" name="Heading 2"/>
            <p:cNvSpPr/>
            <p:nvPr/>
          </p:nvSpPr>
          <p:spPr>
            <a:xfrm>
              <a:off x="2415997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Economic</a:t>
              </a:r>
              <a:endParaRPr lang="en-US" sz="1200" dirty="0"/>
            </a:p>
          </p:txBody>
        </p:sp>
        <p:sp>
          <p:nvSpPr>
            <p:cNvPr id="9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415997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0" name="Factor 2"/>
            <p:cNvSpPr/>
            <p:nvPr/>
          </p:nvSpPr>
          <p:spPr>
            <a:xfrm>
              <a:off x="2525725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1" name="Letter 3"/>
            <p:cNvSpPr/>
            <p:nvPr/>
          </p:nvSpPr>
          <p:spPr>
            <a:xfrm>
              <a:off x="4283354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S</a:t>
              </a:r>
              <a:endParaRPr lang="en-US" sz="4000" dirty="0"/>
            </a:p>
          </p:txBody>
        </p:sp>
        <p:sp>
          <p:nvSpPr>
            <p:cNvPr id="12" name="Heading 3"/>
            <p:cNvSpPr/>
            <p:nvPr/>
          </p:nvSpPr>
          <p:spPr>
            <a:xfrm>
              <a:off x="4283354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Social</a:t>
              </a:r>
              <a:endParaRPr lang="en-US" sz="1200" dirty="0"/>
            </a:p>
          </p:txBody>
        </p:sp>
        <p:sp>
          <p:nvSpPr>
            <p:cNvPr id="13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283354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4" name="Factor 3"/>
            <p:cNvSpPr/>
            <p:nvPr/>
          </p:nvSpPr>
          <p:spPr>
            <a:xfrm>
              <a:off x="4393082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5" name="Letter 4"/>
            <p:cNvSpPr/>
            <p:nvPr/>
          </p:nvSpPr>
          <p:spPr>
            <a:xfrm>
              <a:off x="6150712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T</a:t>
              </a:r>
              <a:endParaRPr lang="en-US" sz="4000" dirty="0"/>
            </a:p>
          </p:txBody>
        </p:sp>
        <p:sp>
          <p:nvSpPr>
            <p:cNvPr id="16" name="Heading 4"/>
            <p:cNvSpPr/>
            <p:nvPr/>
          </p:nvSpPr>
          <p:spPr>
            <a:xfrm>
              <a:off x="6150712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Technological</a:t>
              </a:r>
              <a:endParaRPr lang="en-US" sz="1200" dirty="0"/>
            </a:p>
          </p:txBody>
        </p:sp>
        <p:sp>
          <p:nvSpPr>
            <p:cNvPr id="17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150712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8" name="Factor 4"/>
            <p:cNvSpPr/>
            <p:nvPr/>
          </p:nvSpPr>
          <p:spPr>
            <a:xfrm>
              <a:off x="6260440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19" name="Letter 5"/>
            <p:cNvSpPr/>
            <p:nvPr/>
          </p:nvSpPr>
          <p:spPr>
            <a:xfrm>
              <a:off x="8018069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E</a:t>
              </a:r>
              <a:endParaRPr lang="en-US" sz="4000" dirty="0"/>
            </a:p>
          </p:txBody>
        </p:sp>
        <p:sp>
          <p:nvSpPr>
            <p:cNvPr id="20" name="Heading 5"/>
            <p:cNvSpPr/>
            <p:nvPr/>
          </p:nvSpPr>
          <p:spPr>
            <a:xfrm>
              <a:off x="8018069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Environmental</a:t>
              </a:r>
              <a:endParaRPr lang="en-US" sz="1200" dirty="0"/>
            </a:p>
          </p:txBody>
        </p:sp>
        <p:sp>
          <p:nvSpPr>
            <p:cNvPr id="21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018069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2" name="Factor 5"/>
            <p:cNvSpPr/>
            <p:nvPr/>
          </p:nvSpPr>
          <p:spPr>
            <a:xfrm>
              <a:off x="8127797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  <p:sp>
          <p:nvSpPr>
            <p:cNvPr id="23" name="Letter 6"/>
            <p:cNvSpPr/>
            <p:nvPr/>
          </p:nvSpPr>
          <p:spPr>
            <a:xfrm>
              <a:off x="9885426" y="1097280"/>
              <a:ext cx="1757629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4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L</a:t>
              </a:r>
              <a:endParaRPr lang="en-US" sz="4000" dirty="0"/>
            </a:p>
          </p:txBody>
        </p:sp>
        <p:sp>
          <p:nvSpPr>
            <p:cNvPr id="24" name="Heading 6"/>
            <p:cNvSpPr/>
            <p:nvPr/>
          </p:nvSpPr>
          <p:spPr>
            <a:xfrm>
              <a:off x="9885426" y="1965960"/>
              <a:ext cx="1757629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Legal</a:t>
              </a:r>
              <a:endParaRPr lang="en-US" sz="1200" dirty="0"/>
            </a:p>
          </p:txBody>
        </p:sp>
        <p:sp>
          <p:nvSpPr>
            <p:cNvPr id="25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377440"/>
              <a:ext cx="1757629" cy="28803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26" name="Factor 6"/>
            <p:cNvSpPr/>
            <p:nvPr/>
          </p:nvSpPr>
          <p:spPr>
            <a:xfrm>
              <a:off x="9995154" y="2514600"/>
              <a:ext cx="1538173" cy="2606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  <a:p>
              <a:pPr algn="l" marL="139700" indent="-139700">
                <a:lnSpc>
                  <a:spcPct val="110000"/>
                </a:lnSpc>
                <a:spcAft>
                  <a:spcPts val="400"/>
                </a:spcAft>
                <a:buSzPct val="100000"/>
                <a:buChar char="•"/>
              </a:pPr>
              <a:r>
                <a:rPr lang="en-US" sz="10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Factor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V-FRM-04  ·  RACI matrix</a:t>
            </a:r>
            <a:endParaRPr lang="en-US" sz="1000" dirty="0"/>
          </a:p>
        </p:txBody>
      </p:sp>
      <p:grpSp>
        <p:nvGrpSpPr>
          <p:cNvPr id="46" name="V-FRM-04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Role 1"/>
            <p:cNvSpPr/>
            <p:nvPr/>
          </p:nvSpPr>
          <p:spPr>
            <a:xfrm>
              <a:off x="4023360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1</a:t>
              </a:r>
              <a:endParaRPr lang="en-US" sz="1200" dirty="0"/>
            </a:p>
          </p:txBody>
        </p:sp>
        <p:sp>
          <p:nvSpPr>
            <p:cNvPr id="4" name="Role 2"/>
            <p:cNvSpPr/>
            <p:nvPr/>
          </p:nvSpPr>
          <p:spPr>
            <a:xfrm>
              <a:off x="5547299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2</a:t>
              </a:r>
              <a:endParaRPr lang="en-US" sz="1200" dirty="0"/>
            </a:p>
          </p:txBody>
        </p:sp>
        <p:sp>
          <p:nvSpPr>
            <p:cNvPr id="5" name="Role 3"/>
            <p:cNvSpPr/>
            <p:nvPr/>
          </p:nvSpPr>
          <p:spPr>
            <a:xfrm>
              <a:off x="7071238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3</a:t>
              </a:r>
              <a:endParaRPr lang="en-US" sz="1200" dirty="0"/>
            </a:p>
          </p:txBody>
        </p:sp>
        <p:sp>
          <p:nvSpPr>
            <p:cNvPr id="6" name="Role 4"/>
            <p:cNvSpPr/>
            <p:nvPr/>
          </p:nvSpPr>
          <p:spPr>
            <a:xfrm>
              <a:off x="8595177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4</a:t>
              </a:r>
              <a:endParaRPr lang="en-US" sz="1200" dirty="0"/>
            </a:p>
          </p:txBody>
        </p:sp>
        <p:sp>
          <p:nvSpPr>
            <p:cNvPr id="7" name="Role 5"/>
            <p:cNvSpPr/>
            <p:nvPr/>
          </p:nvSpPr>
          <p:spPr>
            <a:xfrm>
              <a:off x="10119116" y="1097280"/>
              <a:ext cx="1523939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Role 5</a:t>
              </a:r>
              <a:endParaRPr lang="en-US" sz="1200" dirty="0"/>
            </a:p>
          </p:txBody>
        </p:sp>
        <p:sp>
          <p:nvSpPr>
            <p:cNvPr id="8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1600200"/>
              <a:ext cx="11094415" cy="91"/>
            </a:xfrm>
            <a:prstGeom prst="line">
              <a:avLst/>
            </a:prstGeom>
            <a:noFill/>
            <a:ln w="15875">
              <a:solidFill>
                <a:schemeClr val="tx1"/>
              </a:solidFill>
              <a:prstDash val="solid"/>
            </a:ln>
          </p:spPr>
        </p:sp>
        <p:sp>
          <p:nvSpPr>
            <p:cNvPr id="9" name="Activity 1"/>
            <p:cNvSpPr/>
            <p:nvPr/>
          </p:nvSpPr>
          <p:spPr>
            <a:xfrm>
              <a:off x="548640" y="16459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1</a:t>
              </a:r>
              <a:endParaRPr lang="en-US" sz="1200" dirty="0"/>
            </a:p>
          </p:txBody>
        </p:sp>
        <p:sp>
          <p:nvSpPr>
            <p:cNvPr id="10" name="Cell 1-1"/>
            <p:cNvSpPr/>
            <p:nvPr/>
          </p:nvSpPr>
          <p:spPr>
            <a:xfrm>
              <a:off x="4096512" y="16916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11" name="Cell 1-2"/>
            <p:cNvSpPr/>
            <p:nvPr/>
          </p:nvSpPr>
          <p:spPr>
            <a:xfrm>
              <a:off x="5620451" y="16916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2" name="Cell 1-3"/>
            <p:cNvSpPr/>
            <p:nvPr/>
          </p:nvSpPr>
          <p:spPr>
            <a:xfrm>
              <a:off x="7144390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3" name="Cell 1-4"/>
            <p:cNvSpPr/>
            <p:nvPr/>
          </p:nvSpPr>
          <p:spPr>
            <a:xfrm>
              <a:off x="8668329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4" name="Cell 1-5"/>
            <p:cNvSpPr/>
            <p:nvPr/>
          </p:nvSpPr>
          <p:spPr>
            <a:xfrm>
              <a:off x="10192268" y="16916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15" name="Activity 2"/>
            <p:cNvSpPr/>
            <p:nvPr/>
          </p:nvSpPr>
          <p:spPr>
            <a:xfrm>
              <a:off x="548640" y="220980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2</a:t>
              </a:r>
              <a:endParaRPr lang="en-US" sz="1200" dirty="0"/>
            </a:p>
          </p:txBody>
        </p:sp>
        <p:sp>
          <p:nvSpPr>
            <p:cNvPr id="16" name="Cell 2-1"/>
            <p:cNvSpPr/>
            <p:nvPr/>
          </p:nvSpPr>
          <p:spPr>
            <a:xfrm>
              <a:off x="4096512" y="225552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17" name="Cell 2-2"/>
            <p:cNvSpPr/>
            <p:nvPr/>
          </p:nvSpPr>
          <p:spPr>
            <a:xfrm>
              <a:off x="5620451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18" name="Cell 2-3"/>
            <p:cNvSpPr/>
            <p:nvPr/>
          </p:nvSpPr>
          <p:spPr>
            <a:xfrm>
              <a:off x="7144390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19" name="Cell 2-4"/>
            <p:cNvSpPr/>
            <p:nvPr/>
          </p:nvSpPr>
          <p:spPr>
            <a:xfrm>
              <a:off x="8668329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0" name="Cell 2-5"/>
            <p:cNvSpPr/>
            <p:nvPr/>
          </p:nvSpPr>
          <p:spPr>
            <a:xfrm>
              <a:off x="10192268" y="225552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1" name="Activity 3"/>
            <p:cNvSpPr/>
            <p:nvPr/>
          </p:nvSpPr>
          <p:spPr>
            <a:xfrm>
              <a:off x="548640" y="277368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3</a:t>
              </a:r>
              <a:endParaRPr lang="en-US" sz="1200" dirty="0"/>
            </a:p>
          </p:txBody>
        </p:sp>
        <p:sp>
          <p:nvSpPr>
            <p:cNvPr id="22" name="Cell 3-1"/>
            <p:cNvSpPr/>
            <p:nvPr/>
          </p:nvSpPr>
          <p:spPr>
            <a:xfrm>
              <a:off x="4096512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3" name="Cell 3-2"/>
            <p:cNvSpPr/>
            <p:nvPr/>
          </p:nvSpPr>
          <p:spPr>
            <a:xfrm>
              <a:off x="5620451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4" name="Cell 3-3"/>
            <p:cNvSpPr/>
            <p:nvPr/>
          </p:nvSpPr>
          <p:spPr>
            <a:xfrm>
              <a:off x="7144390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25" name="Cell 3-4"/>
            <p:cNvSpPr/>
            <p:nvPr/>
          </p:nvSpPr>
          <p:spPr>
            <a:xfrm>
              <a:off x="8668329" y="281940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26" name="Cell 3-5"/>
            <p:cNvSpPr/>
            <p:nvPr/>
          </p:nvSpPr>
          <p:spPr>
            <a:xfrm>
              <a:off x="10192268" y="281940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27" name="Activity 4"/>
            <p:cNvSpPr/>
            <p:nvPr/>
          </p:nvSpPr>
          <p:spPr>
            <a:xfrm>
              <a:off x="548640" y="333756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4</a:t>
              </a:r>
              <a:endParaRPr lang="en-US" sz="1200" dirty="0"/>
            </a:p>
          </p:txBody>
        </p:sp>
        <p:sp>
          <p:nvSpPr>
            <p:cNvPr id="28" name="Cell 4-1"/>
            <p:cNvSpPr/>
            <p:nvPr/>
          </p:nvSpPr>
          <p:spPr>
            <a:xfrm>
              <a:off x="4096512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29" name="Cell 4-2"/>
            <p:cNvSpPr/>
            <p:nvPr/>
          </p:nvSpPr>
          <p:spPr>
            <a:xfrm>
              <a:off x="5620451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0" name="Cell 4-3"/>
            <p:cNvSpPr/>
            <p:nvPr/>
          </p:nvSpPr>
          <p:spPr>
            <a:xfrm>
              <a:off x="7144390" y="338328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1" name="Cell 4-4"/>
            <p:cNvSpPr/>
            <p:nvPr/>
          </p:nvSpPr>
          <p:spPr>
            <a:xfrm>
              <a:off x="8668329" y="338328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2" name="Cell 4-5"/>
            <p:cNvSpPr/>
            <p:nvPr/>
          </p:nvSpPr>
          <p:spPr>
            <a:xfrm>
              <a:off x="10192268" y="338328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3" name="Activity 5"/>
            <p:cNvSpPr/>
            <p:nvPr/>
          </p:nvSpPr>
          <p:spPr>
            <a:xfrm>
              <a:off x="548640" y="390144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5</a:t>
              </a:r>
              <a:endParaRPr lang="en-US" sz="1200" dirty="0"/>
            </a:p>
          </p:txBody>
        </p:sp>
        <p:sp>
          <p:nvSpPr>
            <p:cNvPr id="34" name="Cell 5-1"/>
            <p:cNvSpPr/>
            <p:nvPr/>
          </p:nvSpPr>
          <p:spPr>
            <a:xfrm>
              <a:off x="4096512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 </a:t>
              </a:r>
              <a:endParaRPr lang="en-US" sz="1200" dirty="0"/>
            </a:p>
          </p:txBody>
        </p:sp>
        <p:sp>
          <p:nvSpPr>
            <p:cNvPr id="35" name="Cell 5-2"/>
            <p:cNvSpPr/>
            <p:nvPr/>
          </p:nvSpPr>
          <p:spPr>
            <a:xfrm>
              <a:off x="5620451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6" name="Cell 5-3"/>
            <p:cNvSpPr/>
            <p:nvPr/>
          </p:nvSpPr>
          <p:spPr>
            <a:xfrm>
              <a:off x="7144390" y="394716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37" name="Cell 5-4"/>
            <p:cNvSpPr/>
            <p:nvPr/>
          </p:nvSpPr>
          <p:spPr>
            <a:xfrm>
              <a:off x="8668329" y="394716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38" name="Cell 5-5"/>
            <p:cNvSpPr/>
            <p:nvPr/>
          </p:nvSpPr>
          <p:spPr>
            <a:xfrm>
              <a:off x="10192268" y="394716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39" name="Activity 6"/>
            <p:cNvSpPr/>
            <p:nvPr/>
          </p:nvSpPr>
          <p:spPr>
            <a:xfrm>
              <a:off x="548640" y="4465320"/>
              <a:ext cx="3291840" cy="563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2"/>
                  </a:solidFill>
                  <a:latin typeface="+mn-lt"/>
                  <a:ea typeface="+mn-ea"/>
                  <a:cs typeface="+mn-cs"/>
                </a:rPr>
                <a:t>Activity 6</a:t>
              </a:r>
              <a:endParaRPr lang="en-US" sz="1200" dirty="0"/>
            </a:p>
          </p:txBody>
        </p:sp>
        <p:sp>
          <p:nvSpPr>
            <p:cNvPr id="40" name="Cell 6-1"/>
            <p:cNvSpPr/>
            <p:nvPr/>
          </p:nvSpPr>
          <p:spPr>
            <a:xfrm>
              <a:off x="4096512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1" name="Cell 6-2"/>
            <p:cNvSpPr/>
            <p:nvPr/>
          </p:nvSpPr>
          <p:spPr>
            <a:xfrm>
              <a:off x="5620451" y="4511040"/>
              <a:ext cx="1377635" cy="472440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R</a:t>
              </a:r>
              <a:endParaRPr lang="en-US" sz="1200" dirty="0"/>
            </a:p>
          </p:txBody>
        </p:sp>
        <p:sp>
          <p:nvSpPr>
            <p:cNvPr id="42" name="Cell 6-3"/>
            <p:cNvSpPr/>
            <p:nvPr/>
          </p:nvSpPr>
          <p:spPr>
            <a:xfrm>
              <a:off x="7144390" y="4511040"/>
              <a:ext cx="1377635" cy="47244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A</a:t>
              </a:r>
              <a:endParaRPr lang="en-US" sz="1200" dirty="0"/>
            </a:p>
          </p:txBody>
        </p:sp>
        <p:sp>
          <p:nvSpPr>
            <p:cNvPr id="43" name="Cell 6-4"/>
            <p:cNvSpPr/>
            <p:nvPr/>
          </p:nvSpPr>
          <p:spPr>
            <a:xfrm>
              <a:off x="8668329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</a:t>
              </a:r>
              <a:endParaRPr lang="en-US" sz="1200" dirty="0"/>
            </a:p>
          </p:txBody>
        </p:sp>
        <p:sp>
          <p:nvSpPr>
            <p:cNvPr id="44" name="Cell 6-5"/>
            <p:cNvSpPr/>
            <p:nvPr/>
          </p:nvSpPr>
          <p:spPr>
            <a:xfrm>
              <a:off x="10192268" y="4511040"/>
              <a:ext cx="1377635" cy="472440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I</a:t>
              </a:r>
              <a:endParaRPr lang="en-US" sz="1200" dirty="0"/>
            </a:p>
          </p:txBody>
        </p:sp>
        <p:sp>
          <p:nvSpPr>
            <p:cNvPr id="45" name="Note"/>
            <p:cNvSpPr/>
            <p:nvPr/>
          </p:nvSpPr>
          <p:spPr>
            <a:xfrm>
              <a:off x="548640" y="5029200"/>
              <a:ext cx="11094415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R responsible · A accountable · C consulted · I informed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V-FRM-05  ·  OKR tree</a:t>
            </a:r>
            <a:endParaRPr lang="en-US" sz="1000" dirty="0"/>
          </a:p>
        </p:txBody>
      </p:sp>
      <p:grpSp>
        <p:nvGrpSpPr>
          <p:cNvPr id="23" name="V-FRM-05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Objective label"/>
            <p:cNvSpPr/>
            <p:nvPr/>
          </p:nvSpPr>
          <p:spPr>
            <a:xfrm>
              <a:off x="548640" y="109728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Objective</a:t>
              </a:r>
              <a:endParaRPr lang="en-US" sz="1000" dirty="0"/>
            </a:p>
          </p:txBody>
        </p:sp>
        <p:sp>
          <p:nvSpPr>
            <p:cNvPr id="4" name="Objective"/>
            <p:cNvSpPr/>
            <p:nvPr/>
          </p:nvSpPr>
          <p:spPr>
            <a:xfrm>
              <a:off x="548640" y="1417320"/>
              <a:ext cx="11094415" cy="822960"/>
            </a:xfrm>
            <a:prstGeom prst="rect">
              <a:avLst/>
            </a:prstGeom>
            <a:solidFill>
              <a:schemeClr val="accent1"/>
            </a:solidFill>
            <a:ln/>
          </p:spPr>
          <p:txBody>
            <a:bodyPr wrap="square" lIns="182880" tIns="182880" rIns="182880" bIns="18288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2000" b="1" dirty="0">
                  <a:solidFill>
                    <a:schemeClr val="bg1"/>
                  </a:solidFill>
                  <a:latin typeface="+mj-lt"/>
                  <a:ea typeface="+mj-ea"/>
                  <a:cs typeface="+mj-cs"/>
                </a:rPr>
                <a:t>Qualitative, inspiring objective</a:t>
              </a:r>
              <a:endParaRPr lang="en-US" sz="2000" dirty="0"/>
            </a:p>
          </p:txBody>
        </p:sp>
        <p:sp>
          <p:nvSpPr>
            <p:cNvPr id="5" name="Decoration 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2306269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6" name="Decoration 2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48640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7" name="Key result 1 label"/>
            <p:cNvSpPr/>
            <p:nvPr/>
          </p:nvSpPr>
          <p:spPr>
            <a:xfrm>
              <a:off x="731520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1</a:t>
              </a:r>
              <a:endParaRPr lang="en-US" sz="1000" dirty="0"/>
            </a:p>
          </p:txBody>
        </p:sp>
        <p:sp>
          <p:nvSpPr>
            <p:cNvPr id="8" name="Key result 1"/>
            <p:cNvSpPr/>
            <p:nvPr/>
          </p:nvSpPr>
          <p:spPr>
            <a:xfrm>
              <a:off x="731520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9" name="Target 1"/>
            <p:cNvSpPr/>
            <p:nvPr/>
          </p:nvSpPr>
          <p:spPr>
            <a:xfrm>
              <a:off x="731520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0" name="Progress 1"/>
            <p:cNvSpPr/>
            <p:nvPr/>
          </p:nvSpPr>
          <p:spPr>
            <a:xfrm>
              <a:off x="731520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1" name="Decoration 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095848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2" name="Decoration 4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4338218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3" name="Key result 2 label"/>
            <p:cNvSpPr/>
            <p:nvPr/>
          </p:nvSpPr>
          <p:spPr>
            <a:xfrm>
              <a:off x="4521098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2</a:t>
              </a:r>
              <a:endParaRPr lang="en-US" sz="1000" dirty="0"/>
            </a:p>
          </p:txBody>
        </p:sp>
        <p:sp>
          <p:nvSpPr>
            <p:cNvPr id="14" name="Key result 2"/>
            <p:cNvSpPr/>
            <p:nvPr/>
          </p:nvSpPr>
          <p:spPr>
            <a:xfrm>
              <a:off x="4521098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15" name="Target 2"/>
            <p:cNvSpPr/>
            <p:nvPr/>
          </p:nvSpPr>
          <p:spPr>
            <a:xfrm>
              <a:off x="4521098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16" name="Progress 2"/>
            <p:cNvSpPr/>
            <p:nvPr/>
          </p:nvSpPr>
          <p:spPr>
            <a:xfrm>
              <a:off x="4521098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  <p:sp>
          <p:nvSpPr>
            <p:cNvPr id="17" name="Decoration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885426" y="2240280"/>
              <a:ext cx="91" cy="3657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</a:ln>
          </p:spPr>
        </p:sp>
        <p:sp>
          <p:nvSpPr>
            <p:cNvPr id="18" name="Decoration 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8127797" y="2606040"/>
              <a:ext cx="3515258" cy="2651760"/>
            </a:xfrm>
            <a:prstGeom prst="rect">
              <a:avLst/>
            </a:prstGeom>
            <a:solidFill>
              <a:schemeClr val="bg2"/>
            </a:solidFill>
            <a:ln/>
          </p:spPr>
        </p:sp>
        <p:sp>
          <p:nvSpPr>
            <p:cNvPr id="19" name="Key result 3 label"/>
            <p:cNvSpPr/>
            <p:nvPr/>
          </p:nvSpPr>
          <p:spPr>
            <a:xfrm>
              <a:off x="8310677" y="2788920"/>
              <a:ext cx="314949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b="1" spc="100" kern="0" dirty="0" cap="all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Key result 3</a:t>
              </a:r>
              <a:endParaRPr lang="en-US" sz="1000" dirty="0"/>
            </a:p>
          </p:txBody>
        </p:sp>
        <p:sp>
          <p:nvSpPr>
            <p:cNvPr id="20" name="Key result 3"/>
            <p:cNvSpPr/>
            <p:nvPr/>
          </p:nvSpPr>
          <p:spPr>
            <a:xfrm>
              <a:off x="8310677" y="3108960"/>
              <a:ext cx="3149498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Measurable result</a:t>
              </a:r>
              <a:endParaRPr lang="en-US" sz="1200" dirty="0"/>
            </a:p>
          </p:txBody>
        </p:sp>
        <p:sp>
          <p:nvSpPr>
            <p:cNvPr id="21" name="Target 3"/>
            <p:cNvSpPr/>
            <p:nvPr/>
          </p:nvSpPr>
          <p:spPr>
            <a:xfrm>
              <a:off x="8310677" y="3977640"/>
              <a:ext cx="3149498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000" dirty="0">
                  <a:solidFill>
                    <a:schemeClr val="tx1">
                      <a:lumMod val="50000"/>
                      <a:lumOff val="40000"/>
                    </a:schemeClr>
                  </a:solidFill>
                  <a:latin typeface="+mn-lt"/>
                  <a:ea typeface="+mn-ea"/>
                  <a:cs typeface="+mn-cs"/>
                </a:rPr>
                <a:t>Target</a:t>
              </a:r>
              <a:endParaRPr lang="en-US" sz="1000" dirty="0"/>
            </a:p>
          </p:txBody>
        </p:sp>
        <p:sp>
          <p:nvSpPr>
            <p:cNvPr id="22" name="Progress 3"/>
            <p:cNvSpPr/>
            <p:nvPr/>
          </p:nvSpPr>
          <p:spPr>
            <a:xfrm>
              <a:off x="8310677" y="4343400"/>
              <a:ext cx="3149498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95000"/>
                </a:lnSpc>
                <a:buNone/>
              </a:pPr>
              <a:r>
                <a:rPr lang="en-US" sz="3000" b="1" dirty="0">
                  <a:solidFill>
                    <a:schemeClr val="tx1"/>
                  </a:solidFill>
                  <a:latin typeface="+mj-lt"/>
                  <a:ea typeface="+mj-ea"/>
                  <a:cs typeface="+mj-cs"/>
                </a:rPr>
                <a:t>00%</a:t>
              </a:r>
              <a:endParaRPr lang="en-US" sz="3000" dirty="0"/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talogue label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 cap="all">
                <a:solidFill>
                  <a:schemeClr val="tx1">
                    <a:lumMod val="50000"/>
                    <a:lumOff val="40000"/>
                  </a:schemeClr>
                </a:solidFill>
                <a:latin typeface="+mn-lt"/>
                <a:ea typeface="+mn-ea"/>
                <a:cs typeface="+mn-cs"/>
              </a:rPr>
              <a:t>V-FRM-06  ·  Value chain</a:t>
            </a:r>
            <a:endParaRPr lang="en-US" sz="1000" dirty="0"/>
          </a:p>
        </p:txBody>
      </p:sp>
      <p:grpSp>
        <p:nvGrpSpPr>
          <p:cNvPr id="13" name="V-FRM-06"/>
          <p:cNvGrpSpPr/>
          <p:nvPr/>
        </p:nvGrpSpPr>
        <p:grpSpPr>
          <a:xfrm>
            <a:off x="548640" y="1097280"/>
            <a:ext cx="11094415" cy="4160520"/>
            <a:chOff x="548640" y="1097280"/>
            <a:chExt cx="11094415" cy="4160520"/>
          </a:xfrm>
        </p:grpSpPr>
        <p:sp>
          <p:nvSpPr>
            <p:cNvPr id="3" name="Support 1"/>
            <p:cNvSpPr/>
            <p:nvPr/>
          </p:nvSpPr>
          <p:spPr>
            <a:xfrm>
              <a:off x="548640" y="109728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Firm infrastructure</a:t>
              </a:r>
              <a:endParaRPr lang="en-US" sz="1200" dirty="0"/>
            </a:p>
          </p:txBody>
        </p:sp>
        <p:sp>
          <p:nvSpPr>
            <p:cNvPr id="4" name="Support 2"/>
            <p:cNvSpPr/>
            <p:nvPr/>
          </p:nvSpPr>
          <p:spPr>
            <a:xfrm>
              <a:off x="548640" y="161734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People</a:t>
              </a:r>
              <a:endParaRPr lang="en-US" sz="1200" dirty="0"/>
            </a:p>
          </p:txBody>
        </p:sp>
        <p:sp>
          <p:nvSpPr>
            <p:cNvPr id="5" name="Support 3"/>
            <p:cNvSpPr/>
            <p:nvPr/>
          </p:nvSpPr>
          <p:spPr>
            <a:xfrm>
              <a:off x="548640" y="2137410"/>
              <a:ext cx="9905695" cy="474345"/>
            </a:xfrm>
            <a:prstGeom prst="rect">
              <a:avLst/>
            </a:prstGeom>
            <a:solidFill>
              <a:schemeClr val="bg2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Technology</a:t>
              </a:r>
              <a:endParaRPr lang="en-US" sz="1200" dirty="0"/>
            </a:p>
          </p:txBody>
        </p:sp>
        <p:sp>
          <p:nvSpPr>
            <p:cNvPr id="6" name="Support 4"/>
            <p:cNvSpPr/>
            <p:nvPr/>
          </p:nvSpPr>
          <p:spPr>
            <a:xfrm>
              <a:off x="548640" y="2657475"/>
              <a:ext cx="9905695" cy="474345"/>
            </a:xfrm>
            <a:prstGeom prst="rect">
              <a:avLst/>
            </a:prstGeom>
            <a:solidFill>
              <a:schemeClr val="accent6"/>
            </a:solidFill>
            <a:ln/>
          </p:spPr>
          <p:txBody>
            <a:bodyPr wrap="square" lIns="137160" tIns="137160" rIns="137160" bIns="137160" rtlCol="0" anchor="ctr"/>
            <a:lstStyle/>
            <a:p>
              <a:pPr algn="l" indent="0" marL="0">
                <a:lnSpc>
                  <a:spcPct val="110000"/>
                </a:lnSpc>
                <a:buNone/>
              </a:pPr>
              <a:r>
                <a:rPr lang="en-US" sz="12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Procurement</a:t>
              </a:r>
              <a:endParaRPr lang="en-US" sz="1200" dirty="0"/>
            </a:p>
          </p:txBody>
        </p:sp>
        <p:sp>
          <p:nvSpPr>
            <p:cNvPr id="7" name="Primary 1"/>
            <p:cNvSpPr/>
            <p:nvPr/>
          </p:nvSpPr>
          <p:spPr>
            <a:xfrm>
              <a:off x="548640" y="3223260"/>
              <a:ext cx="2145731" cy="2034540"/>
            </a:xfrm>
            <a:prstGeom prst="homePlate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Inbound</a:t>
              </a:r>
              <a:endParaRPr lang="en-US" sz="1200" dirty="0"/>
            </a:p>
          </p:txBody>
        </p:sp>
        <p:sp>
          <p:nvSpPr>
            <p:cNvPr id="8" name="Primary 2"/>
            <p:cNvSpPr/>
            <p:nvPr/>
          </p:nvSpPr>
          <p:spPr>
            <a:xfrm>
              <a:off x="2511491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Operations</a:t>
              </a:r>
              <a:endParaRPr lang="en-US" sz="1200" dirty="0"/>
            </a:p>
          </p:txBody>
        </p:sp>
        <p:sp>
          <p:nvSpPr>
            <p:cNvPr id="9" name="Primary 3"/>
            <p:cNvSpPr/>
            <p:nvPr/>
          </p:nvSpPr>
          <p:spPr>
            <a:xfrm>
              <a:off x="4474342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Outbound</a:t>
              </a:r>
              <a:endParaRPr lang="en-US" sz="1200" dirty="0"/>
            </a:p>
          </p:txBody>
        </p:sp>
        <p:sp>
          <p:nvSpPr>
            <p:cNvPr id="10" name="Primary 4"/>
            <p:cNvSpPr/>
            <p:nvPr/>
          </p:nvSpPr>
          <p:spPr>
            <a:xfrm>
              <a:off x="6437193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Marketing and sales</a:t>
              </a:r>
              <a:endParaRPr lang="en-US" sz="1200" dirty="0"/>
            </a:p>
          </p:txBody>
        </p:sp>
        <p:sp>
          <p:nvSpPr>
            <p:cNvPr id="11" name="Primary 5"/>
            <p:cNvSpPr/>
            <p:nvPr/>
          </p:nvSpPr>
          <p:spPr>
            <a:xfrm>
              <a:off x="8400044" y="3223260"/>
              <a:ext cx="2145731" cy="2034540"/>
            </a:xfrm>
            <a:prstGeom prst="chevron">
              <a:avLst/>
            </a:prstGeom>
            <a:solidFill>
              <a:schemeClr val="accent2"/>
            </a:solidFill>
            <a:ln/>
          </p:spPr>
          <p:txBody>
            <a:bodyPr wrap="square" lIns="73152" tIns="73152" rIns="73152" bIns="73152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Service</a:t>
              </a:r>
              <a:endParaRPr lang="en-US" sz="1200" dirty="0"/>
            </a:p>
          </p:txBody>
        </p:sp>
        <p:sp>
          <p:nvSpPr>
            <p:cNvPr id="12" name="Margin"/>
            <p:cNvSpPr/>
            <p:nvPr/>
          </p:nvSpPr>
          <p:spPr>
            <a:xfrm>
              <a:off x="10545775" y="1097280"/>
              <a:ext cx="1097280" cy="4160520"/>
            </a:xfrm>
            <a:prstGeom prst="homePlate">
              <a:avLst/>
            </a:prstGeom>
            <a:solidFill>
              <a:schemeClr val="accent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110000"/>
                </a:lnSpc>
                <a:buNone/>
              </a:pPr>
              <a:r>
                <a:rPr lang="en-US" sz="1200" b="1" dirty="0">
                  <a:solidFill>
                    <a:schemeClr val="bg1"/>
                  </a:solidFill>
                  <a:latin typeface="+mn-lt"/>
                  <a:ea typeface="+mn-ea"/>
                  <a:cs typeface="+mn-cs"/>
                </a:rPr>
                <a:t>Margin</a:t>
              </a:r>
              <a:endParaRPr lang="en-US" sz="12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Make Clean Neutral">
  <a:themeElements>
    <a:clrScheme name="Make Clean Neutral">
      <a:dk1>
        <a:srgbClr val="111111"/>
      </a:dk1>
      <a:lt1>
        <a:srgbClr val="FFFFFF"/>
      </a:lt1>
      <a:dk2>
        <a:srgbClr val="404040"/>
      </a:dk2>
      <a:lt2>
        <a:srgbClr val="F2F2F2"/>
      </a:lt2>
      <a:accent1>
        <a:srgbClr val="1F1F1F"/>
      </a:accent1>
      <a:accent2>
        <a:srgbClr val="595959"/>
      </a:accent2>
      <a:accent3>
        <a:srgbClr val="8C8C8C"/>
      </a:accent3>
      <a:accent4>
        <a:srgbClr val="B3B3B3"/>
      </a:accent4>
      <a:accent5>
        <a:srgbClr val="D0D0D0"/>
      </a:accent5>
      <a:accent6>
        <a:srgbClr val="E6E6E6"/>
      </a:accent6>
      <a:hlink>
        <a:srgbClr val="404040"/>
      </a:hlink>
      <a:folHlink>
        <a:srgbClr val="8C8C8C"/>
      </a:folHlink>
    </a:clrScheme>
    <a:fontScheme name="Make Clean Neutr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github.com/MaximeRumpler/Make_Clean_PPTX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 Clean PPTX, visuals</dc:title>
  <dc:subject>PptxGenJS Presentation</dc:subject>
  <dc:creator>Make Clean PPTX</dc:creator>
  <cp:lastModifiedBy>Make Clean PPTX</cp:lastModifiedBy>
  <cp:revision>1</cp:revision>
  <dcterms:created xsi:type="dcterms:W3CDTF">2026-10-25T00:00:00Z</dcterms:created>
  <dcterms:modified xsi:type="dcterms:W3CDTF">2026-10-25T00:00:00Z</dcterms:modified>
</cp:coreProperties>
</file>