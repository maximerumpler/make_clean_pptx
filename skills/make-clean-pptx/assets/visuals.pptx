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9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0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31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pare" id="{c254490c-9763-5036-99d1-f7bc5d57459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Evolve" id="{d245394c-e324-5daf-92ed-0b613f110b9e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ompose" id="{6801387e-9506-5fc8-b013-536502b584ca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late" id="{86fc8167-5052-5522-b594-3962b39d6333}">
          <p14:sldIdLst>
            <p14:sldId id="274"/>
            <p14:sldId id="275"/>
            <p14:sldId id="276"/>
            <p14:sldId id="277"/>
            <p14:sldId id="278"/>
          </p14:sldIdLst>
        </p14:section>
        <p14:section name="KPI" id="{7ac8f4f9-130f-5562-9460-c455737bb6c9}">
          <p14:sldIdLst>
            <p14:sldId id="279"/>
            <p14:sldId id="280"/>
            <p14:sldId id="281"/>
            <p14:sldId id="282"/>
            <p14:sldId id="283"/>
          </p14:sldIdLst>
        </p14:section>
        <p14:section name="Matrix" id="{9524c955-01b6-57b9-a5ed-c881fa2b8ecf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Process" id="{b8d99f32-f272-5679-88dd-f58d1695a8a4}">
          <p14:sldIdLst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Time" id="{5b1e0435-048c-57b2-b0f9-fb314d9959a4}">
          <p14:sldIdLst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Structure" id="{2895ddd2-b46e-5ead-8c47-ef16f25b32c6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Frameworks" id="{cbd404de-4375-580c-94e0-f9e4b25ec513}">
          <p14:sldIdLst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Signature" id="{7786e625-f9a5-5efd-8e01-1983caadb4c4}">
          <p14:sldIdLst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Expressive" id="{ebabc166-59d0-5f08-b3f2-5ea24d1953cc}">
          <p14:sldIdLst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Item 1</c:v>
                  </c:pt>
                  <c:pt idx="1">
                    <c:v>Item 2</c:v>
                  </c:pt>
                  <c:pt idx="2">
                    <c:v>Item 3</c:v>
                  </c:pt>
                  <c:pt idx="3">
                    <c:v>Item 4</c:v>
                  </c:pt>
                  <c:pt idx="4">
                    <c:v>Item 5</c:v>
                  </c:pt>
                  <c:pt idx="5">
                    <c:v>Item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24</c:v>
                </c:pt>
                <c:pt idx="4">
                  <c:v>18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Previous</c:v>
                </c:pt>
              </c:strCache>
            </c:strRef>
          </c:tx>
          <c:spPr>
            <a:solidFill>
              <a:schemeClr val="accent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Category 1</c:v>
                  </c:pt>
                  <c:pt idx="1">
                    <c:v>Category 2</c:v>
                  </c:pt>
                  <c:pt idx="2">
                    <c:v>Category 3</c:v>
                  </c:pt>
                  <c:pt idx="3">
                    <c:v>Category 4</c:v>
                  </c:pt>
                  <c:pt idx="4">
                    <c:v>Category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42</c:v>
                </c:pt>
                <c:pt idx="2">
                  <c:v>25</c:v>
                </c:pt>
                <c:pt idx="3">
                  <c:v>18</c:v>
                </c:pt>
                <c:pt idx="4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Category 1</c:v>
                  </c:pt>
                  <c:pt idx="1">
                    <c:v>Category 2</c:v>
                  </c:pt>
                  <c:pt idx="2">
                    <c:v>Category 3</c:v>
                  </c:pt>
                  <c:pt idx="3">
                    <c:v>Category 4</c:v>
                  </c:pt>
                  <c:pt idx="4">
                    <c:v>Category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36</c:v>
                </c:pt>
                <c:pt idx="1">
                  <c:v>40</c:v>
                </c:pt>
                <c:pt idx="2">
                  <c:v>31</c:v>
                </c:pt>
                <c:pt idx="3">
                  <c:v>24</c:v>
                </c:pt>
                <c:pt idx="4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Item 1</c:v>
                  </c:pt>
                  <c:pt idx="1">
                    <c:v>Item 2</c:v>
                  </c:pt>
                  <c:pt idx="2">
                    <c:v>Item 3</c:v>
                  </c:pt>
                  <c:pt idx="3">
                    <c:v>Item 4</c:v>
                  </c:pt>
                  <c:pt idx="4">
                    <c:v>Item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Item 1</c:v>
                  </c:pt>
                  <c:pt idx="1">
                    <c:v>Item 2</c:v>
                  </c:pt>
                  <c:pt idx="2">
                    <c:v>Item 3</c:v>
                  </c:pt>
                  <c:pt idx="3">
                    <c:v>Item 4</c:v>
                  </c:pt>
                  <c:pt idx="4">
                    <c:v>Item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</c:v>
                </c:pt>
                <c:pt idx="1">
                  <c:v>78</c:v>
                </c:pt>
                <c:pt idx="2">
                  <c:v>64</c:v>
                </c:pt>
                <c:pt idx="3">
                  <c:v>55</c:v>
                </c:pt>
                <c:pt idx="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Downside</c:v>
                </c:pt>
              </c:strCache>
            </c:strRef>
          </c:tx>
          <c:spPr>
            <a:solidFill>
              <a:schemeClr val="accent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Driver 1</c:v>
                  </c:pt>
                  <c:pt idx="1">
                    <c:v>Driver 2</c:v>
                  </c:pt>
                  <c:pt idx="2">
                    <c:v>Driver 3</c:v>
                  </c:pt>
                  <c:pt idx="3">
                    <c:v>Driver 4</c:v>
                  </c:pt>
                  <c:pt idx="4">
                    <c:v>Driver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-30</c:v>
                </c:pt>
                <c:pt idx="1">
                  <c:v>-22</c:v>
                </c:pt>
                <c:pt idx="2">
                  <c:v>-16</c:v>
                </c:pt>
                <c:pt idx="3">
                  <c:v>-10</c:v>
                </c:pt>
                <c:pt idx="4">
                  <c:v>-6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Driver 1</c:v>
                  </c:pt>
                  <c:pt idx="1">
                    <c:v>Driver 2</c:v>
                  </c:pt>
                  <c:pt idx="2">
                    <c:v>Driver 3</c:v>
                  </c:pt>
                  <c:pt idx="3">
                    <c:v>Driver 4</c:v>
                  </c:pt>
                  <c:pt idx="4">
                    <c:v>Driver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</c:v>
                </c:pt>
                <c:pt idx="1">
                  <c:v>20</c:v>
                </c:pt>
                <c:pt idx="2">
                  <c:v>14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 1</c:v>
                </c:pt>
              </c:strCache>
            </c:strRef>
          </c:tx>
          <c:spPr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Item 2</c:v>
                </c:pt>
              </c:strCache>
            </c:strRef>
          </c:tx>
          <c:spPr>
            <a:solidFill>
              <a:schemeClr val="accent3"/>
            </a:solidFill>
            <a:ln w="25400" cap="flat">
              <a:solidFill>
                <a:schemeClr val="accent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chemeClr val="accent3"/>
              </a:solidFill>
              <a:ln w="9525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</c:v>
                </c:pt>
                <c:pt idx="1">
                  <c:v>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Item 3</c:v>
                </c:pt>
              </c:strCache>
            </c:strRef>
          </c:tx>
          <c:spPr>
            <a:solidFill>
              <a:schemeClr val="accent2"/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22</c:v>
                </c:pt>
                <c:pt idx="1">
                  <c:v>34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Item 4</c:v>
                </c:pt>
              </c:strCache>
            </c:strRef>
          </c:tx>
          <c:spPr>
            <a:solidFill>
              <a:schemeClr val="accent4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chemeClr val="accent4"/>
              </a:solidFill>
              <a:ln w="9525" cap="flat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15</c:v>
                </c:pt>
                <c:pt idx="1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3175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  <c:pt idx="11">
                    <c:v>P12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</c:v>
                </c:pt>
                <c:pt idx="1">
                  <c:v>22</c:v>
                </c:pt>
                <c:pt idx="2">
                  <c:v>21</c:v>
                </c:pt>
                <c:pt idx="3">
                  <c:v>25</c:v>
                </c:pt>
                <c:pt idx="4">
                  <c:v>27</c:v>
                </c:pt>
                <c:pt idx="5">
                  <c:v>26</c:v>
                </c:pt>
                <c:pt idx="6">
                  <c:v>30</c:v>
                </c:pt>
                <c:pt idx="7">
                  <c:v>36</c:v>
                </c:pt>
                <c:pt idx="8">
                  <c:v>41</c:v>
                </c:pt>
                <c:pt idx="9">
                  <c:v>43</c:v>
                </c:pt>
                <c:pt idx="10">
                  <c:v>46</c:v>
                </c:pt>
                <c:pt idx="11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 1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22</c:v>
                </c:pt>
                <c:pt idx="2">
                  <c:v>25</c:v>
                </c:pt>
                <c:pt idx="3">
                  <c:v>27</c:v>
                </c:pt>
                <c:pt idx="4">
                  <c:v>30</c:v>
                </c:pt>
                <c:pt idx="5">
                  <c:v>33</c:v>
                </c:pt>
                <c:pt idx="6">
                  <c:v>35</c:v>
                </c:pt>
                <c:pt idx="7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Component 2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16</c:v>
                </c:pt>
                <c:pt idx="4">
                  <c:v>17</c:v>
                </c:pt>
                <c:pt idx="5">
                  <c:v>18</c:v>
                </c:pt>
                <c:pt idx="6">
                  <c:v>20</c:v>
                </c:pt>
                <c:pt idx="7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Component 3</c:v>
                </c:pt>
              </c:strCache>
            </c:strRef>
          </c:tx>
          <c:spPr>
            <a:solidFill>
              <a:schemeClr val="accent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accent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34</c:v>
                </c:pt>
                <c:pt idx="2">
                  <c:v>33</c:v>
                </c:pt>
                <c:pt idx="3">
                  <c:v>40</c:v>
                </c:pt>
                <c:pt idx="4">
                  <c:v>44</c:v>
                </c:pt>
                <c:pt idx="5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chemeClr val="accent1"/>
            </a:solidFill>
            <a:ln w="3175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13</c:v>
                </c:pt>
                <c:pt idx="2">
                  <c:v>11</c:v>
                </c:pt>
                <c:pt idx="3">
                  <c:v>15</c:v>
                </c:pt>
                <c:pt idx="4">
                  <c:v>17</c:v>
                </c:pt>
                <c:pt idx="5">
                  <c:v>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chemeClr val="accent4"/>
            </a:solidFill>
            <a:ln w="31750" cap="flat">
              <a:solidFill>
                <a:schemeClr val="accent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4"/>
              </a:solidFill>
              <a:ln w="9525" cap="flat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12</c:v>
                </c:pt>
                <c:pt idx="2">
                  <c:v>22</c:v>
                </c:pt>
                <c:pt idx="3">
                  <c:v>35</c:v>
                </c:pt>
                <c:pt idx="4">
                  <c:v>50</c:v>
                </c:pt>
                <c:pt idx="5">
                  <c:v>64</c:v>
                </c:pt>
                <c:pt idx="6">
                  <c:v>76</c:v>
                </c:pt>
                <c:pt idx="7">
                  <c:v>86</c:v>
                </c:pt>
                <c:pt idx="8">
                  <c:v>94</c:v>
                </c:pt>
                <c:pt idx="9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chemeClr val="accent1"/>
            </a:solidFill>
            <a:ln w="3175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</c:v>
                </c:pt>
                <c:pt idx="1">
                  <c:v>10</c:v>
                </c:pt>
                <c:pt idx="2">
                  <c:v>18</c:v>
                </c:pt>
                <c:pt idx="3">
                  <c:v>29</c:v>
                </c:pt>
                <c:pt idx="4">
                  <c:v>41</c:v>
                </c:pt>
                <c:pt idx="5">
                  <c:v>52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22225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22225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  <c:pt idx="4">
                  <c:v>7</c:v>
                </c:pt>
                <c:pt idx="5">
                  <c:v>6</c:v>
                </c:pt>
                <c:pt idx="6">
                  <c:v>8</c:v>
                </c:pt>
                <c:pt idx="7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22225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  <c:pt idx="4">
                  <c:v>8</c:v>
                </c:pt>
                <c:pt idx="5">
                  <c:v>7</c:v>
                </c:pt>
                <c:pt idx="6">
                  <c:v>9</c:v>
                </c:pt>
                <c:pt idx="7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22225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  <c:pt idx="4">
                  <c:v>9</c:v>
                </c:pt>
                <c:pt idx="5">
                  <c:v>8</c:v>
                </c:pt>
                <c:pt idx="6">
                  <c:v>10</c:v>
                </c:pt>
                <c:pt idx="7">
                  <c:v>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15</c:v>
                </c:pt>
                <c:pt idx="4">
                  <c:v>14</c:v>
                </c:pt>
                <c:pt idx="5">
                  <c:v>17</c:v>
                </c:pt>
                <c:pt idx="6">
                  <c:v>19</c:v>
                </c:pt>
                <c:pt idx="7">
                  <c:v>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</c:v>
                </c:pt>
                <c:pt idx="1">
                  <c:v>16</c:v>
                </c:pt>
                <c:pt idx="2">
                  <c:v>17</c:v>
                </c:pt>
                <c:pt idx="3">
                  <c:v>19</c:v>
                </c:pt>
                <c:pt idx="4">
                  <c:v>18</c:v>
                </c:pt>
                <c:pt idx="5">
                  <c:v>21</c:v>
                </c:pt>
                <c:pt idx="6">
                  <c:v>23</c:v>
                </c:pt>
                <c:pt idx="7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15</c:v>
                </c:pt>
                <c:pt idx="4">
                  <c:v>14</c:v>
                </c:pt>
                <c:pt idx="5">
                  <c:v>17</c:v>
                </c:pt>
                <c:pt idx="6">
                  <c:v>19</c:v>
                </c:pt>
                <c:pt idx="7">
                  <c:v>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Driver 1</c:v>
                  </c:pt>
                  <c:pt idx="2">
                    <c:v>Driver 2</c:v>
                  </c:pt>
                  <c:pt idx="3">
                    <c:v>Driver 3</c:v>
                  </c:pt>
                  <c:pt idx="4">
                    <c:v>Driver 4</c:v>
                  </c:pt>
                  <c:pt idx="5">
                    <c:v>End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100</c:v>
                </c:pt>
                <c:pt idx="2">
                  <c:v>120</c:v>
                </c:pt>
                <c:pt idx="3">
                  <c:v>112</c:v>
                </c:pt>
                <c:pt idx="4">
                  <c:v>112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Driver 1</c:v>
                  </c:pt>
                  <c:pt idx="2">
                    <c:v>Driver 2</c:v>
                  </c:pt>
                  <c:pt idx="3">
                    <c:v>Driver 3</c:v>
                  </c:pt>
                  <c:pt idx="4">
                    <c:v>Driver 4</c:v>
                  </c:pt>
                  <c:pt idx="5">
                    <c:v>End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Driver 1</c:v>
                  </c:pt>
                  <c:pt idx="2">
                    <c:v>Driver 2</c:v>
                  </c:pt>
                  <c:pt idx="3">
                    <c:v>Driver 3</c:v>
                  </c:pt>
                  <c:pt idx="4">
                    <c:v>Driver 4</c:v>
                  </c:pt>
                  <c:pt idx="5">
                    <c:v>End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0</c:v>
                </c:pt>
                <c:pt idx="3">
                  <c:v>0</c:v>
                </c:pt>
                <c:pt idx="4">
                  <c:v>13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chemeClr val="accent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Driver 1</c:v>
                  </c:pt>
                  <c:pt idx="2">
                    <c:v>Driver 2</c:v>
                  </c:pt>
                  <c:pt idx="3">
                    <c:v>Driver 3</c:v>
                  </c:pt>
                  <c:pt idx="4">
                    <c:v>Driver 4</c:v>
                  </c:pt>
                  <c:pt idx="5">
                    <c:v>End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8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 1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Group 1</c:v>
                  </c:pt>
                  <c:pt idx="1">
                    <c:v>Group 2</c:v>
                  </c:pt>
                  <c:pt idx="2">
                    <c:v>Group 3</c:v>
                  </c:pt>
                  <c:pt idx="3">
                    <c:v>Group 4</c:v>
                  </c:pt>
                  <c:pt idx="4">
                    <c:v>Group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35</c:v>
                </c:pt>
                <c:pt idx="3">
                  <c:v>30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Component 2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Group 1</c:v>
                  </c:pt>
                  <c:pt idx="1">
                    <c:v>Group 2</c:v>
                  </c:pt>
                  <c:pt idx="2">
                    <c:v>Group 3</c:v>
                  </c:pt>
                  <c:pt idx="3">
                    <c:v>Group 4</c:v>
                  </c:pt>
                  <c:pt idx="4">
                    <c:v>Group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35</c:v>
                </c:pt>
                <c:pt idx="2">
                  <c:v>40</c:v>
                </c:pt>
                <c:pt idx="3">
                  <c:v>30</c:v>
                </c:pt>
                <c:pt idx="4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Component 3</c:v>
                </c:pt>
              </c:strCache>
            </c:strRef>
          </c:tx>
          <c:spPr>
            <a:solidFill>
              <a:schemeClr val="accent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Group 1</c:v>
                  </c:pt>
                  <c:pt idx="1">
                    <c:v>Group 2</c:v>
                  </c:pt>
                  <c:pt idx="2">
                    <c:v>Group 3</c:v>
                  </c:pt>
                  <c:pt idx="3">
                    <c:v>Group 4</c:v>
                  </c:pt>
                  <c:pt idx="4">
                    <c:v>Group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20</c:v>
                </c:pt>
                <c:pt idx="1">
                  <c:v>25</c:v>
                </c:pt>
                <c:pt idx="2">
                  <c:v>25</c:v>
                </c:pt>
                <c:pt idx="3">
                  <c:v>40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bubble3D val="0"/>
            <c:spPr>
              <a:solidFill>
                <a:schemeClr val="accent3"/>
              </a:solidFill>
              <a:effectLst/>
            </c:spPr>
          </c:dPt>
          <c:dPt>
            <c:idx val="2"/>
            <c:bubble3D val="0"/>
            <c:spPr>
              <a:solidFill>
                <a:schemeClr val="accent4"/>
              </a:solidFill>
              <a:effectLst/>
            </c:spPr>
          </c:dPt>
          <c:dPt>
            <c:idx val="3"/>
            <c:bubble3D val="0"/>
            <c:spPr>
              <a:solidFill>
                <a:schemeClr val="accent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bg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bubble3D val="0"/>
            <c:spPr>
              <a:solidFill>
                <a:schemeClr val="accent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Part 1</c:v>
                </c:pt>
                <c:pt idx="1">
                  <c:v>Part 2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 1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24</c:v>
                </c:pt>
                <c:pt idx="2">
                  <c:v>27</c:v>
                </c:pt>
                <c:pt idx="3">
                  <c:v>31</c:v>
                </c:pt>
                <c:pt idx="4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Component 2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13</c:v>
                </c:pt>
                <c:pt idx="2">
                  <c:v>15</c:v>
                </c:pt>
                <c:pt idx="3">
                  <c:v>15</c:v>
                </c:pt>
                <c:pt idx="4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Component 3</c:v>
                </c:pt>
              </c:strCache>
            </c:strRef>
          </c:tx>
          <c:spPr>
            <a:solidFill>
              <a:schemeClr val="accent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</c:v>
                </c:pt>
                <c:pt idx="1">
                  <c:v>8</c:v>
                </c:pt>
                <c:pt idx="2">
                  <c:v>9</c:v>
                </c:pt>
                <c:pt idx="3">
                  <c:v>11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3.5</c:v>
                </c:pt>
                <c:pt idx="3">
                  <c:v>4</c:v>
                </c:pt>
                <c:pt idx="4">
                  <c:v>5</c:v>
                </c:pt>
                <c:pt idx="5">
                  <c:v>5.5</c:v>
                </c:pt>
                <c:pt idx="6">
                  <c:v>6</c:v>
                </c:pt>
                <c:pt idx="7">
                  <c:v>7</c:v>
                </c:pt>
                <c:pt idx="8">
                  <c:v>7.5</c:v>
                </c:pt>
                <c:pt idx="9">
                  <c:v>8</c:v>
                </c:pt>
                <c:pt idx="10">
                  <c:v>9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4</c:v>
                </c:pt>
                <c:pt idx="2">
                  <c:v>3.6</c:v>
                </c:pt>
                <c:pt idx="3">
                  <c:v>5</c:v>
                </c:pt>
                <c:pt idx="4">
                  <c:v>5.2</c:v>
                </c:pt>
                <c:pt idx="5">
                  <c:v>6.4</c:v>
                </c:pt>
                <c:pt idx="6">
                  <c:v>6</c:v>
                </c:pt>
                <c:pt idx="7">
                  <c:v>7.4</c:v>
                </c:pt>
                <c:pt idx="8">
                  <c:v>6.8</c:v>
                </c:pt>
                <c:pt idx="9">
                  <c:v>8.1</c:v>
                </c:pt>
                <c:pt idx="10">
                  <c:v>8.5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 w="25400" cap="flat">
              <a:solidFill>
                <a:schemeClr val="accent3"/>
              </a:solidFill>
              <a:prstDash val="solid"/>
              <a:round/>
            </a:ln>
            <a:effectLst/>
          </c:spPr>
          <c:xVal>
            <c:numRef>
              <c:f>Sheet1!$A$2:$A$6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7</c:v>
                </c:pt>
                <c:pt idx="3">
                  <c:v>5</c:v>
                </c:pt>
                <c:pt idx="4">
                  <c:v>8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8</c:v>
                </c:pt>
                <c:pt idx="2">
                  <c:v>5</c:v>
                </c:pt>
                <c:pt idx="3">
                  <c:v>10</c:v>
                </c:pt>
                <c:pt idx="4">
                  <c:v>3</c:v>
                </c:pt>
              </c:numCache>
            </c:numRef>
          </c:bubbleSize>
          <c:bubble3D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LeaderLines val="0"/>
            </c:ext>
          </c:extLst>
        </c:dLbls>
        <c:axId val="2094734554"/>
        <c:axId val="2094734552"/>
      </c:bubble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0-10</c:v>
                  </c:pt>
                  <c:pt idx="1">
                    <c:v>10-20</c:v>
                  </c:pt>
                  <c:pt idx="2">
                    <c:v>20-30</c:v>
                  </c:pt>
                  <c:pt idx="3">
                    <c:v>30-40</c:v>
                  </c:pt>
                  <c:pt idx="4">
                    <c:v>40-50</c:v>
                  </c:pt>
                  <c:pt idx="5">
                    <c:v>50-60</c:v>
                  </c:pt>
                  <c:pt idx="6">
                    <c:v>60-70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8</c:v>
                </c:pt>
                <c:pt idx="2">
                  <c:v>15</c:v>
                </c:pt>
                <c:pt idx="3">
                  <c:v>22</c:v>
                </c:pt>
                <c:pt idx="4">
                  <c:v>14</c:v>
                </c:pt>
                <c:pt idx="5">
                  <c:v>7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Cause 1</c:v>
                  </c:pt>
                  <c:pt idx="1">
                    <c:v>Cause 2</c:v>
                  </c:pt>
                  <c:pt idx="2">
                    <c:v>Cause 3</c:v>
                  </c:pt>
                  <c:pt idx="3">
                    <c:v>Cause 4</c:v>
                  </c:pt>
                  <c:pt idx="4">
                    <c:v>Cause 5</c:v>
                  </c:pt>
                  <c:pt idx="5">
                    <c:v>Cause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26</c:v>
                </c:pt>
                <c:pt idx="2">
                  <c:v>14</c:v>
                </c:pt>
                <c:pt idx="3">
                  <c:v>9</c:v>
                </c:pt>
                <c:pt idx="4">
                  <c:v>6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Cause 1</c:v>
                  </c:pt>
                  <c:pt idx="1">
                    <c:v>Cause 2</c:v>
                  </c:pt>
                  <c:pt idx="2">
                    <c:v>Cause 3</c:v>
                  </c:pt>
                  <c:pt idx="3">
                    <c:v>Cause 4</c:v>
                  </c:pt>
                  <c:pt idx="4">
                    <c:v>Cause 5</c:v>
                  </c:pt>
                  <c:pt idx="5">
                    <c:v>Cause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</c:v>
                </c:pt>
                <c:pt idx="1">
                  <c:v>68</c:v>
                </c:pt>
                <c:pt idx="2">
                  <c:v>82</c:v>
                </c:pt>
                <c:pt idx="3">
                  <c:v>91</c:v>
                </c:pt>
                <c:pt idx="4">
                  <c:v>97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00"/>
          <c:min val="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tx2"/>
              </a:solidFill>
              <a:latin typeface="+mn-lt"/>
              <a:cs typeface="+mn-c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bubble3D val="0"/>
            <c:spPr>
              <a:solidFill>
                <a:schemeClr val="accent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bg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bubble3D val="0"/>
            <c:spPr>
              <a:solidFill>
                <a:schemeClr val="accent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bg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48</c:v>
                </c:pt>
                <c:pt idx="1">
                  <c:v>52</c:v>
                </c:pt>
              </c:numCache>
            </c:numRef>
          </c:val>
        </c:ser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bubble3D val="0"/>
            <c:spPr>
              <a:solidFill>
                <a:schemeClr val="accent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bg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  <c:pt idx="11">
                    <c:v>P12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14</c:v>
                </c:pt>
                <c:pt idx="2">
                  <c:v>13</c:v>
                </c:pt>
                <c:pt idx="3">
                  <c:v>15</c:v>
                </c:pt>
                <c:pt idx="4">
                  <c:v>16</c:v>
                </c:pt>
                <c:pt idx="5">
                  <c:v>15</c:v>
                </c:pt>
                <c:pt idx="6">
                  <c:v>18</c:v>
                </c:pt>
                <c:pt idx="7">
                  <c:v>19</c:v>
                </c:pt>
                <c:pt idx="8">
                  <c:v>21</c:v>
                </c:pt>
                <c:pt idx="9">
                  <c:v>20</c:v>
                </c:pt>
                <c:pt idx="10">
                  <c:v>23</c:v>
                </c:pt>
                <c:pt idx="11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bubble3D val="0"/>
            <c:spPr>
              <a:solidFill>
                <a:schemeClr val="accent6"/>
              </a:solidFill>
              <a:effectLst/>
            </c:spPr>
          </c:dPt>
          <c:dPt>
            <c:idx val="2"/>
            <c:bubble3D val="0"/>
            <c:spPr>
              <a:noFill/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bg1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Value</c:v>
                </c:pt>
                <c:pt idx="1">
                  <c:v>Rest</c:v>
                </c:pt>
                <c:pt idx="2">
                  <c:v>Hidden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65</c:v>
                </c:pt>
                <c:pt idx="1">
                  <c:v>35</c:v>
                </c:pt>
                <c:pt idx="2">
                  <c:v>100</c:v>
                </c:pt>
              </c:numCache>
            </c:numRef>
          </c:val>
        </c:ser>
        <c:firstSliceAng val="27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Task 1</c:v>
                  </c:pt>
                  <c:pt idx="1">
                    <c:v>Task 2</c:v>
                  </c:pt>
                  <c:pt idx="2">
                    <c:v>Task 3</c:v>
                  </c:pt>
                  <c:pt idx="3">
                    <c:v>Task 4</c:v>
                  </c:pt>
                  <c:pt idx="4">
                    <c:v>Task 5</c:v>
                  </c:pt>
                  <c:pt idx="5">
                    <c:v>Task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Task 1</c:v>
                  </c:pt>
                  <c:pt idx="1">
                    <c:v>Task 2</c:v>
                  </c:pt>
                  <c:pt idx="2">
                    <c:v>Task 3</c:v>
                  </c:pt>
                  <c:pt idx="3">
                    <c:v>Task 4</c:v>
                  </c:pt>
                  <c:pt idx="4">
                    <c:v>Task 5</c:v>
                  </c:pt>
                  <c:pt idx="5">
                    <c:v>Task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chart" Target="/ppt/charts/chart12.xml"/><Relationship Id="rId4" Type="http://schemas.openxmlformats.org/officeDocument/2006/relationships/chart" Target="/ppt/charts/chart1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chart" Target="/ppt/charts/chart1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chart" Target="/ppt/charts/chart27.xml"/><Relationship Id="rId3" Type="http://schemas.openxmlformats.org/officeDocument/2006/relationships/chart" Target="/ppt/charts/chart2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V-CMP-01  ·  Ranked bars</a:t>
            </a:r>
            <a:endParaRPr lang="en-US" sz="1000" dirty="0"/>
          </a:p>
        </p:txBody>
      </p:sp>
      <p:grpSp>
        <p:nvGrpSpPr>
          <p:cNvPr id="5" name="V-CMP-01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V-CMP-02  ·  Two periods</a:t>
            </a:r>
            <a:endParaRPr lang="en-US" sz="1000" dirty="0"/>
          </a:p>
        </p:txBody>
      </p:sp>
      <p:grpSp>
        <p:nvGrpSpPr>
          <p:cNvPr id="5" name="V-CMP-02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V-CMP-03  ·  Progress to target</a:t>
            </a:r>
            <a:endParaRPr lang="en-US" sz="1000" dirty="0"/>
          </a:p>
        </p:txBody>
      </p:sp>
      <p:grpSp>
        <p:nvGrpSpPr>
          <p:cNvPr id="5" name="V-CMP-03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V-CMP-04  ·  Sensitivity tornado</a:t>
            </a:r>
            <a:endParaRPr lang="en-US" sz="1000" dirty="0"/>
          </a:p>
        </p:txBody>
      </p:sp>
      <p:grpSp>
        <p:nvGrpSpPr>
          <p:cNvPr id="5" name="V-CMP-04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V-CMP-05  ·  Slope chart</a:t>
            </a:r>
            <a:endParaRPr lang="en-US" sz="1000" dirty="0"/>
          </a:p>
        </p:txBody>
      </p:sp>
      <p:grpSp>
        <p:nvGrpSpPr>
          <p:cNvPr id="5" name="V-CMP-05"/>
          <p:cNvGrpSpPr/>
          <p:nvPr/>
        </p:nvGrpSpPr>
        <p:grpSpPr>
          <a:xfrm>
            <a:off x="548640" y="1097280"/>
            <a:ext cx="5394960" cy="3840480"/>
            <a:chOff x="548640" y="1097280"/>
            <a:chExt cx="5394960" cy="384048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5394960" cy="352044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663440"/>
              <a:ext cx="5394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V-CMP-06  ·  Scored comparison</a:t>
            </a:r>
            <a:endParaRPr lang="en-US" sz="1000" dirty="0"/>
          </a:p>
        </p:txBody>
      </p:sp>
      <p:grpSp>
        <p:nvGrpSpPr>
          <p:cNvPr id="39" name="V-CMP-06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Option 1"/>
            <p:cNvSpPr/>
            <p:nvPr/>
          </p:nvSpPr>
          <p:spPr>
            <a:xfrm>
              <a:off x="3840480" y="1097280"/>
              <a:ext cx="195064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Option A</a:t>
              </a:r>
              <a:endParaRPr lang="en-US" sz="1200" dirty="0"/>
            </a:p>
          </p:txBody>
        </p:sp>
        <p:sp>
          <p:nvSpPr>
            <p:cNvPr id="4" name="Option 2"/>
            <p:cNvSpPr/>
            <p:nvPr/>
          </p:nvSpPr>
          <p:spPr>
            <a:xfrm>
              <a:off x="5791124" y="1097280"/>
              <a:ext cx="195064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Option B</a:t>
              </a:r>
              <a:endParaRPr lang="en-US" sz="1200" dirty="0"/>
            </a:p>
          </p:txBody>
        </p:sp>
        <p:sp>
          <p:nvSpPr>
            <p:cNvPr id="5" name="Option 3"/>
            <p:cNvSpPr/>
            <p:nvPr/>
          </p:nvSpPr>
          <p:spPr>
            <a:xfrm>
              <a:off x="7741768" y="1097280"/>
              <a:ext cx="195064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Option C</a:t>
              </a:r>
              <a:endParaRPr lang="en-US" sz="1200" dirty="0"/>
            </a:p>
          </p:txBody>
        </p:sp>
        <p:sp>
          <p:nvSpPr>
            <p:cNvPr id="6" name="Option 4"/>
            <p:cNvSpPr/>
            <p:nvPr/>
          </p:nvSpPr>
          <p:spPr>
            <a:xfrm>
              <a:off x="9692411" y="1097280"/>
              <a:ext cx="195064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Option D</a:t>
              </a:r>
              <a:endParaRPr lang="en-US" sz="1200" dirty="0"/>
            </a:p>
          </p:txBody>
        </p:sp>
        <p:sp>
          <p:nvSpPr>
            <p:cNvPr id="7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600200"/>
              <a:ext cx="11094415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</p:sp>
        <p:sp>
          <p:nvSpPr>
            <p:cNvPr id="8" name="Criterion 1"/>
            <p:cNvSpPr/>
            <p:nvPr/>
          </p:nvSpPr>
          <p:spPr>
            <a:xfrm>
              <a:off x="548640" y="1645920"/>
              <a:ext cx="310896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Criterion 1</a:t>
              </a:r>
              <a:endParaRPr lang="en-US" sz="1200" dirty="0"/>
            </a:p>
          </p:txBody>
        </p:sp>
        <p:sp>
          <p:nvSpPr>
            <p:cNvPr id="9" name="Score 1-1"/>
            <p:cNvSpPr/>
            <p:nvPr/>
          </p:nvSpPr>
          <p:spPr>
            <a:xfrm>
              <a:off x="4642066" y="1805940"/>
              <a:ext cx="347472" cy="347472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0" name="Score 1-2"/>
            <p:cNvSpPr/>
            <p:nvPr/>
          </p:nvSpPr>
          <p:spPr>
            <a:xfrm>
              <a:off x="6592710" y="1805940"/>
              <a:ext cx="347472" cy="347472"/>
            </a:xfrm>
            <a:prstGeom prst="ellipse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1" name="Score 1-3"/>
            <p:cNvSpPr/>
            <p:nvPr/>
          </p:nvSpPr>
          <p:spPr>
            <a:xfrm>
              <a:off x="8543354" y="1805940"/>
              <a:ext cx="347472" cy="347472"/>
            </a:xfrm>
            <a:prstGeom prst="ellipse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2" name="Score 1-4"/>
            <p:cNvSpPr/>
            <p:nvPr/>
          </p:nvSpPr>
          <p:spPr>
            <a:xfrm>
              <a:off x="10493997" y="1805940"/>
              <a:ext cx="347472" cy="347472"/>
            </a:xfrm>
            <a:prstGeom prst="ellipse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3" name="Criterion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313432"/>
              <a:ext cx="11094415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4" name="Criterion 2"/>
            <p:cNvSpPr/>
            <p:nvPr/>
          </p:nvSpPr>
          <p:spPr>
            <a:xfrm>
              <a:off x="548640" y="2313432"/>
              <a:ext cx="310896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Criterion 2</a:t>
              </a:r>
              <a:endParaRPr lang="en-US" sz="1200" dirty="0"/>
            </a:p>
          </p:txBody>
        </p:sp>
        <p:sp>
          <p:nvSpPr>
            <p:cNvPr id="15" name="Score 2-1"/>
            <p:cNvSpPr/>
            <p:nvPr/>
          </p:nvSpPr>
          <p:spPr>
            <a:xfrm>
              <a:off x="4642066" y="2473452"/>
              <a:ext cx="347472" cy="347472"/>
            </a:xfrm>
            <a:prstGeom prst="ellipse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6" name="Score 2-2"/>
            <p:cNvSpPr/>
            <p:nvPr/>
          </p:nvSpPr>
          <p:spPr>
            <a:xfrm>
              <a:off x="6592710" y="2473452"/>
              <a:ext cx="347472" cy="347472"/>
            </a:xfrm>
            <a:prstGeom prst="ellipse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7" name="Score 2-3"/>
            <p:cNvSpPr/>
            <p:nvPr/>
          </p:nvSpPr>
          <p:spPr>
            <a:xfrm>
              <a:off x="8543354" y="2473452"/>
              <a:ext cx="347472" cy="347472"/>
            </a:xfrm>
            <a:prstGeom prst="ellipse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8" name="Score 2-4"/>
            <p:cNvSpPr/>
            <p:nvPr/>
          </p:nvSpPr>
          <p:spPr>
            <a:xfrm>
              <a:off x="10493997" y="2473452"/>
              <a:ext cx="347472" cy="347472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9" name="Criterion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980944"/>
              <a:ext cx="11094415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0" name="Criterion 3"/>
            <p:cNvSpPr/>
            <p:nvPr/>
          </p:nvSpPr>
          <p:spPr>
            <a:xfrm>
              <a:off x="548640" y="2980944"/>
              <a:ext cx="310896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Criterion 3</a:t>
              </a:r>
              <a:endParaRPr lang="en-US" sz="1200" dirty="0"/>
            </a:p>
          </p:txBody>
        </p:sp>
        <p:sp>
          <p:nvSpPr>
            <p:cNvPr id="21" name="Score 3-1"/>
            <p:cNvSpPr/>
            <p:nvPr/>
          </p:nvSpPr>
          <p:spPr>
            <a:xfrm>
              <a:off x="4642066" y="3140964"/>
              <a:ext cx="347472" cy="347472"/>
            </a:xfrm>
            <a:prstGeom prst="ellipse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22" name="Score 3-2"/>
            <p:cNvSpPr/>
            <p:nvPr/>
          </p:nvSpPr>
          <p:spPr>
            <a:xfrm>
              <a:off x="6592710" y="3140964"/>
              <a:ext cx="347472" cy="347472"/>
            </a:xfrm>
            <a:prstGeom prst="ellipse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23" name="Score 3-3"/>
            <p:cNvSpPr/>
            <p:nvPr/>
          </p:nvSpPr>
          <p:spPr>
            <a:xfrm>
              <a:off x="8543354" y="3140964"/>
              <a:ext cx="347472" cy="347472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24" name="Score 3-4"/>
            <p:cNvSpPr/>
            <p:nvPr/>
          </p:nvSpPr>
          <p:spPr>
            <a:xfrm>
              <a:off x="10493997" y="3140964"/>
              <a:ext cx="347472" cy="347472"/>
            </a:xfrm>
            <a:prstGeom prst="ellipse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25" name="Criterion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648456"/>
              <a:ext cx="11094415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6" name="Criterion 4"/>
            <p:cNvSpPr/>
            <p:nvPr/>
          </p:nvSpPr>
          <p:spPr>
            <a:xfrm>
              <a:off x="548640" y="3648456"/>
              <a:ext cx="310896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Criterion 4</a:t>
              </a:r>
              <a:endParaRPr lang="en-US" sz="1200" dirty="0"/>
            </a:p>
          </p:txBody>
        </p:sp>
        <p:sp>
          <p:nvSpPr>
            <p:cNvPr id="27" name="Score 4-1"/>
            <p:cNvSpPr/>
            <p:nvPr/>
          </p:nvSpPr>
          <p:spPr>
            <a:xfrm>
              <a:off x="4642066" y="3808476"/>
              <a:ext cx="347472" cy="347472"/>
            </a:xfrm>
            <a:prstGeom prst="ellipse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28" name="Score 4-2"/>
            <p:cNvSpPr/>
            <p:nvPr/>
          </p:nvSpPr>
          <p:spPr>
            <a:xfrm>
              <a:off x="6592710" y="3808476"/>
              <a:ext cx="347472" cy="347472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29" name="Score 4-3"/>
            <p:cNvSpPr/>
            <p:nvPr/>
          </p:nvSpPr>
          <p:spPr>
            <a:xfrm>
              <a:off x="8543354" y="3808476"/>
              <a:ext cx="347472" cy="347472"/>
            </a:xfrm>
            <a:prstGeom prst="ellipse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30" name="Score 4-4"/>
            <p:cNvSpPr/>
            <p:nvPr/>
          </p:nvSpPr>
          <p:spPr>
            <a:xfrm>
              <a:off x="10493997" y="3808476"/>
              <a:ext cx="347472" cy="347472"/>
            </a:xfrm>
            <a:prstGeom prst="ellipse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31" name="Criterion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315968"/>
              <a:ext cx="11094415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32" name="Criterion 5"/>
            <p:cNvSpPr/>
            <p:nvPr/>
          </p:nvSpPr>
          <p:spPr>
            <a:xfrm>
              <a:off x="548640" y="4315968"/>
              <a:ext cx="310896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Criterion 5</a:t>
              </a:r>
              <a:endParaRPr lang="en-US" sz="1200" dirty="0"/>
            </a:p>
          </p:txBody>
        </p:sp>
        <p:sp>
          <p:nvSpPr>
            <p:cNvPr id="33" name="Score 5-1"/>
            <p:cNvSpPr/>
            <p:nvPr/>
          </p:nvSpPr>
          <p:spPr>
            <a:xfrm>
              <a:off x="4642066" y="4475988"/>
              <a:ext cx="347472" cy="347472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34" name="Score 5-2"/>
            <p:cNvSpPr/>
            <p:nvPr/>
          </p:nvSpPr>
          <p:spPr>
            <a:xfrm>
              <a:off x="6592710" y="4475988"/>
              <a:ext cx="347472" cy="347472"/>
            </a:xfrm>
            <a:prstGeom prst="ellipse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35" name="Score 5-3"/>
            <p:cNvSpPr/>
            <p:nvPr/>
          </p:nvSpPr>
          <p:spPr>
            <a:xfrm>
              <a:off x="8543354" y="4475988"/>
              <a:ext cx="347472" cy="347472"/>
            </a:xfrm>
            <a:prstGeom prst="ellipse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36" name="Score 5-4"/>
            <p:cNvSpPr/>
            <p:nvPr/>
          </p:nvSpPr>
          <p:spPr>
            <a:xfrm>
              <a:off x="10493997" y="4475988"/>
              <a:ext cx="347472" cy="347472"/>
            </a:xfrm>
            <a:prstGeom prst="ellipse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37" name="Criterion 5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983480"/>
              <a:ext cx="11094415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38" name="Note"/>
            <p:cNvSpPr/>
            <p:nvPr/>
          </p:nvSpPr>
          <p:spPr>
            <a:xfrm>
              <a:off x="548640" y="5001768"/>
              <a:ext cx="11094415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Scale: black = strong, light grey = weak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V-EVO-01  ·  Line with annotation</a:t>
            </a:r>
            <a:endParaRPr lang="en-US" sz="1000" dirty="0"/>
          </a:p>
        </p:txBody>
      </p:sp>
      <p:grpSp>
        <p:nvGrpSpPr>
          <p:cNvPr id="7" name="V-EVO-01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21708" y="1417320"/>
              <a:ext cx="45720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5" name="Callout"/>
            <p:cNvSpPr/>
            <p:nvPr/>
          </p:nvSpPr>
          <p:spPr>
            <a:xfrm>
              <a:off x="4521708" y="1508760"/>
              <a:ext cx="216712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happened at this point</a:t>
              </a:r>
              <a:endParaRPr lang="en-US" sz="1200" dirty="0"/>
            </a:p>
          </p:txBody>
        </p:sp>
        <p:sp>
          <p:nvSpPr>
            <p:cNvPr id="6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V-EVO-02  ·  Stacked area</a:t>
            </a:r>
            <a:endParaRPr lang="en-US" sz="1000" dirty="0"/>
          </a:p>
        </p:txBody>
      </p:sp>
      <p:grpSp>
        <p:nvGrpSpPr>
          <p:cNvPr id="5" name="V-EVO-02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V-EVO-03  ·  Columns and line</a:t>
            </a:r>
            <a:endParaRPr lang="en-US" sz="1000" dirty="0"/>
          </a:p>
        </p:txBody>
      </p:sp>
      <p:grpSp>
        <p:nvGrpSpPr>
          <p:cNvPr id="5" name="V-EVO-03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V-EVO-04  ·  Plan versus actual</a:t>
            </a:r>
            <a:endParaRPr lang="en-US" sz="1000" dirty="0"/>
          </a:p>
        </p:txBody>
      </p:sp>
      <p:grpSp>
        <p:nvGrpSpPr>
          <p:cNvPr id="5" name="V-EVO-04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V-EVO-05  ·  Trend table</a:t>
            </a:r>
            <a:endParaRPr lang="en-US" sz="1000" dirty="0"/>
          </a:p>
        </p:txBody>
      </p:sp>
      <p:grpSp>
        <p:nvGrpSpPr>
          <p:cNvPr id="23" name="V-EVO-05"/>
          <p:cNvGrpSpPr/>
          <p:nvPr/>
        </p:nvGrpSpPr>
        <p:grpSpPr>
          <a:xfrm>
            <a:off x="548640" y="1097280"/>
            <a:ext cx="7223760" cy="3977731"/>
            <a:chOff x="548640" y="1097280"/>
            <a:chExt cx="7223760" cy="3977731"/>
          </a:xfrm>
        </p:grpSpPr>
        <p:sp>
          <p:nvSpPr>
            <p:cNvPr id="3" name="Header 1"/>
            <p:cNvSpPr/>
            <p:nvPr/>
          </p:nvSpPr>
          <p:spPr>
            <a:xfrm>
              <a:off x="548640" y="1097280"/>
              <a:ext cx="28895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Indicator</a:t>
              </a:r>
              <a:endParaRPr lang="en-US" sz="1000" dirty="0"/>
            </a:p>
          </p:txBody>
        </p:sp>
        <p:sp>
          <p:nvSpPr>
            <p:cNvPr id="4" name="Header 2"/>
            <p:cNvSpPr/>
            <p:nvPr/>
          </p:nvSpPr>
          <p:spPr>
            <a:xfrm>
              <a:off x="3438144" y="1097280"/>
              <a:ext cx="14447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Current</a:t>
              </a:r>
              <a:endParaRPr lang="en-US" sz="1000" dirty="0"/>
            </a:p>
          </p:txBody>
        </p:sp>
        <p:sp>
          <p:nvSpPr>
            <p:cNvPr id="5" name="Header 3"/>
            <p:cNvSpPr/>
            <p:nvPr/>
          </p:nvSpPr>
          <p:spPr>
            <a:xfrm>
              <a:off x="5027371" y="1097280"/>
              <a:ext cx="274502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Trend</a:t>
              </a:r>
              <a:endParaRPr lang="en-US" sz="1000" dirty="0"/>
            </a:p>
          </p:txBody>
        </p:sp>
        <p:sp>
          <p:nvSpPr>
            <p:cNvPr id="6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417320"/>
              <a:ext cx="7223760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</p:sp>
        <p:sp>
          <p:nvSpPr>
            <p:cNvPr id="7" name="Indicator 1"/>
            <p:cNvSpPr/>
            <p:nvPr/>
          </p:nvSpPr>
          <p:spPr>
            <a:xfrm>
              <a:off x="548640" y="1463040"/>
              <a:ext cx="2745029" cy="9029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Indicator name</a:t>
              </a:r>
              <a:endParaRPr lang="en-US" sz="1200" dirty="0"/>
            </a:p>
          </p:txBody>
        </p:sp>
        <p:sp>
          <p:nvSpPr>
            <p:cNvPr id="8" name="Value 1"/>
            <p:cNvSpPr/>
            <p:nvPr/>
          </p:nvSpPr>
          <p:spPr>
            <a:xfrm>
              <a:off x="3438144" y="1463040"/>
              <a:ext cx="1444752" cy="9029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2000" dirty="0"/>
            </a:p>
          </p:txBody>
        </p:sp>
        <p:graphicFrame>
          <p:nvGraphicFramePr>
            <p:cNvPr id="9" name="Trend 1" descr=""/>
            <p:cNvGraphicFramePr/>
            <p:nvPr/>
          </p:nvGraphicFramePr>
          <p:xfrm>
            <a:off x="5027371" y="1536192"/>
            <a:ext cx="2745029" cy="756666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10" name="Indicator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36601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1" name="Indicator 2"/>
            <p:cNvSpPr/>
            <p:nvPr/>
          </p:nvSpPr>
          <p:spPr>
            <a:xfrm>
              <a:off x="548640" y="2366010"/>
              <a:ext cx="2745029" cy="9029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Indicator name</a:t>
              </a:r>
              <a:endParaRPr lang="en-US" sz="1200" dirty="0"/>
            </a:p>
          </p:txBody>
        </p:sp>
        <p:sp>
          <p:nvSpPr>
            <p:cNvPr id="12" name="Value 2"/>
            <p:cNvSpPr/>
            <p:nvPr/>
          </p:nvSpPr>
          <p:spPr>
            <a:xfrm>
              <a:off x="3438144" y="2366010"/>
              <a:ext cx="1444752" cy="9029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2000" dirty="0"/>
            </a:p>
          </p:txBody>
        </p:sp>
        <p:graphicFrame>
          <p:nvGraphicFramePr>
            <p:cNvPr id="13" name="Trend 2" descr=""/>
            <p:cNvGraphicFramePr/>
            <p:nvPr/>
          </p:nvGraphicFramePr>
          <p:xfrm>
            <a:off x="5027371" y="2439162"/>
            <a:ext cx="2745029" cy="756666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4" name="Indicator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26898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5" name="Indicator 3"/>
            <p:cNvSpPr/>
            <p:nvPr/>
          </p:nvSpPr>
          <p:spPr>
            <a:xfrm>
              <a:off x="548640" y="3268980"/>
              <a:ext cx="2745029" cy="9029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Indicator name</a:t>
              </a:r>
              <a:endParaRPr lang="en-US" sz="1200" dirty="0"/>
            </a:p>
          </p:txBody>
        </p:sp>
        <p:sp>
          <p:nvSpPr>
            <p:cNvPr id="16" name="Value 3"/>
            <p:cNvSpPr/>
            <p:nvPr/>
          </p:nvSpPr>
          <p:spPr>
            <a:xfrm>
              <a:off x="3438144" y="3268980"/>
              <a:ext cx="1444752" cy="9029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2000" dirty="0"/>
            </a:p>
          </p:txBody>
        </p:sp>
        <p:graphicFrame>
          <p:nvGraphicFramePr>
            <p:cNvPr id="17" name="Trend 3" descr=""/>
            <p:cNvGraphicFramePr/>
            <p:nvPr/>
          </p:nvGraphicFramePr>
          <p:xfrm>
            <a:off x="5027371" y="3342132"/>
            <a:ext cx="2745029" cy="756666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  <p:sp>
          <p:nvSpPr>
            <p:cNvPr id="18" name="Indicator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17195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9" name="Indicator 4"/>
            <p:cNvSpPr/>
            <p:nvPr/>
          </p:nvSpPr>
          <p:spPr>
            <a:xfrm>
              <a:off x="548640" y="4171950"/>
              <a:ext cx="2745029" cy="9029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Indicator name</a:t>
              </a:r>
              <a:endParaRPr lang="en-US" sz="1200" dirty="0"/>
            </a:p>
          </p:txBody>
        </p:sp>
        <p:sp>
          <p:nvSpPr>
            <p:cNvPr id="20" name="Value 4"/>
            <p:cNvSpPr/>
            <p:nvPr/>
          </p:nvSpPr>
          <p:spPr>
            <a:xfrm>
              <a:off x="3438144" y="4171950"/>
              <a:ext cx="1444752" cy="9029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2000" dirty="0"/>
            </a:p>
          </p:txBody>
        </p:sp>
        <p:graphicFrame>
          <p:nvGraphicFramePr>
            <p:cNvPr id="21" name="Trend 4" descr=""/>
            <p:cNvGraphicFramePr/>
            <p:nvPr/>
          </p:nvGraphicFramePr>
          <p:xfrm>
            <a:off x="5027371" y="4245102"/>
            <a:ext cx="2745029" cy="756666"/>
          </p:xfrm>
          <a:graphic>
            <a:graphicData uri="http://schemas.openxmlformats.org/drawingml/2006/chart">
              <c:chart xmlns:c="http://schemas.openxmlformats.org/drawingml/2006/chart" r:id="rId4"/>
            </a:graphicData>
          </a:graphic>
        </p:graphicFrame>
        <p:sp>
          <p:nvSpPr>
            <p:cNvPr id="22" name="Indicator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507492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V-EVO-06  ·  Small multiples</a:t>
            </a:r>
            <a:endParaRPr lang="en-US" sz="1000" dirty="0"/>
          </a:p>
        </p:txBody>
      </p:sp>
      <p:grpSp>
        <p:nvGrpSpPr>
          <p:cNvPr id="13" name="V-EVO-06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Heading 1"/>
            <p:cNvSpPr/>
            <p:nvPr/>
          </p:nvSpPr>
          <p:spPr>
            <a:xfrm>
              <a:off x="548640" y="1097280"/>
              <a:ext cx="348477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Segment 1</a:t>
              </a:r>
              <a:endParaRPr lang="en-US" sz="1200" dirty="0"/>
            </a:p>
          </p:txBody>
        </p:sp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463040"/>
              <a:ext cx="3484778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graphicFrame>
          <p:nvGraphicFramePr>
            <p:cNvPr id="5" name="Panel 1" descr=""/>
            <p:cNvGraphicFramePr/>
            <p:nvPr/>
          </p:nvGraphicFramePr>
          <p:xfrm>
            <a:off x="548640" y="1554480"/>
            <a:ext cx="3484778" cy="33832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6" name="Heading 2"/>
            <p:cNvSpPr/>
            <p:nvPr/>
          </p:nvSpPr>
          <p:spPr>
            <a:xfrm>
              <a:off x="4353458" y="1097280"/>
              <a:ext cx="348477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Segment 2</a:t>
              </a:r>
              <a:endParaRPr lang="en-US" sz="1200" dirty="0"/>
            </a:p>
          </p:txBody>
        </p:sp>
        <p:sp>
          <p:nvSpPr>
            <p:cNvPr id="7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53458" y="1463040"/>
              <a:ext cx="3484778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graphicFrame>
          <p:nvGraphicFramePr>
            <p:cNvPr id="8" name="Panel 2" descr=""/>
            <p:cNvGraphicFramePr/>
            <p:nvPr/>
          </p:nvGraphicFramePr>
          <p:xfrm>
            <a:off x="4353458" y="1554480"/>
            <a:ext cx="3484778" cy="338328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9" name="Heading 3"/>
            <p:cNvSpPr/>
            <p:nvPr/>
          </p:nvSpPr>
          <p:spPr>
            <a:xfrm>
              <a:off x="8158277" y="1097280"/>
              <a:ext cx="348477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Segment 3</a:t>
              </a:r>
              <a:endParaRPr lang="en-US" sz="1200" dirty="0"/>
            </a:p>
          </p:txBody>
        </p:sp>
        <p:sp>
          <p:nvSpPr>
            <p:cNvPr id="10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58277" y="1463040"/>
              <a:ext cx="3484778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graphicFrame>
          <p:nvGraphicFramePr>
            <p:cNvPr id="11" name="Panel 3" descr=""/>
            <p:cNvGraphicFramePr/>
            <p:nvPr/>
          </p:nvGraphicFramePr>
          <p:xfrm>
            <a:off x="8158277" y="1554480"/>
            <a:ext cx="3484778" cy="3383280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  <p:sp>
          <p:nvSpPr>
            <p:cNvPr id="12" name="Source"/>
            <p:cNvSpPr/>
            <p:nvPr/>
          </p:nvSpPr>
          <p:spPr>
            <a:xfrm>
              <a:off x="548640" y="4983480"/>
              <a:ext cx="1109441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V-COM-01  ·  Waterfall bridge</a:t>
            </a:r>
            <a:endParaRPr lang="en-US" sz="1000" dirty="0"/>
          </a:p>
        </p:txBody>
      </p:sp>
      <p:grpSp>
        <p:nvGrpSpPr>
          <p:cNvPr id="5" name="V-COM-01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V-COM-02  ·  Mix bars</a:t>
            </a:r>
            <a:endParaRPr lang="en-US" sz="1000" dirty="0"/>
          </a:p>
        </p:txBody>
      </p:sp>
      <p:grpSp>
        <p:nvGrpSpPr>
          <p:cNvPr id="5" name="V-COM-02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V-COM-03  ·  Donut with total</a:t>
            </a:r>
            <a:endParaRPr lang="en-US" sz="1000" dirty="0"/>
          </a:p>
        </p:txBody>
      </p:sp>
      <p:grpSp>
        <p:nvGrpSpPr>
          <p:cNvPr id="7" name="V-COM-03"/>
          <p:cNvGrpSpPr/>
          <p:nvPr/>
        </p:nvGrpSpPr>
        <p:grpSpPr>
          <a:xfrm>
            <a:off x="548640" y="1097280"/>
            <a:ext cx="5394960" cy="3840480"/>
            <a:chOff x="548640" y="1097280"/>
            <a:chExt cx="5394960" cy="384048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5394960" cy="352044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Total"/>
            <p:cNvSpPr/>
            <p:nvPr/>
          </p:nvSpPr>
          <p:spPr>
            <a:xfrm>
              <a:off x="2423160" y="2473452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24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000</a:t>
              </a:r>
              <a:endParaRPr lang="en-US" sz="2400" dirty="0"/>
            </a:p>
          </p:txBody>
        </p:sp>
        <p:sp>
          <p:nvSpPr>
            <p:cNvPr id="5" name="Total label"/>
            <p:cNvSpPr/>
            <p:nvPr/>
          </p:nvSpPr>
          <p:spPr>
            <a:xfrm>
              <a:off x="2423160" y="2967228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Total</a:t>
              </a:r>
              <a:endParaRPr lang="en-US" sz="1000" dirty="0"/>
            </a:p>
          </p:txBody>
        </p:sp>
        <p:sp>
          <p:nvSpPr>
            <p:cNvPr id="6" name="Source"/>
            <p:cNvSpPr/>
            <p:nvPr/>
          </p:nvSpPr>
          <p:spPr>
            <a:xfrm>
              <a:off x="548640" y="4663440"/>
              <a:ext cx="5394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V-COM-04  ·  Simple pie</a:t>
            </a:r>
            <a:endParaRPr lang="en-US" sz="1000" dirty="0"/>
          </a:p>
        </p:txBody>
      </p:sp>
      <p:grpSp>
        <p:nvGrpSpPr>
          <p:cNvPr id="5" name="V-COM-04"/>
          <p:cNvGrpSpPr/>
          <p:nvPr/>
        </p:nvGrpSpPr>
        <p:grpSpPr>
          <a:xfrm>
            <a:off x="548640" y="1097280"/>
            <a:ext cx="5394960" cy="3840480"/>
            <a:chOff x="548640" y="1097280"/>
            <a:chExt cx="5394960" cy="384048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5394960" cy="352044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663440"/>
              <a:ext cx="5394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V-COM-05  ·  Funnel</a:t>
            </a:r>
            <a:endParaRPr lang="en-US" sz="1000" dirty="0"/>
          </a:p>
        </p:txBody>
      </p:sp>
      <p:grpSp>
        <p:nvGrpSpPr>
          <p:cNvPr id="23" name="V-COM-05"/>
          <p:cNvGrpSpPr/>
          <p:nvPr/>
        </p:nvGrpSpPr>
        <p:grpSpPr>
          <a:xfrm>
            <a:off x="548640" y="1133856"/>
            <a:ext cx="7223760" cy="4123944"/>
            <a:chOff x="548640" y="1133856"/>
            <a:chExt cx="7223760" cy="4123944"/>
          </a:xfrm>
        </p:grpSpPr>
        <p:sp>
          <p:nvSpPr>
            <p:cNvPr id="3" name="Stage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133856"/>
              <a:ext cx="3973068" cy="667512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4" name="Value 1"/>
            <p:cNvSpPr/>
            <p:nvPr/>
          </p:nvSpPr>
          <p:spPr>
            <a:xfrm>
              <a:off x="548640" y="1133856"/>
              <a:ext cx="3973068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1600" dirty="0"/>
            </a:p>
          </p:txBody>
        </p:sp>
        <p:sp>
          <p:nvSpPr>
            <p:cNvPr id="5" name="Stage 1"/>
            <p:cNvSpPr/>
            <p:nvPr/>
          </p:nvSpPr>
          <p:spPr>
            <a:xfrm>
              <a:off x="4796028" y="1133856"/>
              <a:ext cx="180594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1</a:t>
              </a:r>
              <a:endParaRPr lang="en-US" sz="1200" dirty="0"/>
            </a:p>
          </p:txBody>
        </p:sp>
        <p:sp>
          <p:nvSpPr>
            <p:cNvPr id="6" name="Stage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6485" y="1874520"/>
              <a:ext cx="3337377" cy="667512"/>
            </a:xfrm>
            <a:prstGeom prst="rect">
              <a:avLst/>
            </a:prstGeom>
            <a:solidFill>
              <a:schemeClr val="accent2"/>
            </a:solidFill>
            <a:ln/>
          </p:spPr>
        </p:sp>
        <p:sp>
          <p:nvSpPr>
            <p:cNvPr id="7" name="Value 2"/>
            <p:cNvSpPr/>
            <p:nvPr/>
          </p:nvSpPr>
          <p:spPr>
            <a:xfrm>
              <a:off x="866485" y="1874520"/>
              <a:ext cx="3337377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1600" dirty="0"/>
            </a:p>
          </p:txBody>
        </p:sp>
        <p:sp>
          <p:nvSpPr>
            <p:cNvPr id="8" name="Stage 2"/>
            <p:cNvSpPr/>
            <p:nvPr/>
          </p:nvSpPr>
          <p:spPr>
            <a:xfrm>
              <a:off x="4796028" y="1874520"/>
              <a:ext cx="180594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2</a:t>
              </a:r>
              <a:endParaRPr lang="en-US" sz="1200" dirty="0"/>
            </a:p>
          </p:txBody>
        </p:sp>
        <p:sp>
          <p:nvSpPr>
            <p:cNvPr id="9" name="Rate 1"/>
            <p:cNvSpPr/>
            <p:nvPr/>
          </p:nvSpPr>
          <p:spPr>
            <a:xfrm>
              <a:off x="6674206" y="1504188"/>
              <a:ext cx="1098194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00%</a:t>
              </a:r>
              <a:endParaRPr lang="en-US" sz="1000" dirty="0"/>
            </a:p>
          </p:txBody>
        </p:sp>
        <p:sp>
          <p:nvSpPr>
            <p:cNvPr id="10" name="Stage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331" y="2615184"/>
              <a:ext cx="2701686" cy="667512"/>
            </a:xfrm>
            <a:prstGeom prst="rect">
              <a:avLst/>
            </a:prstGeom>
            <a:solidFill>
              <a:schemeClr val="accent3"/>
            </a:solidFill>
            <a:ln/>
          </p:spPr>
        </p:sp>
        <p:sp>
          <p:nvSpPr>
            <p:cNvPr id="11" name="Value 3"/>
            <p:cNvSpPr/>
            <p:nvPr/>
          </p:nvSpPr>
          <p:spPr>
            <a:xfrm>
              <a:off x="1184331" y="2615184"/>
              <a:ext cx="2701686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1600" dirty="0"/>
            </a:p>
          </p:txBody>
        </p:sp>
        <p:sp>
          <p:nvSpPr>
            <p:cNvPr id="12" name="Stage 3"/>
            <p:cNvSpPr/>
            <p:nvPr/>
          </p:nvSpPr>
          <p:spPr>
            <a:xfrm>
              <a:off x="4796028" y="2615184"/>
              <a:ext cx="180594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3</a:t>
              </a:r>
              <a:endParaRPr lang="en-US" sz="1200" dirty="0"/>
            </a:p>
          </p:txBody>
        </p:sp>
        <p:sp>
          <p:nvSpPr>
            <p:cNvPr id="13" name="Rate 2"/>
            <p:cNvSpPr/>
            <p:nvPr/>
          </p:nvSpPr>
          <p:spPr>
            <a:xfrm>
              <a:off x="6674206" y="2244852"/>
              <a:ext cx="1098194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00%</a:t>
              </a:r>
              <a:endParaRPr lang="en-US" sz="1000" dirty="0"/>
            </a:p>
          </p:txBody>
        </p:sp>
        <p:sp>
          <p:nvSpPr>
            <p:cNvPr id="14" name="Stage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02176" y="3355848"/>
              <a:ext cx="2065995" cy="667512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15" name="Value 4"/>
            <p:cNvSpPr/>
            <p:nvPr/>
          </p:nvSpPr>
          <p:spPr>
            <a:xfrm>
              <a:off x="1502176" y="3355848"/>
              <a:ext cx="2065995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1600" dirty="0"/>
            </a:p>
          </p:txBody>
        </p:sp>
        <p:sp>
          <p:nvSpPr>
            <p:cNvPr id="16" name="Stage 4"/>
            <p:cNvSpPr/>
            <p:nvPr/>
          </p:nvSpPr>
          <p:spPr>
            <a:xfrm>
              <a:off x="4796028" y="3355848"/>
              <a:ext cx="180594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4</a:t>
              </a:r>
              <a:endParaRPr lang="en-US" sz="1200" dirty="0"/>
            </a:p>
          </p:txBody>
        </p:sp>
        <p:sp>
          <p:nvSpPr>
            <p:cNvPr id="17" name="Rate 3"/>
            <p:cNvSpPr/>
            <p:nvPr/>
          </p:nvSpPr>
          <p:spPr>
            <a:xfrm>
              <a:off x="6674206" y="2985516"/>
              <a:ext cx="1098194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00%</a:t>
              </a:r>
              <a:endParaRPr lang="en-US" sz="1000" dirty="0"/>
            </a:p>
          </p:txBody>
        </p:sp>
        <p:sp>
          <p:nvSpPr>
            <p:cNvPr id="18" name="Stage 5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0022" y="4096512"/>
              <a:ext cx="1430304" cy="66751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19" name="Value 5"/>
            <p:cNvSpPr/>
            <p:nvPr/>
          </p:nvSpPr>
          <p:spPr>
            <a:xfrm>
              <a:off x="1820022" y="4096512"/>
              <a:ext cx="1430304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1600" dirty="0"/>
            </a:p>
          </p:txBody>
        </p:sp>
        <p:sp>
          <p:nvSpPr>
            <p:cNvPr id="20" name="Stage 5"/>
            <p:cNvSpPr/>
            <p:nvPr/>
          </p:nvSpPr>
          <p:spPr>
            <a:xfrm>
              <a:off x="4796028" y="4096512"/>
              <a:ext cx="180594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5</a:t>
              </a:r>
              <a:endParaRPr lang="en-US" sz="1200" dirty="0"/>
            </a:p>
          </p:txBody>
        </p:sp>
        <p:sp>
          <p:nvSpPr>
            <p:cNvPr id="21" name="Rate 4"/>
            <p:cNvSpPr/>
            <p:nvPr/>
          </p:nvSpPr>
          <p:spPr>
            <a:xfrm>
              <a:off x="6674206" y="3726180"/>
              <a:ext cx="1098194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00%</a:t>
              </a:r>
              <a:endParaRPr lang="en-US" sz="1000" dirty="0"/>
            </a:p>
          </p:txBody>
        </p:sp>
        <p:sp>
          <p:nvSpPr>
            <p:cNvPr id="22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V-COM-06  ·  Stacked columns</a:t>
            </a:r>
            <a:endParaRPr lang="en-US" sz="1000" dirty="0"/>
          </a:p>
        </p:txBody>
      </p:sp>
      <p:grpSp>
        <p:nvGrpSpPr>
          <p:cNvPr id="5" name="V-COM-06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V-REL-01  ·  Scatter plot</a:t>
            </a:r>
            <a:endParaRPr lang="en-US" sz="1000" dirty="0"/>
          </a:p>
        </p:txBody>
      </p:sp>
      <p:grpSp>
        <p:nvGrpSpPr>
          <p:cNvPr id="5" name="V-REL-01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Not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X axis: measure 1 · Y axis: measure 2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V-REL-02  ·  Bubble portfolio</a:t>
            </a:r>
            <a:endParaRPr lang="en-US" sz="1000" dirty="0"/>
          </a:p>
        </p:txBody>
      </p:sp>
      <p:grpSp>
        <p:nvGrpSpPr>
          <p:cNvPr id="5" name="V-REL-02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Not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X: measure 1 · Y: measure 2 · size: measure 3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V-REL-03  ·  Histogram</a:t>
            </a:r>
            <a:endParaRPr lang="en-US" sz="1000" dirty="0"/>
          </a:p>
        </p:txBody>
      </p:sp>
      <p:grpSp>
        <p:nvGrpSpPr>
          <p:cNvPr id="5" name="V-REL-03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V-REL-04  ·  Heatmap grid</a:t>
            </a:r>
            <a:endParaRPr lang="en-US" sz="1000" dirty="0"/>
          </a:p>
        </p:txBody>
      </p:sp>
      <p:grpSp>
        <p:nvGrpSpPr>
          <p:cNvPr id="45" name="V-REL-04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Column 1"/>
            <p:cNvSpPr/>
            <p:nvPr/>
          </p:nvSpPr>
          <p:spPr>
            <a:xfrm>
              <a:off x="2560320" y="1097280"/>
              <a:ext cx="151378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Column 1</a:t>
              </a:r>
              <a:endParaRPr lang="en-US" sz="1000" dirty="0"/>
            </a:p>
          </p:txBody>
        </p:sp>
        <p:sp>
          <p:nvSpPr>
            <p:cNvPr id="4" name="Column 2"/>
            <p:cNvSpPr/>
            <p:nvPr/>
          </p:nvSpPr>
          <p:spPr>
            <a:xfrm>
              <a:off x="4074109" y="1097280"/>
              <a:ext cx="151378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Column 2</a:t>
              </a:r>
              <a:endParaRPr lang="en-US" sz="1000" dirty="0"/>
            </a:p>
          </p:txBody>
        </p:sp>
        <p:sp>
          <p:nvSpPr>
            <p:cNvPr id="5" name="Column 3"/>
            <p:cNvSpPr/>
            <p:nvPr/>
          </p:nvSpPr>
          <p:spPr>
            <a:xfrm>
              <a:off x="5587898" y="1097280"/>
              <a:ext cx="151378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Column 3</a:t>
              </a:r>
              <a:endParaRPr lang="en-US" sz="1000" dirty="0"/>
            </a:p>
          </p:txBody>
        </p:sp>
        <p:sp>
          <p:nvSpPr>
            <p:cNvPr id="6" name="Column 4"/>
            <p:cNvSpPr/>
            <p:nvPr/>
          </p:nvSpPr>
          <p:spPr>
            <a:xfrm>
              <a:off x="7101688" y="1097280"/>
              <a:ext cx="151378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Column 4</a:t>
              </a:r>
              <a:endParaRPr lang="en-US" sz="1000" dirty="0"/>
            </a:p>
          </p:txBody>
        </p:sp>
        <p:sp>
          <p:nvSpPr>
            <p:cNvPr id="7" name="Column 5"/>
            <p:cNvSpPr/>
            <p:nvPr/>
          </p:nvSpPr>
          <p:spPr>
            <a:xfrm>
              <a:off x="8615477" y="1097280"/>
              <a:ext cx="151378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Column 5</a:t>
              </a:r>
              <a:endParaRPr lang="en-US" sz="1000" dirty="0"/>
            </a:p>
          </p:txBody>
        </p:sp>
        <p:sp>
          <p:nvSpPr>
            <p:cNvPr id="8" name="Column 6"/>
            <p:cNvSpPr/>
            <p:nvPr/>
          </p:nvSpPr>
          <p:spPr>
            <a:xfrm>
              <a:off x="10129266" y="1097280"/>
              <a:ext cx="151378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Column 6</a:t>
              </a:r>
              <a:endParaRPr lang="en-US" sz="1000" dirty="0"/>
            </a:p>
          </p:txBody>
        </p:sp>
        <p:sp>
          <p:nvSpPr>
            <p:cNvPr id="9" name="Row 1"/>
            <p:cNvSpPr/>
            <p:nvPr/>
          </p:nvSpPr>
          <p:spPr>
            <a:xfrm>
              <a:off x="548640" y="1463040"/>
              <a:ext cx="18745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Row 1</a:t>
              </a:r>
              <a:endParaRPr lang="en-US" sz="1200" dirty="0"/>
            </a:p>
          </p:txBody>
        </p:sp>
        <p:sp>
          <p:nvSpPr>
            <p:cNvPr id="10" name="Cell 1-1"/>
            <p:cNvSpPr/>
            <p:nvPr/>
          </p:nvSpPr>
          <p:spPr>
            <a:xfrm>
              <a:off x="2578608" y="1481328"/>
              <a:ext cx="1477213" cy="658368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11" name="Cell 1-2"/>
            <p:cNvSpPr/>
            <p:nvPr/>
          </p:nvSpPr>
          <p:spPr>
            <a:xfrm>
              <a:off x="4092397" y="1481328"/>
              <a:ext cx="1477213" cy="65836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12" name="Cell 1-3"/>
            <p:cNvSpPr/>
            <p:nvPr/>
          </p:nvSpPr>
          <p:spPr>
            <a:xfrm>
              <a:off x="5606186" y="1481328"/>
              <a:ext cx="1477213" cy="65836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13" name="Cell 1-4"/>
            <p:cNvSpPr/>
            <p:nvPr/>
          </p:nvSpPr>
          <p:spPr>
            <a:xfrm>
              <a:off x="7119976" y="1481328"/>
              <a:ext cx="1477213" cy="658368"/>
            </a:xfrm>
            <a:prstGeom prst="rect">
              <a:avLst/>
            </a:prstGeom>
            <a:solidFill>
              <a:schemeClr val="accent4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14" name="Cell 1-5"/>
            <p:cNvSpPr/>
            <p:nvPr/>
          </p:nvSpPr>
          <p:spPr>
            <a:xfrm>
              <a:off x="8633765" y="1481328"/>
              <a:ext cx="1477213" cy="658368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15" name="Cell 1-6"/>
            <p:cNvSpPr/>
            <p:nvPr/>
          </p:nvSpPr>
          <p:spPr>
            <a:xfrm>
              <a:off x="10147554" y="1481328"/>
              <a:ext cx="1477213" cy="658368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16" name="Row 2"/>
            <p:cNvSpPr/>
            <p:nvPr/>
          </p:nvSpPr>
          <p:spPr>
            <a:xfrm>
              <a:off x="548640" y="2157984"/>
              <a:ext cx="18745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Row 2</a:t>
              </a:r>
              <a:endParaRPr lang="en-US" sz="1200" dirty="0"/>
            </a:p>
          </p:txBody>
        </p:sp>
        <p:sp>
          <p:nvSpPr>
            <p:cNvPr id="17" name="Cell 2-1"/>
            <p:cNvSpPr/>
            <p:nvPr/>
          </p:nvSpPr>
          <p:spPr>
            <a:xfrm>
              <a:off x="2578608" y="2176272"/>
              <a:ext cx="1477213" cy="65836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18" name="Cell 2-2"/>
            <p:cNvSpPr/>
            <p:nvPr/>
          </p:nvSpPr>
          <p:spPr>
            <a:xfrm>
              <a:off x="4092397" y="2176272"/>
              <a:ext cx="1477213" cy="65836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19" name="Cell 2-3"/>
            <p:cNvSpPr/>
            <p:nvPr/>
          </p:nvSpPr>
          <p:spPr>
            <a:xfrm>
              <a:off x="5606186" y="2176272"/>
              <a:ext cx="1477213" cy="65836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20" name="Cell 2-4"/>
            <p:cNvSpPr/>
            <p:nvPr/>
          </p:nvSpPr>
          <p:spPr>
            <a:xfrm>
              <a:off x="7119976" y="2176272"/>
              <a:ext cx="1477213" cy="658368"/>
            </a:xfrm>
            <a:prstGeom prst="rect">
              <a:avLst/>
            </a:prstGeom>
            <a:solidFill>
              <a:schemeClr val="accent4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21" name="Cell 2-5"/>
            <p:cNvSpPr/>
            <p:nvPr/>
          </p:nvSpPr>
          <p:spPr>
            <a:xfrm>
              <a:off x="8633765" y="2176272"/>
              <a:ext cx="1477213" cy="658368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22" name="Cell 2-6"/>
            <p:cNvSpPr/>
            <p:nvPr/>
          </p:nvSpPr>
          <p:spPr>
            <a:xfrm>
              <a:off x="10147554" y="2176272"/>
              <a:ext cx="1477213" cy="658368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23" name="Row 3"/>
            <p:cNvSpPr/>
            <p:nvPr/>
          </p:nvSpPr>
          <p:spPr>
            <a:xfrm>
              <a:off x="548640" y="2852928"/>
              <a:ext cx="18745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Row 3</a:t>
              </a:r>
              <a:endParaRPr lang="en-US" sz="1200" dirty="0"/>
            </a:p>
          </p:txBody>
        </p:sp>
        <p:sp>
          <p:nvSpPr>
            <p:cNvPr id="24" name="Cell 3-1"/>
            <p:cNvSpPr/>
            <p:nvPr/>
          </p:nvSpPr>
          <p:spPr>
            <a:xfrm>
              <a:off x="2578608" y="2871216"/>
              <a:ext cx="1477213" cy="65836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25" name="Cell 3-2"/>
            <p:cNvSpPr/>
            <p:nvPr/>
          </p:nvSpPr>
          <p:spPr>
            <a:xfrm>
              <a:off x="4092397" y="2871216"/>
              <a:ext cx="1477213" cy="65836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26" name="Cell 3-3"/>
            <p:cNvSpPr/>
            <p:nvPr/>
          </p:nvSpPr>
          <p:spPr>
            <a:xfrm>
              <a:off x="5606186" y="2871216"/>
              <a:ext cx="1477213" cy="658368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27" name="Cell 3-4"/>
            <p:cNvSpPr/>
            <p:nvPr/>
          </p:nvSpPr>
          <p:spPr>
            <a:xfrm>
              <a:off x="7119976" y="2871216"/>
              <a:ext cx="1477213" cy="65836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28" name="Cell 3-5"/>
            <p:cNvSpPr/>
            <p:nvPr/>
          </p:nvSpPr>
          <p:spPr>
            <a:xfrm>
              <a:off x="8633765" y="2871216"/>
              <a:ext cx="1477213" cy="65836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29" name="Cell 3-6"/>
            <p:cNvSpPr/>
            <p:nvPr/>
          </p:nvSpPr>
          <p:spPr>
            <a:xfrm>
              <a:off x="10147554" y="2871216"/>
              <a:ext cx="1477213" cy="658368"/>
            </a:xfrm>
            <a:prstGeom prst="rect">
              <a:avLst/>
            </a:prstGeom>
            <a:solidFill>
              <a:schemeClr val="accent4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30" name="Row 4"/>
            <p:cNvSpPr/>
            <p:nvPr/>
          </p:nvSpPr>
          <p:spPr>
            <a:xfrm>
              <a:off x="548640" y="3547872"/>
              <a:ext cx="18745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Row 4</a:t>
              </a:r>
              <a:endParaRPr lang="en-US" sz="1200" dirty="0"/>
            </a:p>
          </p:txBody>
        </p:sp>
        <p:sp>
          <p:nvSpPr>
            <p:cNvPr id="31" name="Cell 4-1"/>
            <p:cNvSpPr/>
            <p:nvPr/>
          </p:nvSpPr>
          <p:spPr>
            <a:xfrm>
              <a:off x="2578608" y="3566160"/>
              <a:ext cx="1477213" cy="658368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32" name="Cell 4-2"/>
            <p:cNvSpPr/>
            <p:nvPr/>
          </p:nvSpPr>
          <p:spPr>
            <a:xfrm>
              <a:off x="4092397" y="3566160"/>
              <a:ext cx="1477213" cy="658368"/>
            </a:xfrm>
            <a:prstGeom prst="rect">
              <a:avLst/>
            </a:prstGeom>
            <a:solidFill>
              <a:schemeClr val="accent4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33" name="Cell 4-3"/>
            <p:cNvSpPr/>
            <p:nvPr/>
          </p:nvSpPr>
          <p:spPr>
            <a:xfrm>
              <a:off x="5606186" y="3566160"/>
              <a:ext cx="1477213" cy="65836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34" name="Cell 4-4"/>
            <p:cNvSpPr/>
            <p:nvPr/>
          </p:nvSpPr>
          <p:spPr>
            <a:xfrm>
              <a:off x="7119976" y="3566160"/>
              <a:ext cx="1477213" cy="65836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35" name="Cell 4-5"/>
            <p:cNvSpPr/>
            <p:nvPr/>
          </p:nvSpPr>
          <p:spPr>
            <a:xfrm>
              <a:off x="8633765" y="3566160"/>
              <a:ext cx="1477213" cy="65836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36" name="Cell 4-6"/>
            <p:cNvSpPr/>
            <p:nvPr/>
          </p:nvSpPr>
          <p:spPr>
            <a:xfrm>
              <a:off x="10147554" y="3566160"/>
              <a:ext cx="1477213" cy="658368"/>
            </a:xfrm>
            <a:prstGeom prst="rect">
              <a:avLst/>
            </a:prstGeom>
            <a:solidFill>
              <a:schemeClr val="accent4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37" name="Row 5"/>
            <p:cNvSpPr/>
            <p:nvPr/>
          </p:nvSpPr>
          <p:spPr>
            <a:xfrm>
              <a:off x="548640" y="4242816"/>
              <a:ext cx="18745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Row 5</a:t>
              </a:r>
              <a:endParaRPr lang="en-US" sz="1200" dirty="0"/>
            </a:p>
          </p:txBody>
        </p:sp>
        <p:sp>
          <p:nvSpPr>
            <p:cNvPr id="38" name="Cell 5-1"/>
            <p:cNvSpPr/>
            <p:nvPr/>
          </p:nvSpPr>
          <p:spPr>
            <a:xfrm>
              <a:off x="2578608" y="4261104"/>
              <a:ext cx="1477213" cy="658368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39" name="Cell 5-2"/>
            <p:cNvSpPr/>
            <p:nvPr/>
          </p:nvSpPr>
          <p:spPr>
            <a:xfrm>
              <a:off x="4092397" y="4261104"/>
              <a:ext cx="1477213" cy="658368"/>
            </a:xfrm>
            <a:prstGeom prst="rect">
              <a:avLst/>
            </a:prstGeom>
            <a:solidFill>
              <a:schemeClr val="accent4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40" name="Cell 5-3"/>
            <p:cNvSpPr/>
            <p:nvPr/>
          </p:nvSpPr>
          <p:spPr>
            <a:xfrm>
              <a:off x="5606186" y="4261104"/>
              <a:ext cx="1477213" cy="65836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41" name="Cell 5-4"/>
            <p:cNvSpPr/>
            <p:nvPr/>
          </p:nvSpPr>
          <p:spPr>
            <a:xfrm>
              <a:off x="7119976" y="4261104"/>
              <a:ext cx="1477213" cy="65836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42" name="Cell 5-5"/>
            <p:cNvSpPr/>
            <p:nvPr/>
          </p:nvSpPr>
          <p:spPr>
            <a:xfrm>
              <a:off x="8633765" y="4261104"/>
              <a:ext cx="1477213" cy="658368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43" name="Cell 5-6"/>
            <p:cNvSpPr/>
            <p:nvPr/>
          </p:nvSpPr>
          <p:spPr>
            <a:xfrm>
              <a:off x="10147554" y="4261104"/>
              <a:ext cx="1477213" cy="65836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00</a:t>
              </a:r>
              <a:endParaRPr lang="en-US" sz="1000" dirty="0"/>
            </a:p>
          </p:txBody>
        </p:sp>
        <p:sp>
          <p:nvSpPr>
            <p:cNvPr id="44" name="Source"/>
            <p:cNvSpPr/>
            <p:nvPr/>
          </p:nvSpPr>
          <p:spPr>
            <a:xfrm>
              <a:off x="548640" y="4983480"/>
              <a:ext cx="1109441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V-REL-05  ·  Pareto</a:t>
            </a:r>
            <a:endParaRPr lang="en-US" sz="1000" dirty="0"/>
          </a:p>
        </p:txBody>
      </p:sp>
      <p:grpSp>
        <p:nvGrpSpPr>
          <p:cNvPr id="5" name="V-REL-05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V-KPI-01  ·  KPI cards with change</a:t>
            </a:r>
            <a:endParaRPr lang="en-US" sz="1000" dirty="0"/>
          </a:p>
        </p:txBody>
      </p:sp>
      <p:grpSp>
        <p:nvGrpSpPr>
          <p:cNvPr id="18" name="V-KPI-01"/>
          <p:cNvGrpSpPr/>
          <p:nvPr/>
        </p:nvGrpSpPr>
        <p:grpSpPr>
          <a:xfrm>
            <a:off x="548640" y="1097280"/>
            <a:ext cx="7223760" cy="2194560"/>
            <a:chOff x="548640" y="1097280"/>
            <a:chExt cx="7223760" cy="2194560"/>
          </a:xfrm>
        </p:grpSpPr>
        <p:sp>
          <p:nvSpPr>
            <p:cNvPr id="3" name="keyfigure#1 &gt; Valu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2255520" cy="21945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2255520" cy="54864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5" name="Value 1"/>
            <p:cNvSpPr/>
            <p:nvPr/>
          </p:nvSpPr>
          <p:spPr>
            <a:xfrm>
              <a:off x="777240" y="1371600"/>
              <a:ext cx="1798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4000" dirty="0"/>
            </a:p>
          </p:txBody>
        </p:sp>
        <p:sp>
          <p:nvSpPr>
            <p:cNvPr id="6" name="Label 1"/>
            <p:cNvSpPr/>
            <p:nvPr/>
          </p:nvSpPr>
          <p:spPr>
            <a:xfrm>
              <a:off x="777240" y="224028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  <p:sp>
          <p:nvSpPr>
            <p:cNvPr id="7" name="Change 1"/>
            <p:cNvSpPr/>
            <p:nvPr/>
          </p:nvSpPr>
          <p:spPr>
            <a:xfrm>
              <a:off x="777240" y="265176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+0% vs reference</a:t>
              </a:r>
              <a:endParaRPr lang="en-US" sz="1000" dirty="0"/>
            </a:p>
          </p:txBody>
        </p:sp>
        <p:sp>
          <p:nvSpPr>
            <p:cNvPr id="8" name="keyfigure#2 &gt; Valu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32760" y="1097280"/>
              <a:ext cx="2255520" cy="21945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9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32760" y="1097280"/>
              <a:ext cx="2255520" cy="54864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10" name="Value 2"/>
            <p:cNvSpPr/>
            <p:nvPr/>
          </p:nvSpPr>
          <p:spPr>
            <a:xfrm>
              <a:off x="3261360" y="1371600"/>
              <a:ext cx="1798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4000" dirty="0"/>
            </a:p>
          </p:txBody>
        </p:sp>
        <p:sp>
          <p:nvSpPr>
            <p:cNvPr id="11" name="Label 2"/>
            <p:cNvSpPr/>
            <p:nvPr/>
          </p:nvSpPr>
          <p:spPr>
            <a:xfrm>
              <a:off x="3261360" y="224028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  <p:sp>
          <p:nvSpPr>
            <p:cNvPr id="12" name="Change 2"/>
            <p:cNvSpPr/>
            <p:nvPr/>
          </p:nvSpPr>
          <p:spPr>
            <a:xfrm>
              <a:off x="3261360" y="265176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+0% vs reference</a:t>
              </a:r>
              <a:endParaRPr lang="en-US" sz="1000" dirty="0"/>
            </a:p>
          </p:txBody>
        </p:sp>
        <p:sp>
          <p:nvSpPr>
            <p:cNvPr id="13" name="keyfigure#3 &gt; Valu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16880" y="1097280"/>
              <a:ext cx="2255520" cy="21945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4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16880" y="1097280"/>
              <a:ext cx="2255520" cy="54864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15" name="Value 3"/>
            <p:cNvSpPr/>
            <p:nvPr/>
          </p:nvSpPr>
          <p:spPr>
            <a:xfrm>
              <a:off x="5745480" y="1371600"/>
              <a:ext cx="1798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4000" dirty="0"/>
            </a:p>
          </p:txBody>
        </p:sp>
        <p:sp>
          <p:nvSpPr>
            <p:cNvPr id="16" name="Label 3"/>
            <p:cNvSpPr/>
            <p:nvPr/>
          </p:nvSpPr>
          <p:spPr>
            <a:xfrm>
              <a:off x="5745480" y="224028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  <p:sp>
          <p:nvSpPr>
            <p:cNvPr id="17" name="Change 3"/>
            <p:cNvSpPr/>
            <p:nvPr/>
          </p:nvSpPr>
          <p:spPr>
            <a:xfrm>
              <a:off x="5745480" y="265176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+0% vs reference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V-KPI-02  ·  Progress rings</a:t>
            </a:r>
            <a:endParaRPr lang="en-US" sz="1000" dirty="0"/>
          </a:p>
        </p:txBody>
      </p:sp>
      <p:grpSp>
        <p:nvGrpSpPr>
          <p:cNvPr id="12" name="V-KPI-02"/>
          <p:cNvGrpSpPr/>
          <p:nvPr/>
        </p:nvGrpSpPr>
        <p:grpSpPr>
          <a:xfrm>
            <a:off x="548640" y="1097280"/>
            <a:ext cx="7223760" cy="2865120"/>
            <a:chOff x="548640" y="1097280"/>
            <a:chExt cx="7223760" cy="2865120"/>
          </a:xfrm>
        </p:grpSpPr>
        <p:graphicFrame>
          <p:nvGraphicFramePr>
            <p:cNvPr id="3" name="Ring 1" descr=""/>
            <p:cNvGraphicFramePr/>
            <p:nvPr/>
          </p:nvGraphicFramePr>
          <p:xfrm>
            <a:off x="548640" y="1097280"/>
            <a:ext cx="2225040" cy="222504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Value 1"/>
            <p:cNvSpPr/>
            <p:nvPr/>
          </p:nvSpPr>
          <p:spPr>
            <a:xfrm>
              <a:off x="548640" y="1935480"/>
              <a:ext cx="2225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22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00%</a:t>
              </a:r>
              <a:endParaRPr lang="en-US" sz="2200" dirty="0"/>
            </a:p>
          </p:txBody>
        </p:sp>
        <p:sp>
          <p:nvSpPr>
            <p:cNvPr id="5" name="Label 1"/>
            <p:cNvSpPr/>
            <p:nvPr/>
          </p:nvSpPr>
          <p:spPr>
            <a:xfrm>
              <a:off x="548640" y="3413760"/>
              <a:ext cx="2225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  <p:graphicFrame>
          <p:nvGraphicFramePr>
            <p:cNvPr id="6" name="Ring 2" descr=""/>
            <p:cNvGraphicFramePr/>
            <p:nvPr/>
          </p:nvGraphicFramePr>
          <p:xfrm>
            <a:off x="3048000" y="1097280"/>
            <a:ext cx="2225040" cy="222504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7" name="Value 2"/>
            <p:cNvSpPr/>
            <p:nvPr/>
          </p:nvSpPr>
          <p:spPr>
            <a:xfrm>
              <a:off x="3048000" y="1935480"/>
              <a:ext cx="2225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22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00%</a:t>
              </a:r>
              <a:endParaRPr lang="en-US" sz="2200" dirty="0"/>
            </a:p>
          </p:txBody>
        </p:sp>
        <p:sp>
          <p:nvSpPr>
            <p:cNvPr id="8" name="Label 2"/>
            <p:cNvSpPr/>
            <p:nvPr/>
          </p:nvSpPr>
          <p:spPr>
            <a:xfrm>
              <a:off x="3048000" y="3413760"/>
              <a:ext cx="2225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  <p:graphicFrame>
          <p:nvGraphicFramePr>
            <p:cNvPr id="9" name="Ring 3" descr=""/>
            <p:cNvGraphicFramePr/>
            <p:nvPr/>
          </p:nvGraphicFramePr>
          <p:xfrm>
            <a:off x="5547360" y="1097280"/>
            <a:ext cx="2225040" cy="2225040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  <p:sp>
          <p:nvSpPr>
            <p:cNvPr id="10" name="Value 3"/>
            <p:cNvSpPr/>
            <p:nvPr/>
          </p:nvSpPr>
          <p:spPr>
            <a:xfrm>
              <a:off x="5547360" y="1935480"/>
              <a:ext cx="2225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22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00%</a:t>
              </a:r>
              <a:endParaRPr lang="en-US" sz="2200" dirty="0"/>
            </a:p>
          </p:txBody>
        </p:sp>
        <p:sp>
          <p:nvSpPr>
            <p:cNvPr id="11" name="Label 3"/>
            <p:cNvSpPr/>
            <p:nvPr/>
          </p:nvSpPr>
          <p:spPr>
            <a:xfrm>
              <a:off x="5547360" y="3413760"/>
              <a:ext cx="2225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V-KPI-03  ·  Figure with trend</a:t>
            </a:r>
            <a:endParaRPr lang="en-US" sz="1000" dirty="0"/>
          </a:p>
        </p:txBody>
      </p:sp>
      <p:grpSp>
        <p:nvGrpSpPr>
          <p:cNvPr id="7" name="V-KPI-03"/>
          <p:cNvGrpSpPr/>
          <p:nvPr/>
        </p:nvGrpSpPr>
        <p:grpSpPr>
          <a:xfrm>
            <a:off x="548640" y="1097280"/>
            <a:ext cx="5394960" cy="3840480"/>
            <a:chOff x="548640" y="1097280"/>
            <a:chExt cx="5394960" cy="3840480"/>
          </a:xfrm>
        </p:grpSpPr>
        <p:sp>
          <p:nvSpPr>
            <p:cNvPr id="3" name="Value"/>
            <p:cNvSpPr/>
            <p:nvPr/>
          </p:nvSpPr>
          <p:spPr>
            <a:xfrm>
              <a:off x="548640" y="1097280"/>
              <a:ext cx="53949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6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6000" dirty="0"/>
            </a:p>
          </p:txBody>
        </p:sp>
        <p:sp>
          <p:nvSpPr>
            <p:cNvPr id="4" name="Label"/>
            <p:cNvSpPr/>
            <p:nvPr/>
          </p:nvSpPr>
          <p:spPr>
            <a:xfrm>
              <a:off x="548640" y="2148840"/>
              <a:ext cx="5394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400" dirty="0"/>
            </a:p>
          </p:txBody>
        </p:sp>
        <p:sp>
          <p:nvSpPr>
            <p:cNvPr id="5" name="Change"/>
            <p:cNvSpPr/>
            <p:nvPr/>
          </p:nvSpPr>
          <p:spPr>
            <a:xfrm>
              <a:off x="548640" y="2514600"/>
              <a:ext cx="53949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+0% vs reference</a:t>
              </a:r>
              <a:endParaRPr lang="en-US" sz="1000" dirty="0"/>
            </a:p>
          </p:txBody>
        </p:sp>
        <p:graphicFrame>
          <p:nvGraphicFramePr>
            <p:cNvPr id="6" name="Chart" descr=""/>
            <p:cNvGraphicFramePr/>
            <p:nvPr/>
          </p:nvGraphicFramePr>
          <p:xfrm>
            <a:off x="548640" y="2926080"/>
            <a:ext cx="5394960" cy="20116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V-KPI-04  ·  Status list</a:t>
            </a:r>
            <a:endParaRPr lang="en-US" sz="1000" dirty="0"/>
          </a:p>
        </p:txBody>
      </p:sp>
      <p:grpSp>
        <p:nvGrpSpPr>
          <p:cNvPr id="38" name="V-KPI-04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sp>
          <p:nvSpPr>
            <p:cNvPr id="3" name="Header item"/>
            <p:cNvSpPr/>
            <p:nvPr/>
          </p:nvSpPr>
          <p:spPr>
            <a:xfrm>
              <a:off x="1005840" y="1097280"/>
              <a:ext cx="252831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000" dirty="0"/>
            </a:p>
          </p:txBody>
        </p:sp>
        <p:sp>
          <p:nvSpPr>
            <p:cNvPr id="4" name="Header comment"/>
            <p:cNvSpPr/>
            <p:nvPr/>
          </p:nvSpPr>
          <p:spPr>
            <a:xfrm>
              <a:off x="3606394" y="1097280"/>
              <a:ext cx="28895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Comment</a:t>
              </a:r>
              <a:endParaRPr lang="en-US" sz="1000" dirty="0"/>
            </a:p>
          </p:txBody>
        </p:sp>
        <p:sp>
          <p:nvSpPr>
            <p:cNvPr id="5" name="Header owner"/>
            <p:cNvSpPr/>
            <p:nvPr/>
          </p:nvSpPr>
          <p:spPr>
            <a:xfrm>
              <a:off x="6327648" y="1097280"/>
              <a:ext cx="14447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Owner</a:t>
              </a:r>
              <a:endParaRPr lang="en-US" sz="1000" dirty="0"/>
            </a:p>
          </p:txBody>
        </p:sp>
        <p:sp>
          <p:nvSpPr>
            <p:cNvPr id="6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417320"/>
              <a:ext cx="7223760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</p:sp>
        <p:sp>
          <p:nvSpPr>
            <p:cNvPr id="7" name="Status 1"/>
            <p:cNvSpPr/>
            <p:nvPr/>
          </p:nvSpPr>
          <p:spPr>
            <a:xfrm>
              <a:off x="594360" y="1633728"/>
              <a:ext cx="237744" cy="237744"/>
            </a:xfrm>
            <a:prstGeom prst="ellipse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8" name="Item 1"/>
            <p:cNvSpPr/>
            <p:nvPr/>
          </p:nvSpPr>
          <p:spPr>
            <a:xfrm>
              <a:off x="1005840" y="1463040"/>
              <a:ext cx="2528316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9" name="Comment 1"/>
            <p:cNvSpPr/>
            <p:nvPr/>
          </p:nvSpPr>
          <p:spPr>
            <a:xfrm>
              <a:off x="3606394" y="1463040"/>
              <a:ext cx="3033979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comment</a:t>
              </a:r>
              <a:endParaRPr lang="en-US" sz="1000" dirty="0"/>
            </a:p>
          </p:txBody>
        </p:sp>
        <p:sp>
          <p:nvSpPr>
            <p:cNvPr id="10" name="Owner 1"/>
            <p:cNvSpPr/>
            <p:nvPr/>
          </p:nvSpPr>
          <p:spPr>
            <a:xfrm>
              <a:off x="6327648" y="1463040"/>
              <a:ext cx="1444752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Owner</a:t>
              </a:r>
              <a:endParaRPr lang="en-US" sz="1000" dirty="0"/>
            </a:p>
          </p:txBody>
        </p:sp>
        <p:sp>
          <p:nvSpPr>
            <p:cNvPr id="11" name="Item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04216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2" name="Status 2"/>
            <p:cNvSpPr/>
            <p:nvPr/>
          </p:nvSpPr>
          <p:spPr>
            <a:xfrm>
              <a:off x="594360" y="2212848"/>
              <a:ext cx="237744" cy="237744"/>
            </a:xfrm>
            <a:prstGeom prst="ellipse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3" name="Item 2"/>
            <p:cNvSpPr/>
            <p:nvPr/>
          </p:nvSpPr>
          <p:spPr>
            <a:xfrm>
              <a:off x="1005840" y="2042160"/>
              <a:ext cx="2528316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14" name="Comment 2"/>
            <p:cNvSpPr/>
            <p:nvPr/>
          </p:nvSpPr>
          <p:spPr>
            <a:xfrm>
              <a:off x="3606394" y="2042160"/>
              <a:ext cx="3033979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comment</a:t>
              </a:r>
              <a:endParaRPr lang="en-US" sz="1000" dirty="0"/>
            </a:p>
          </p:txBody>
        </p:sp>
        <p:sp>
          <p:nvSpPr>
            <p:cNvPr id="15" name="Owner 2"/>
            <p:cNvSpPr/>
            <p:nvPr/>
          </p:nvSpPr>
          <p:spPr>
            <a:xfrm>
              <a:off x="6327648" y="2042160"/>
              <a:ext cx="1444752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Owner</a:t>
              </a:r>
              <a:endParaRPr lang="en-US" sz="1000" dirty="0"/>
            </a:p>
          </p:txBody>
        </p:sp>
        <p:sp>
          <p:nvSpPr>
            <p:cNvPr id="16" name="Item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62128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7" name="Status 3"/>
            <p:cNvSpPr/>
            <p:nvPr/>
          </p:nvSpPr>
          <p:spPr>
            <a:xfrm>
              <a:off x="594360" y="2791968"/>
              <a:ext cx="237744" cy="237744"/>
            </a:xfrm>
            <a:prstGeom prst="ellipse">
              <a:avLst/>
            </a:prstGeom>
            <a:solidFill>
              <a:schemeClr val="accent3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18" name="Item 3"/>
            <p:cNvSpPr/>
            <p:nvPr/>
          </p:nvSpPr>
          <p:spPr>
            <a:xfrm>
              <a:off x="1005840" y="2621280"/>
              <a:ext cx="2528316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19" name="Comment 3"/>
            <p:cNvSpPr/>
            <p:nvPr/>
          </p:nvSpPr>
          <p:spPr>
            <a:xfrm>
              <a:off x="3606394" y="2621280"/>
              <a:ext cx="3033979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comment</a:t>
              </a:r>
              <a:endParaRPr lang="en-US" sz="1000" dirty="0"/>
            </a:p>
          </p:txBody>
        </p:sp>
        <p:sp>
          <p:nvSpPr>
            <p:cNvPr id="20" name="Owner 3"/>
            <p:cNvSpPr/>
            <p:nvPr/>
          </p:nvSpPr>
          <p:spPr>
            <a:xfrm>
              <a:off x="6327648" y="2621280"/>
              <a:ext cx="1444752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Owner</a:t>
              </a:r>
              <a:endParaRPr lang="en-US" sz="1000" dirty="0"/>
            </a:p>
          </p:txBody>
        </p:sp>
        <p:sp>
          <p:nvSpPr>
            <p:cNvPr id="21" name="Item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20040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2" name="Status 4"/>
            <p:cNvSpPr/>
            <p:nvPr/>
          </p:nvSpPr>
          <p:spPr>
            <a:xfrm>
              <a:off x="594360" y="3371088"/>
              <a:ext cx="237744" cy="237744"/>
            </a:xfrm>
            <a:prstGeom prst="ellipse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23" name="Item 4"/>
            <p:cNvSpPr/>
            <p:nvPr/>
          </p:nvSpPr>
          <p:spPr>
            <a:xfrm>
              <a:off x="1005840" y="3200400"/>
              <a:ext cx="2528316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24" name="Comment 4"/>
            <p:cNvSpPr/>
            <p:nvPr/>
          </p:nvSpPr>
          <p:spPr>
            <a:xfrm>
              <a:off x="3606394" y="3200400"/>
              <a:ext cx="3033979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comment</a:t>
              </a:r>
              <a:endParaRPr lang="en-US" sz="1000" dirty="0"/>
            </a:p>
          </p:txBody>
        </p:sp>
        <p:sp>
          <p:nvSpPr>
            <p:cNvPr id="25" name="Owner 4"/>
            <p:cNvSpPr/>
            <p:nvPr/>
          </p:nvSpPr>
          <p:spPr>
            <a:xfrm>
              <a:off x="6327648" y="3200400"/>
              <a:ext cx="1444752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Owner</a:t>
              </a:r>
              <a:endParaRPr lang="en-US" sz="1000" dirty="0"/>
            </a:p>
          </p:txBody>
        </p:sp>
        <p:sp>
          <p:nvSpPr>
            <p:cNvPr id="26" name="Item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77952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7" name="Status 5"/>
            <p:cNvSpPr/>
            <p:nvPr/>
          </p:nvSpPr>
          <p:spPr>
            <a:xfrm>
              <a:off x="594360" y="3950208"/>
              <a:ext cx="237744" cy="237744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28" name="Item 5"/>
            <p:cNvSpPr/>
            <p:nvPr/>
          </p:nvSpPr>
          <p:spPr>
            <a:xfrm>
              <a:off x="1005840" y="3779520"/>
              <a:ext cx="2528316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29" name="Comment 5"/>
            <p:cNvSpPr/>
            <p:nvPr/>
          </p:nvSpPr>
          <p:spPr>
            <a:xfrm>
              <a:off x="3606394" y="3779520"/>
              <a:ext cx="3033979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comment</a:t>
              </a:r>
              <a:endParaRPr lang="en-US" sz="1000" dirty="0"/>
            </a:p>
          </p:txBody>
        </p:sp>
        <p:sp>
          <p:nvSpPr>
            <p:cNvPr id="30" name="Owner 5"/>
            <p:cNvSpPr/>
            <p:nvPr/>
          </p:nvSpPr>
          <p:spPr>
            <a:xfrm>
              <a:off x="6327648" y="3779520"/>
              <a:ext cx="1444752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Owner</a:t>
              </a:r>
              <a:endParaRPr lang="en-US" sz="1000" dirty="0"/>
            </a:p>
          </p:txBody>
        </p:sp>
        <p:sp>
          <p:nvSpPr>
            <p:cNvPr id="31" name="Item 5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35864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32" name="Status 6"/>
            <p:cNvSpPr/>
            <p:nvPr/>
          </p:nvSpPr>
          <p:spPr>
            <a:xfrm>
              <a:off x="594360" y="4529328"/>
              <a:ext cx="237744" cy="237744"/>
            </a:xfrm>
            <a:prstGeom prst="ellipse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33" name="Item 6"/>
            <p:cNvSpPr/>
            <p:nvPr/>
          </p:nvSpPr>
          <p:spPr>
            <a:xfrm>
              <a:off x="1005840" y="4358640"/>
              <a:ext cx="2528316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34" name="Comment 6"/>
            <p:cNvSpPr/>
            <p:nvPr/>
          </p:nvSpPr>
          <p:spPr>
            <a:xfrm>
              <a:off x="3606394" y="4358640"/>
              <a:ext cx="3033979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comment</a:t>
              </a:r>
              <a:endParaRPr lang="en-US" sz="1000" dirty="0"/>
            </a:p>
          </p:txBody>
        </p:sp>
        <p:sp>
          <p:nvSpPr>
            <p:cNvPr id="35" name="Owner 6"/>
            <p:cNvSpPr/>
            <p:nvPr/>
          </p:nvSpPr>
          <p:spPr>
            <a:xfrm>
              <a:off x="6327648" y="4358640"/>
              <a:ext cx="1444752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Owner</a:t>
              </a:r>
              <a:endParaRPr lang="en-US" sz="1000" dirty="0"/>
            </a:p>
          </p:txBody>
        </p:sp>
        <p:sp>
          <p:nvSpPr>
            <p:cNvPr id="36" name="Item 6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937760"/>
              <a:ext cx="7223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37" name="Not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Black: late · grey: at risk · light: on track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V-KPI-05  ·  Gauge</a:t>
            </a:r>
            <a:endParaRPr lang="en-US" sz="1000" dirty="0"/>
          </a:p>
        </p:txBody>
      </p:sp>
      <p:grpSp>
        <p:nvGrpSpPr>
          <p:cNvPr id="6" name="V-KPI-05"/>
          <p:cNvGrpSpPr/>
          <p:nvPr/>
        </p:nvGrpSpPr>
        <p:grpSpPr>
          <a:xfrm>
            <a:off x="548640" y="1097280"/>
            <a:ext cx="5394960" cy="5394960"/>
            <a:chOff x="548640" y="1097280"/>
            <a:chExt cx="5394960" cy="539496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5394960" cy="539496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Value"/>
            <p:cNvSpPr/>
            <p:nvPr/>
          </p:nvSpPr>
          <p:spPr>
            <a:xfrm>
              <a:off x="548640" y="3017520"/>
              <a:ext cx="53949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00%</a:t>
              </a:r>
              <a:endParaRPr lang="en-US" sz="4000" dirty="0"/>
            </a:p>
          </p:txBody>
        </p:sp>
        <p:sp>
          <p:nvSpPr>
            <p:cNvPr id="5" name="Label"/>
            <p:cNvSpPr/>
            <p:nvPr/>
          </p:nvSpPr>
          <p:spPr>
            <a:xfrm>
              <a:off x="548640" y="3840480"/>
              <a:ext cx="5394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V-MAT-01  ·  Two-by-two matrix</a:t>
            </a:r>
            <a:endParaRPr lang="en-US" sz="1000" dirty="0"/>
          </a:p>
        </p:txBody>
      </p:sp>
      <p:grpSp>
        <p:nvGrpSpPr>
          <p:cNvPr id="35" name="V-MAT-01"/>
          <p:cNvGrpSpPr/>
          <p:nvPr/>
        </p:nvGrpSpPr>
        <p:grpSpPr>
          <a:xfrm>
            <a:off x="-1124712" y="1051560"/>
            <a:ext cx="12722047" cy="4142232"/>
            <a:chOff x="-1124712" y="1051560"/>
            <a:chExt cx="12722047" cy="4142232"/>
          </a:xfrm>
        </p:grpSpPr>
        <p:sp>
          <p:nvSpPr>
            <p:cNvPr id="3" name="Plot Area"/>
            <p:cNvSpPr/>
            <p:nvPr/>
          </p:nvSpPr>
          <p:spPr>
            <a:xfrm>
              <a:off x="960120" y="1097280"/>
              <a:ext cx="6878537" cy="3749040"/>
            </a:xfrm>
            <a:prstGeom prst="rect">
              <a:avLst/>
            </a:prstGeom>
            <a:ln/>
          </p:spPr>
        </p:sp>
        <p:sp>
          <p:nvSpPr>
            <p:cNvPr id="4" name="card#1 &gt; Quadrant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7552" y="1124712"/>
              <a:ext cx="3384405" cy="1819656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5" name="Quadrant 1"/>
            <p:cNvSpPr/>
            <p:nvPr/>
          </p:nvSpPr>
          <p:spPr>
            <a:xfrm>
              <a:off x="1124712" y="1234440"/>
              <a:ext cx="307350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Quadrant 1</a:t>
              </a:r>
              <a:endParaRPr lang="en-US" sz="1000" dirty="0"/>
            </a:p>
          </p:txBody>
        </p:sp>
        <p:sp>
          <p:nvSpPr>
            <p:cNvPr id="6" name="card#2 &gt; Quadrant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26821" y="1124712"/>
              <a:ext cx="3384405" cy="1819656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7" name="Quadrant 2"/>
            <p:cNvSpPr/>
            <p:nvPr/>
          </p:nvSpPr>
          <p:spPr>
            <a:xfrm>
              <a:off x="4563981" y="1234440"/>
              <a:ext cx="307350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Quadrant 2</a:t>
              </a:r>
              <a:endParaRPr lang="en-US" sz="1000" dirty="0"/>
            </a:p>
          </p:txBody>
        </p:sp>
        <p:sp>
          <p:nvSpPr>
            <p:cNvPr id="8" name="card#3 &gt; Quadrant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7552" y="2999232"/>
              <a:ext cx="3384405" cy="1819656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9" name="Quadrant 3"/>
            <p:cNvSpPr/>
            <p:nvPr/>
          </p:nvSpPr>
          <p:spPr>
            <a:xfrm>
              <a:off x="1124712" y="3108960"/>
              <a:ext cx="307350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Quadrant 3</a:t>
              </a:r>
              <a:endParaRPr lang="en-US" sz="1000" dirty="0"/>
            </a:p>
          </p:txBody>
        </p:sp>
        <p:sp>
          <p:nvSpPr>
            <p:cNvPr id="10" name="card#4 &gt; Quadrant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26821" y="2999232"/>
              <a:ext cx="3384405" cy="1819656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1" name="Quadrant 4"/>
            <p:cNvSpPr/>
            <p:nvPr/>
          </p:nvSpPr>
          <p:spPr>
            <a:xfrm>
              <a:off x="4563981" y="3108960"/>
              <a:ext cx="307350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Quadrant 4</a:t>
              </a:r>
              <a:endParaRPr lang="en-US" sz="1000" dirty="0"/>
            </a:p>
          </p:txBody>
        </p:sp>
        <p:sp>
          <p:nvSpPr>
            <p:cNvPr id="12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20" y="4846320"/>
              <a:ext cx="6924257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3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20" y="1051560"/>
              <a:ext cx="91" cy="37947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4" name="X axis"/>
            <p:cNvSpPr/>
            <p:nvPr/>
          </p:nvSpPr>
          <p:spPr>
            <a:xfrm>
              <a:off x="960120" y="4919472"/>
              <a:ext cx="6878537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Horizontal axis</a:t>
              </a:r>
              <a:endParaRPr lang="en-US" sz="1000" dirty="0"/>
            </a:p>
          </p:txBody>
        </p:sp>
        <p:sp>
          <p:nvSpPr>
            <p:cNvPr id="15" name="Y axis"/>
            <p:cNvSpPr/>
            <p:nvPr/>
          </p:nvSpPr>
          <p:spPr>
            <a:xfrm rot="16200000">
              <a:off x="-1124712" y="283464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Vertical axis</a:t>
              </a:r>
              <a:endParaRPr lang="en-US" sz="1000" dirty="0"/>
            </a:p>
          </p:txBody>
        </p:sp>
        <p:sp>
          <p:nvSpPr>
            <p:cNvPr id="16" name="Item 1"/>
            <p:cNvSpPr/>
            <p:nvPr/>
          </p:nvSpPr>
          <p:spPr>
            <a:xfrm>
              <a:off x="5583072" y="1842516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100" dirty="0"/>
            </a:p>
          </p:txBody>
        </p:sp>
        <p:sp>
          <p:nvSpPr>
            <p:cNvPr id="17" name="Item 2"/>
            <p:cNvSpPr/>
            <p:nvPr/>
          </p:nvSpPr>
          <p:spPr>
            <a:xfrm>
              <a:off x="2831657" y="1655064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100" dirty="0"/>
            </a:p>
          </p:txBody>
        </p:sp>
        <p:sp>
          <p:nvSpPr>
            <p:cNvPr id="18" name="Item 3"/>
            <p:cNvSpPr/>
            <p:nvPr/>
          </p:nvSpPr>
          <p:spPr>
            <a:xfrm>
              <a:off x="6270926" y="3529584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100" dirty="0"/>
            </a:p>
          </p:txBody>
        </p:sp>
        <p:sp>
          <p:nvSpPr>
            <p:cNvPr id="19" name="Item 4"/>
            <p:cNvSpPr/>
            <p:nvPr/>
          </p:nvSpPr>
          <p:spPr>
            <a:xfrm>
              <a:off x="4551292" y="240487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100" dirty="0"/>
            </a:p>
          </p:txBody>
        </p:sp>
        <p:sp>
          <p:nvSpPr>
            <p:cNvPr id="20" name="Item 5"/>
            <p:cNvSpPr/>
            <p:nvPr/>
          </p:nvSpPr>
          <p:spPr>
            <a:xfrm>
              <a:off x="2143803" y="3904488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en-US" sz="1100" dirty="0"/>
            </a:p>
          </p:txBody>
        </p:sp>
        <p:sp>
          <p:nvSpPr>
            <p:cNvPr id="21" name="Item 6"/>
            <p:cNvSpPr/>
            <p:nvPr/>
          </p:nvSpPr>
          <p:spPr>
            <a:xfrm>
              <a:off x="3519511" y="334213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6</a:t>
              </a:r>
              <a:endParaRPr lang="en-US" sz="1100" dirty="0"/>
            </a:p>
          </p:txBody>
        </p:sp>
        <p:sp>
          <p:nvSpPr>
            <p:cNvPr id="22" name="Key label"/>
            <p:cNvSpPr/>
            <p:nvPr/>
          </p:nvSpPr>
          <p:spPr>
            <a:xfrm>
              <a:off x="8295857" y="1097280"/>
              <a:ext cx="330147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Key</a:t>
              </a:r>
              <a:endParaRPr lang="en-US" sz="1000" dirty="0"/>
            </a:p>
          </p:txBody>
        </p:sp>
        <p:sp>
          <p:nvSpPr>
            <p:cNvPr id="23" name="Key 1 number"/>
            <p:cNvSpPr/>
            <p:nvPr/>
          </p:nvSpPr>
          <p:spPr>
            <a:xfrm>
              <a:off x="8295857" y="1463040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200" dirty="0"/>
            </a:p>
          </p:txBody>
        </p:sp>
        <p:sp>
          <p:nvSpPr>
            <p:cNvPr id="24" name="Key 1"/>
            <p:cNvSpPr/>
            <p:nvPr/>
          </p:nvSpPr>
          <p:spPr>
            <a:xfrm>
              <a:off x="8615897" y="1463040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25" name="Key 2 number"/>
            <p:cNvSpPr/>
            <p:nvPr/>
          </p:nvSpPr>
          <p:spPr>
            <a:xfrm>
              <a:off x="8295857" y="184708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200" dirty="0"/>
            </a:p>
          </p:txBody>
        </p:sp>
        <p:sp>
          <p:nvSpPr>
            <p:cNvPr id="26" name="Key 2"/>
            <p:cNvSpPr/>
            <p:nvPr/>
          </p:nvSpPr>
          <p:spPr>
            <a:xfrm>
              <a:off x="8615897" y="1847088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27" name="Key 3 number"/>
            <p:cNvSpPr/>
            <p:nvPr/>
          </p:nvSpPr>
          <p:spPr>
            <a:xfrm>
              <a:off x="8295857" y="223113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200" dirty="0"/>
            </a:p>
          </p:txBody>
        </p:sp>
        <p:sp>
          <p:nvSpPr>
            <p:cNvPr id="28" name="Key 3"/>
            <p:cNvSpPr/>
            <p:nvPr/>
          </p:nvSpPr>
          <p:spPr>
            <a:xfrm>
              <a:off x="8615897" y="2231136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29" name="Key 4 number"/>
            <p:cNvSpPr/>
            <p:nvPr/>
          </p:nvSpPr>
          <p:spPr>
            <a:xfrm>
              <a:off x="8295857" y="2615184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200" dirty="0"/>
            </a:p>
          </p:txBody>
        </p:sp>
        <p:sp>
          <p:nvSpPr>
            <p:cNvPr id="30" name="Key 4"/>
            <p:cNvSpPr/>
            <p:nvPr/>
          </p:nvSpPr>
          <p:spPr>
            <a:xfrm>
              <a:off x="8615897" y="2615184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31" name="Key 5 number"/>
            <p:cNvSpPr/>
            <p:nvPr/>
          </p:nvSpPr>
          <p:spPr>
            <a:xfrm>
              <a:off x="8295857" y="2999232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en-US" sz="1200" dirty="0"/>
            </a:p>
          </p:txBody>
        </p:sp>
        <p:sp>
          <p:nvSpPr>
            <p:cNvPr id="32" name="Key 5"/>
            <p:cNvSpPr/>
            <p:nvPr/>
          </p:nvSpPr>
          <p:spPr>
            <a:xfrm>
              <a:off x="8615897" y="2999232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33" name="Key 6 number"/>
            <p:cNvSpPr/>
            <p:nvPr/>
          </p:nvSpPr>
          <p:spPr>
            <a:xfrm>
              <a:off x="8295857" y="3383280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6</a:t>
              </a:r>
              <a:endParaRPr lang="en-US" sz="1200" dirty="0"/>
            </a:p>
          </p:txBody>
        </p:sp>
        <p:sp>
          <p:nvSpPr>
            <p:cNvPr id="34" name="Key 6"/>
            <p:cNvSpPr/>
            <p:nvPr/>
          </p:nvSpPr>
          <p:spPr>
            <a:xfrm>
              <a:off x="8615897" y="3383280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V-MAT-02  ·  SWOT</a:t>
            </a:r>
            <a:endParaRPr lang="en-US" sz="1000" dirty="0"/>
          </a:p>
        </p:txBody>
      </p:sp>
      <p:grpSp>
        <p:nvGrpSpPr>
          <p:cNvPr id="15" name="V-MAT-02"/>
          <p:cNvGrpSpPr/>
          <p:nvPr/>
        </p:nvGrpSpPr>
        <p:grpSpPr>
          <a:xfrm>
            <a:off x="548640" y="1097280"/>
            <a:ext cx="11094416" cy="4160520"/>
            <a:chOff x="548640" y="1097280"/>
            <a:chExt cx="11094416" cy="4160520"/>
          </a:xfrm>
        </p:grpSpPr>
        <p:sp>
          <p:nvSpPr>
            <p:cNvPr id="3" name="card#1 &gt; Heading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5492344" cy="202539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4" name="Heading 1"/>
            <p:cNvSpPr/>
            <p:nvPr/>
          </p:nvSpPr>
          <p:spPr>
            <a:xfrm>
              <a:off x="777240" y="1261872"/>
              <a:ext cx="50351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Strengths</a:t>
              </a:r>
              <a:endParaRPr lang="en-US" sz="1600" dirty="0"/>
            </a:p>
          </p:txBody>
        </p:sp>
        <p:sp>
          <p:nvSpPr>
            <p:cNvPr id="5" name="Block 1"/>
            <p:cNvSpPr/>
            <p:nvPr/>
          </p:nvSpPr>
          <p:spPr>
            <a:xfrm>
              <a:off x="777240" y="1691640"/>
              <a:ext cx="5035144" cy="12938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</p:txBody>
        </p:sp>
        <p:sp>
          <p:nvSpPr>
            <p:cNvPr id="6" name="card#2 &gt; Heading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50712" y="1097280"/>
              <a:ext cx="5492344" cy="2025396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7" name="Heading 2"/>
            <p:cNvSpPr/>
            <p:nvPr/>
          </p:nvSpPr>
          <p:spPr>
            <a:xfrm>
              <a:off x="6379312" y="1261872"/>
              <a:ext cx="50351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Weaknesses</a:t>
              </a:r>
              <a:endParaRPr lang="en-US" sz="1600" dirty="0"/>
            </a:p>
          </p:txBody>
        </p:sp>
        <p:sp>
          <p:nvSpPr>
            <p:cNvPr id="8" name="Block 2"/>
            <p:cNvSpPr/>
            <p:nvPr/>
          </p:nvSpPr>
          <p:spPr>
            <a:xfrm>
              <a:off x="6379312" y="1691640"/>
              <a:ext cx="5035144" cy="12938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</p:txBody>
        </p:sp>
        <p:sp>
          <p:nvSpPr>
            <p:cNvPr id="9" name="card#3 &gt; Heading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232404"/>
              <a:ext cx="5492344" cy="2025396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0" name="Heading 3"/>
            <p:cNvSpPr/>
            <p:nvPr/>
          </p:nvSpPr>
          <p:spPr>
            <a:xfrm>
              <a:off x="777240" y="3396996"/>
              <a:ext cx="50351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Opportunities</a:t>
              </a:r>
              <a:endParaRPr lang="en-US" sz="1600" dirty="0"/>
            </a:p>
          </p:txBody>
        </p:sp>
        <p:sp>
          <p:nvSpPr>
            <p:cNvPr id="11" name="Block 3"/>
            <p:cNvSpPr/>
            <p:nvPr/>
          </p:nvSpPr>
          <p:spPr>
            <a:xfrm>
              <a:off x="777240" y="3826764"/>
              <a:ext cx="5035144" cy="12938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</p:txBody>
        </p:sp>
        <p:sp>
          <p:nvSpPr>
            <p:cNvPr id="12" name="card#4 &gt; Heading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50712" y="3232404"/>
              <a:ext cx="5492344" cy="2025396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13" name="Heading 4"/>
            <p:cNvSpPr/>
            <p:nvPr/>
          </p:nvSpPr>
          <p:spPr>
            <a:xfrm>
              <a:off x="6379312" y="3396996"/>
              <a:ext cx="50351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Threats</a:t>
              </a:r>
              <a:endParaRPr lang="en-US" sz="1600" dirty="0"/>
            </a:p>
          </p:txBody>
        </p:sp>
        <p:sp>
          <p:nvSpPr>
            <p:cNvPr id="14" name="Block 4"/>
            <p:cNvSpPr/>
            <p:nvPr/>
          </p:nvSpPr>
          <p:spPr>
            <a:xfrm>
              <a:off x="6379312" y="3826764"/>
              <a:ext cx="5035144" cy="12938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Point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V-MAT-03  ·  Impact and effort</a:t>
            </a:r>
            <a:endParaRPr lang="en-US" sz="1000" dirty="0"/>
          </a:p>
        </p:txBody>
      </p:sp>
      <p:grpSp>
        <p:nvGrpSpPr>
          <p:cNvPr id="36" name="V-MAT-03"/>
          <p:cNvGrpSpPr/>
          <p:nvPr/>
        </p:nvGrpSpPr>
        <p:grpSpPr>
          <a:xfrm>
            <a:off x="-1124712" y="1051560"/>
            <a:ext cx="12722047" cy="4142232"/>
            <a:chOff x="-1124712" y="1051560"/>
            <a:chExt cx="12722047" cy="4142232"/>
          </a:xfrm>
        </p:grpSpPr>
        <p:sp>
          <p:nvSpPr>
            <p:cNvPr id="3" name="Plot Area"/>
            <p:cNvSpPr/>
            <p:nvPr/>
          </p:nvSpPr>
          <p:spPr>
            <a:xfrm>
              <a:off x="960120" y="1097280"/>
              <a:ext cx="6878537" cy="3749040"/>
            </a:xfrm>
            <a:prstGeom prst="rect">
              <a:avLst/>
            </a:prstGeom>
            <a:ln/>
          </p:spPr>
        </p:sp>
        <p:sp>
          <p:nvSpPr>
            <p:cNvPr id="4" name="card#1 &gt; Quadrant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7552" y="1124712"/>
              <a:ext cx="3384405" cy="181965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Quadrant 1"/>
            <p:cNvSpPr/>
            <p:nvPr/>
          </p:nvSpPr>
          <p:spPr>
            <a:xfrm>
              <a:off x="1124712" y="1234440"/>
              <a:ext cx="307350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Quick wins</a:t>
              </a:r>
              <a:endParaRPr lang="en-US" sz="1000" dirty="0"/>
            </a:p>
          </p:txBody>
        </p:sp>
        <p:sp>
          <p:nvSpPr>
            <p:cNvPr id="6" name="Quadrant 1 text"/>
            <p:cNvSpPr/>
            <p:nvPr/>
          </p:nvSpPr>
          <p:spPr>
            <a:xfrm>
              <a:off x="1124712" y="1554480"/>
              <a:ext cx="3073509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to do here</a:t>
              </a:r>
              <a:endParaRPr lang="en-US" sz="1000" dirty="0"/>
            </a:p>
          </p:txBody>
        </p:sp>
        <p:sp>
          <p:nvSpPr>
            <p:cNvPr id="7" name="card#2 &gt; Quadrant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26821" y="1124712"/>
              <a:ext cx="3384405" cy="1819656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8" name="Quadrant 2"/>
            <p:cNvSpPr/>
            <p:nvPr/>
          </p:nvSpPr>
          <p:spPr>
            <a:xfrm>
              <a:off x="4563981" y="1234440"/>
              <a:ext cx="307350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Big bets</a:t>
              </a:r>
              <a:endParaRPr lang="en-US" sz="1000" dirty="0"/>
            </a:p>
          </p:txBody>
        </p:sp>
        <p:sp>
          <p:nvSpPr>
            <p:cNvPr id="9" name="Quadrant 2 text"/>
            <p:cNvSpPr/>
            <p:nvPr/>
          </p:nvSpPr>
          <p:spPr>
            <a:xfrm>
              <a:off x="4563981" y="1554480"/>
              <a:ext cx="3073509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to do here</a:t>
              </a:r>
              <a:endParaRPr lang="en-US" sz="1000" dirty="0"/>
            </a:p>
          </p:txBody>
        </p:sp>
        <p:sp>
          <p:nvSpPr>
            <p:cNvPr id="10" name="card#3 &gt; Quadrant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7552" y="2999232"/>
              <a:ext cx="3384405" cy="1819656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1" name="Quadrant 3"/>
            <p:cNvSpPr/>
            <p:nvPr/>
          </p:nvSpPr>
          <p:spPr>
            <a:xfrm>
              <a:off x="1124712" y="3108960"/>
              <a:ext cx="307350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Fill-ins</a:t>
              </a:r>
              <a:endParaRPr lang="en-US" sz="1000" dirty="0"/>
            </a:p>
          </p:txBody>
        </p:sp>
        <p:sp>
          <p:nvSpPr>
            <p:cNvPr id="12" name="Quadrant 3 text"/>
            <p:cNvSpPr/>
            <p:nvPr/>
          </p:nvSpPr>
          <p:spPr>
            <a:xfrm>
              <a:off x="1124712" y="3429000"/>
              <a:ext cx="3073509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What to do here</a:t>
              </a:r>
              <a:endParaRPr lang="en-US" sz="1000" dirty="0"/>
            </a:p>
          </p:txBody>
        </p:sp>
        <p:sp>
          <p:nvSpPr>
            <p:cNvPr id="13" name="card#4 &gt; Quadrant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26821" y="2999232"/>
              <a:ext cx="3384405" cy="1819656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4" name="Quadrant 4"/>
            <p:cNvSpPr/>
            <p:nvPr/>
          </p:nvSpPr>
          <p:spPr>
            <a:xfrm>
              <a:off x="4563981" y="3108960"/>
              <a:ext cx="307350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Time sinks</a:t>
              </a:r>
              <a:endParaRPr lang="en-US" sz="1000" dirty="0"/>
            </a:p>
          </p:txBody>
        </p:sp>
        <p:sp>
          <p:nvSpPr>
            <p:cNvPr id="15" name="Quadrant 4 text"/>
            <p:cNvSpPr/>
            <p:nvPr/>
          </p:nvSpPr>
          <p:spPr>
            <a:xfrm>
              <a:off x="4563981" y="3429000"/>
              <a:ext cx="3073509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What to do here</a:t>
              </a:r>
              <a:endParaRPr lang="en-US" sz="1000" dirty="0"/>
            </a:p>
          </p:txBody>
        </p:sp>
        <p:sp>
          <p:nvSpPr>
            <p:cNvPr id="16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20" y="4846320"/>
              <a:ext cx="6924257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7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20" y="1051560"/>
              <a:ext cx="91" cy="37947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8" name="X axis"/>
            <p:cNvSpPr/>
            <p:nvPr/>
          </p:nvSpPr>
          <p:spPr>
            <a:xfrm>
              <a:off x="960120" y="4919472"/>
              <a:ext cx="6878537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Effort</a:t>
              </a:r>
              <a:endParaRPr lang="en-US" sz="1000" dirty="0"/>
            </a:p>
          </p:txBody>
        </p:sp>
        <p:sp>
          <p:nvSpPr>
            <p:cNvPr id="19" name="Y axis"/>
            <p:cNvSpPr/>
            <p:nvPr/>
          </p:nvSpPr>
          <p:spPr>
            <a:xfrm rot="16200000">
              <a:off x="-1124712" y="283464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Impact</a:t>
              </a:r>
              <a:endParaRPr lang="en-US" sz="1000" dirty="0"/>
            </a:p>
          </p:txBody>
        </p:sp>
        <p:sp>
          <p:nvSpPr>
            <p:cNvPr id="20" name="Item 1"/>
            <p:cNvSpPr/>
            <p:nvPr/>
          </p:nvSpPr>
          <p:spPr>
            <a:xfrm>
              <a:off x="2143803" y="1655064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100" dirty="0"/>
            </a:p>
          </p:txBody>
        </p:sp>
        <p:sp>
          <p:nvSpPr>
            <p:cNvPr id="21" name="Item 2"/>
            <p:cNvSpPr/>
            <p:nvPr/>
          </p:nvSpPr>
          <p:spPr>
            <a:xfrm>
              <a:off x="5583072" y="146761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100" dirty="0"/>
            </a:p>
          </p:txBody>
        </p:sp>
        <p:sp>
          <p:nvSpPr>
            <p:cNvPr id="22" name="Item 3"/>
            <p:cNvSpPr/>
            <p:nvPr/>
          </p:nvSpPr>
          <p:spPr>
            <a:xfrm>
              <a:off x="2831657" y="3529584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100" dirty="0"/>
            </a:p>
          </p:txBody>
        </p:sp>
        <p:sp>
          <p:nvSpPr>
            <p:cNvPr id="23" name="Item 4"/>
            <p:cNvSpPr/>
            <p:nvPr/>
          </p:nvSpPr>
          <p:spPr>
            <a:xfrm>
              <a:off x="6270926" y="3904488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100" dirty="0"/>
            </a:p>
          </p:txBody>
        </p:sp>
        <p:sp>
          <p:nvSpPr>
            <p:cNvPr id="24" name="Item 5"/>
            <p:cNvSpPr/>
            <p:nvPr/>
          </p:nvSpPr>
          <p:spPr>
            <a:xfrm>
              <a:off x="3519511" y="2217420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en-US" sz="1100" dirty="0"/>
            </a:p>
          </p:txBody>
        </p:sp>
        <p:sp>
          <p:nvSpPr>
            <p:cNvPr id="25" name="Key label"/>
            <p:cNvSpPr/>
            <p:nvPr/>
          </p:nvSpPr>
          <p:spPr>
            <a:xfrm>
              <a:off x="8295857" y="1097280"/>
              <a:ext cx="330147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Initiatives</a:t>
              </a:r>
              <a:endParaRPr lang="en-US" sz="1000" dirty="0"/>
            </a:p>
          </p:txBody>
        </p:sp>
        <p:sp>
          <p:nvSpPr>
            <p:cNvPr id="26" name="Key 1 number"/>
            <p:cNvSpPr/>
            <p:nvPr/>
          </p:nvSpPr>
          <p:spPr>
            <a:xfrm>
              <a:off x="8295857" y="1463040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200" dirty="0"/>
            </a:p>
          </p:txBody>
        </p:sp>
        <p:sp>
          <p:nvSpPr>
            <p:cNvPr id="27" name="Key 1"/>
            <p:cNvSpPr/>
            <p:nvPr/>
          </p:nvSpPr>
          <p:spPr>
            <a:xfrm>
              <a:off x="8615897" y="1463040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28" name="Key 2 number"/>
            <p:cNvSpPr/>
            <p:nvPr/>
          </p:nvSpPr>
          <p:spPr>
            <a:xfrm>
              <a:off x="8295857" y="184708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200" dirty="0"/>
            </a:p>
          </p:txBody>
        </p:sp>
        <p:sp>
          <p:nvSpPr>
            <p:cNvPr id="29" name="Key 2"/>
            <p:cNvSpPr/>
            <p:nvPr/>
          </p:nvSpPr>
          <p:spPr>
            <a:xfrm>
              <a:off x="8615897" y="1847088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30" name="Key 3 number"/>
            <p:cNvSpPr/>
            <p:nvPr/>
          </p:nvSpPr>
          <p:spPr>
            <a:xfrm>
              <a:off x="8295857" y="223113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200" dirty="0"/>
            </a:p>
          </p:txBody>
        </p:sp>
        <p:sp>
          <p:nvSpPr>
            <p:cNvPr id="31" name="Key 3"/>
            <p:cNvSpPr/>
            <p:nvPr/>
          </p:nvSpPr>
          <p:spPr>
            <a:xfrm>
              <a:off x="8615897" y="2231136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32" name="Key 4 number"/>
            <p:cNvSpPr/>
            <p:nvPr/>
          </p:nvSpPr>
          <p:spPr>
            <a:xfrm>
              <a:off x="8295857" y="2615184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200" dirty="0"/>
            </a:p>
          </p:txBody>
        </p:sp>
        <p:sp>
          <p:nvSpPr>
            <p:cNvPr id="33" name="Key 4"/>
            <p:cNvSpPr/>
            <p:nvPr/>
          </p:nvSpPr>
          <p:spPr>
            <a:xfrm>
              <a:off x="8615897" y="2615184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34" name="Key 5 number"/>
            <p:cNvSpPr/>
            <p:nvPr/>
          </p:nvSpPr>
          <p:spPr>
            <a:xfrm>
              <a:off x="8295857" y="2999232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en-US" sz="1200" dirty="0"/>
            </a:p>
          </p:txBody>
        </p:sp>
        <p:sp>
          <p:nvSpPr>
            <p:cNvPr id="35" name="Key 5"/>
            <p:cNvSpPr/>
            <p:nvPr/>
          </p:nvSpPr>
          <p:spPr>
            <a:xfrm>
              <a:off x="8615897" y="2999232"/>
              <a:ext cx="29814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V-MAT-04  ·  Risk matrix</a:t>
            </a:r>
            <a:endParaRPr lang="en-US" sz="1000" dirty="0"/>
          </a:p>
        </p:txBody>
      </p:sp>
      <p:grpSp>
        <p:nvGrpSpPr>
          <p:cNvPr id="49" name="V-MAT-04"/>
          <p:cNvGrpSpPr/>
          <p:nvPr/>
        </p:nvGrpSpPr>
        <p:grpSpPr>
          <a:xfrm>
            <a:off x="-1124712" y="1051560"/>
            <a:ext cx="12722047" cy="4142232"/>
            <a:chOff x="-1124712" y="1051560"/>
            <a:chExt cx="12722047" cy="4142232"/>
          </a:xfrm>
        </p:grpSpPr>
        <p:sp>
          <p:nvSpPr>
            <p:cNvPr id="3" name="Plot Area"/>
            <p:cNvSpPr/>
            <p:nvPr/>
          </p:nvSpPr>
          <p:spPr>
            <a:xfrm>
              <a:off x="960120" y="1097280"/>
              <a:ext cx="5998464" cy="3749040"/>
            </a:xfrm>
            <a:prstGeom prst="rect">
              <a:avLst/>
            </a:prstGeom>
            <a:ln/>
          </p:spPr>
        </p:sp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78408" y="1115568"/>
              <a:ext cx="1163117" cy="71323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78101" y="1115568"/>
              <a:ext cx="1163117" cy="713232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6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77794" y="1115568"/>
              <a:ext cx="1163117" cy="713232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7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77486" y="1115568"/>
              <a:ext cx="1163117" cy="713232"/>
            </a:xfrm>
            <a:prstGeom prst="rect">
              <a:avLst/>
            </a:prstGeom>
            <a:solidFill>
              <a:schemeClr val="accent2"/>
            </a:solidFill>
            <a:ln/>
          </p:spPr>
        </p:sp>
        <p:sp>
          <p:nvSpPr>
            <p:cNvPr id="8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7179" y="1115568"/>
              <a:ext cx="1163117" cy="713232"/>
            </a:xfrm>
            <a:prstGeom prst="rect">
              <a:avLst/>
            </a:prstGeom>
            <a:solidFill>
              <a:schemeClr val="accent2"/>
            </a:solidFill>
            <a:ln/>
          </p:spPr>
        </p:sp>
        <p:sp>
          <p:nvSpPr>
            <p:cNvPr id="9" name="decoration#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78408" y="1865376"/>
              <a:ext cx="1163117" cy="71323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10" name="decoration#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78101" y="1865376"/>
              <a:ext cx="1163117" cy="71323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11" name="decoration#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77794" y="1865376"/>
              <a:ext cx="1163117" cy="713232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12" name="decoration#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77486" y="1865376"/>
              <a:ext cx="1163117" cy="713232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13" name="decoration#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7179" y="1865376"/>
              <a:ext cx="1163117" cy="713232"/>
            </a:xfrm>
            <a:prstGeom prst="rect">
              <a:avLst/>
            </a:prstGeom>
            <a:solidFill>
              <a:schemeClr val="accent2"/>
            </a:solidFill>
            <a:ln/>
          </p:spPr>
        </p:sp>
        <p:sp>
          <p:nvSpPr>
            <p:cNvPr id="14" name="decoration#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78408" y="2615184"/>
              <a:ext cx="1163117" cy="713232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15" name="decoration#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78101" y="2615184"/>
              <a:ext cx="1163117" cy="71323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16" name="decoration#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77794" y="2615184"/>
              <a:ext cx="1163117" cy="71323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17" name="decoration#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77486" y="2615184"/>
              <a:ext cx="1163117" cy="713232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18" name="decoration#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7179" y="2615184"/>
              <a:ext cx="1163117" cy="713232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19" name="decoration#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78408" y="3364992"/>
              <a:ext cx="1163117" cy="713232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20" name="decoration#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78101" y="3364992"/>
              <a:ext cx="1163117" cy="713232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21" name="decoration#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77794" y="3364992"/>
              <a:ext cx="1163117" cy="71323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22" name="decoration#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77486" y="3364992"/>
              <a:ext cx="1163117" cy="71323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23" name="decoration#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7179" y="3364992"/>
              <a:ext cx="1163117" cy="713232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24" name="decoration#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78408" y="4114800"/>
              <a:ext cx="1163117" cy="713232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25" name="decoration#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78101" y="4114800"/>
              <a:ext cx="1163117" cy="713232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26" name="decoration#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77794" y="4114800"/>
              <a:ext cx="1163117" cy="713232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27" name="decoration#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77486" y="4114800"/>
              <a:ext cx="1163117" cy="71323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28" name="decoration#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7179" y="4114800"/>
              <a:ext cx="1163117" cy="713232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29" name="decoration#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20" y="4846320"/>
              <a:ext cx="6044184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30" name="decoration#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20" y="1051560"/>
              <a:ext cx="91" cy="37947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31" name="X axis"/>
            <p:cNvSpPr/>
            <p:nvPr/>
          </p:nvSpPr>
          <p:spPr>
            <a:xfrm>
              <a:off x="960120" y="4919472"/>
              <a:ext cx="599846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Impact</a:t>
              </a:r>
              <a:endParaRPr lang="en-US" sz="1000" dirty="0"/>
            </a:p>
          </p:txBody>
        </p:sp>
        <p:sp>
          <p:nvSpPr>
            <p:cNvPr id="32" name="Y axis"/>
            <p:cNvSpPr/>
            <p:nvPr/>
          </p:nvSpPr>
          <p:spPr>
            <a:xfrm rot="16200000">
              <a:off x="-1124712" y="283464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Likelihood</a:t>
              </a:r>
              <a:endParaRPr lang="en-US" sz="1000" dirty="0"/>
            </a:p>
          </p:txBody>
        </p:sp>
        <p:sp>
          <p:nvSpPr>
            <p:cNvPr id="33" name="Item 1"/>
            <p:cNvSpPr/>
            <p:nvPr/>
          </p:nvSpPr>
          <p:spPr>
            <a:xfrm>
              <a:off x="6166714" y="2029968"/>
              <a:ext cx="384048" cy="384048"/>
            </a:xfrm>
            <a:prstGeom prst="ellipse">
              <a:avLst/>
            </a:prstGeom>
            <a:solidFill>
              <a:schemeClr val="tx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100" dirty="0"/>
            </a:p>
          </p:txBody>
        </p:sp>
        <p:sp>
          <p:nvSpPr>
            <p:cNvPr id="34" name="Item 2"/>
            <p:cNvSpPr/>
            <p:nvPr/>
          </p:nvSpPr>
          <p:spPr>
            <a:xfrm>
              <a:off x="3767328" y="1280160"/>
              <a:ext cx="384048" cy="384048"/>
            </a:xfrm>
            <a:prstGeom prst="ellipse">
              <a:avLst/>
            </a:prstGeom>
            <a:solidFill>
              <a:schemeClr val="tx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100" dirty="0"/>
            </a:p>
          </p:txBody>
        </p:sp>
        <p:sp>
          <p:nvSpPr>
            <p:cNvPr id="35" name="Item 3"/>
            <p:cNvSpPr/>
            <p:nvPr/>
          </p:nvSpPr>
          <p:spPr>
            <a:xfrm>
              <a:off x="4967021" y="2779776"/>
              <a:ext cx="384048" cy="384048"/>
            </a:xfrm>
            <a:prstGeom prst="ellipse">
              <a:avLst/>
            </a:prstGeom>
            <a:solidFill>
              <a:schemeClr val="tx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100" dirty="0"/>
            </a:p>
          </p:txBody>
        </p:sp>
        <p:sp>
          <p:nvSpPr>
            <p:cNvPr id="36" name="Item 4"/>
            <p:cNvSpPr/>
            <p:nvPr/>
          </p:nvSpPr>
          <p:spPr>
            <a:xfrm>
              <a:off x="2567635" y="3529584"/>
              <a:ext cx="384048" cy="384048"/>
            </a:xfrm>
            <a:prstGeom prst="ellipse">
              <a:avLst/>
            </a:prstGeom>
            <a:solidFill>
              <a:schemeClr val="tx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100" dirty="0"/>
            </a:p>
          </p:txBody>
        </p:sp>
        <p:sp>
          <p:nvSpPr>
            <p:cNvPr id="37" name="Item 5"/>
            <p:cNvSpPr/>
            <p:nvPr/>
          </p:nvSpPr>
          <p:spPr>
            <a:xfrm>
              <a:off x="1367942" y="2779776"/>
              <a:ext cx="384048" cy="384048"/>
            </a:xfrm>
            <a:prstGeom prst="ellipse">
              <a:avLst/>
            </a:prstGeom>
            <a:solidFill>
              <a:schemeClr val="tx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en-US" sz="1100" dirty="0"/>
            </a:p>
          </p:txBody>
        </p:sp>
        <p:sp>
          <p:nvSpPr>
            <p:cNvPr id="38" name="Key label"/>
            <p:cNvSpPr/>
            <p:nvPr/>
          </p:nvSpPr>
          <p:spPr>
            <a:xfrm>
              <a:off x="7415784" y="1097280"/>
              <a:ext cx="418155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Risks</a:t>
              </a:r>
              <a:endParaRPr lang="en-US" sz="1000" dirty="0"/>
            </a:p>
          </p:txBody>
        </p:sp>
        <p:sp>
          <p:nvSpPr>
            <p:cNvPr id="39" name="Key 1 number"/>
            <p:cNvSpPr/>
            <p:nvPr/>
          </p:nvSpPr>
          <p:spPr>
            <a:xfrm>
              <a:off x="7415784" y="1463040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200" dirty="0"/>
            </a:p>
          </p:txBody>
        </p:sp>
        <p:sp>
          <p:nvSpPr>
            <p:cNvPr id="40" name="Key 1"/>
            <p:cNvSpPr/>
            <p:nvPr/>
          </p:nvSpPr>
          <p:spPr>
            <a:xfrm>
              <a:off x="7735824" y="1463040"/>
              <a:ext cx="386151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41" name="Key 2 number"/>
            <p:cNvSpPr/>
            <p:nvPr/>
          </p:nvSpPr>
          <p:spPr>
            <a:xfrm>
              <a:off x="7415784" y="184708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200" dirty="0"/>
            </a:p>
          </p:txBody>
        </p:sp>
        <p:sp>
          <p:nvSpPr>
            <p:cNvPr id="42" name="Key 2"/>
            <p:cNvSpPr/>
            <p:nvPr/>
          </p:nvSpPr>
          <p:spPr>
            <a:xfrm>
              <a:off x="7735824" y="1847088"/>
              <a:ext cx="386151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43" name="Key 3 number"/>
            <p:cNvSpPr/>
            <p:nvPr/>
          </p:nvSpPr>
          <p:spPr>
            <a:xfrm>
              <a:off x="7415784" y="223113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200" dirty="0"/>
            </a:p>
          </p:txBody>
        </p:sp>
        <p:sp>
          <p:nvSpPr>
            <p:cNvPr id="44" name="Key 3"/>
            <p:cNvSpPr/>
            <p:nvPr/>
          </p:nvSpPr>
          <p:spPr>
            <a:xfrm>
              <a:off x="7735824" y="2231136"/>
              <a:ext cx="386151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45" name="Key 4 number"/>
            <p:cNvSpPr/>
            <p:nvPr/>
          </p:nvSpPr>
          <p:spPr>
            <a:xfrm>
              <a:off x="7415784" y="2615184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200" dirty="0"/>
            </a:p>
          </p:txBody>
        </p:sp>
        <p:sp>
          <p:nvSpPr>
            <p:cNvPr id="46" name="Key 4"/>
            <p:cNvSpPr/>
            <p:nvPr/>
          </p:nvSpPr>
          <p:spPr>
            <a:xfrm>
              <a:off x="7735824" y="2615184"/>
              <a:ext cx="386151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47" name="Key 5 number"/>
            <p:cNvSpPr/>
            <p:nvPr/>
          </p:nvSpPr>
          <p:spPr>
            <a:xfrm>
              <a:off x="7415784" y="2999232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en-US" sz="1200" dirty="0"/>
            </a:p>
          </p:txBody>
        </p:sp>
        <p:sp>
          <p:nvSpPr>
            <p:cNvPr id="48" name="Key 5"/>
            <p:cNvSpPr/>
            <p:nvPr/>
          </p:nvSpPr>
          <p:spPr>
            <a:xfrm>
              <a:off x="7735824" y="2999232"/>
              <a:ext cx="386151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V-MAT-05  ·  Nine-box grid</a:t>
            </a:r>
            <a:endParaRPr lang="en-US" sz="1000" dirty="0"/>
          </a:p>
        </p:txBody>
      </p:sp>
      <p:grpSp>
        <p:nvGrpSpPr>
          <p:cNvPr id="34" name="V-MAT-05"/>
          <p:cNvGrpSpPr/>
          <p:nvPr/>
        </p:nvGrpSpPr>
        <p:grpSpPr>
          <a:xfrm>
            <a:off x="-1124712" y="1051560"/>
            <a:ext cx="12813487" cy="4142232"/>
            <a:chOff x="-1124712" y="1051560"/>
            <a:chExt cx="12813487" cy="4142232"/>
          </a:xfrm>
        </p:grpSpPr>
        <p:sp>
          <p:nvSpPr>
            <p:cNvPr id="3" name="card#1 &gt; Box 1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6696" y="1133856"/>
              <a:ext cx="3487826" cy="1176528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4" name="Box 1 heading"/>
            <p:cNvSpPr/>
            <p:nvPr/>
          </p:nvSpPr>
          <p:spPr>
            <a:xfrm>
              <a:off x="1143000" y="1234440"/>
              <a:ext cx="31952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Box 1</a:t>
              </a:r>
              <a:endParaRPr lang="en-US" sz="1200" dirty="0"/>
            </a:p>
          </p:txBody>
        </p:sp>
        <p:sp>
          <p:nvSpPr>
            <p:cNvPr id="5" name="Box 1 text"/>
            <p:cNvSpPr/>
            <p:nvPr/>
          </p:nvSpPr>
          <p:spPr>
            <a:xfrm>
              <a:off x="1143000" y="1554480"/>
              <a:ext cx="3195218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6" name="card#2 &gt; Box 2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57674" y="1133856"/>
              <a:ext cx="3487826" cy="1176528"/>
            </a:xfrm>
            <a:prstGeom prst="rect">
              <a:avLst/>
            </a:prstGeom>
            <a:solidFill>
              <a:schemeClr val="accent3"/>
            </a:solidFill>
            <a:ln/>
          </p:spPr>
        </p:sp>
        <p:sp>
          <p:nvSpPr>
            <p:cNvPr id="7" name="Box 2 heading"/>
            <p:cNvSpPr/>
            <p:nvPr/>
          </p:nvSpPr>
          <p:spPr>
            <a:xfrm>
              <a:off x="4703978" y="1234440"/>
              <a:ext cx="31952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Box 2</a:t>
              </a:r>
              <a:endParaRPr lang="en-US" sz="1200" dirty="0"/>
            </a:p>
          </p:txBody>
        </p:sp>
        <p:sp>
          <p:nvSpPr>
            <p:cNvPr id="8" name="Box 2 text"/>
            <p:cNvSpPr/>
            <p:nvPr/>
          </p:nvSpPr>
          <p:spPr>
            <a:xfrm>
              <a:off x="4703978" y="1554480"/>
              <a:ext cx="3195218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9" name="card#3 &gt; Box 3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18653" y="1133856"/>
              <a:ext cx="3487826" cy="1176528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10" name="Box 3 heading"/>
            <p:cNvSpPr/>
            <p:nvPr/>
          </p:nvSpPr>
          <p:spPr>
            <a:xfrm>
              <a:off x="8264957" y="1234440"/>
              <a:ext cx="31952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Box 3</a:t>
              </a:r>
              <a:endParaRPr lang="en-US" sz="1200" dirty="0"/>
            </a:p>
          </p:txBody>
        </p:sp>
        <p:sp>
          <p:nvSpPr>
            <p:cNvPr id="11" name="Box 3 text"/>
            <p:cNvSpPr/>
            <p:nvPr/>
          </p:nvSpPr>
          <p:spPr>
            <a:xfrm>
              <a:off x="8264957" y="1554480"/>
              <a:ext cx="3195218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2" name="card#4 &gt; Box 4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6696" y="2383536"/>
              <a:ext cx="3487826" cy="1176528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3" name="Box 4 heading"/>
            <p:cNvSpPr/>
            <p:nvPr/>
          </p:nvSpPr>
          <p:spPr>
            <a:xfrm>
              <a:off x="1143000" y="2484120"/>
              <a:ext cx="31952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Box 4</a:t>
              </a:r>
              <a:endParaRPr lang="en-US" sz="1200" dirty="0"/>
            </a:p>
          </p:txBody>
        </p:sp>
        <p:sp>
          <p:nvSpPr>
            <p:cNvPr id="14" name="Box 4 text"/>
            <p:cNvSpPr/>
            <p:nvPr/>
          </p:nvSpPr>
          <p:spPr>
            <a:xfrm>
              <a:off x="1143000" y="2804160"/>
              <a:ext cx="3195218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5" name="card#5 &gt; Box 5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57674" y="2383536"/>
              <a:ext cx="3487826" cy="1176528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16" name="Box 5 heading"/>
            <p:cNvSpPr/>
            <p:nvPr/>
          </p:nvSpPr>
          <p:spPr>
            <a:xfrm>
              <a:off x="4703978" y="2484120"/>
              <a:ext cx="31952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Box 5</a:t>
              </a:r>
              <a:endParaRPr lang="en-US" sz="1200" dirty="0"/>
            </a:p>
          </p:txBody>
        </p:sp>
        <p:sp>
          <p:nvSpPr>
            <p:cNvPr id="17" name="Box 5 text"/>
            <p:cNvSpPr/>
            <p:nvPr/>
          </p:nvSpPr>
          <p:spPr>
            <a:xfrm>
              <a:off x="4703978" y="2804160"/>
              <a:ext cx="3195218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8" name="card#6 &gt; Box 6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18653" y="2383536"/>
              <a:ext cx="3487826" cy="1176528"/>
            </a:xfrm>
            <a:prstGeom prst="rect">
              <a:avLst/>
            </a:prstGeom>
            <a:solidFill>
              <a:schemeClr val="accent3"/>
            </a:solidFill>
            <a:ln/>
          </p:spPr>
        </p:sp>
        <p:sp>
          <p:nvSpPr>
            <p:cNvPr id="19" name="Box 6 heading"/>
            <p:cNvSpPr/>
            <p:nvPr/>
          </p:nvSpPr>
          <p:spPr>
            <a:xfrm>
              <a:off x="8264957" y="2484120"/>
              <a:ext cx="31952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Box 6</a:t>
              </a:r>
              <a:endParaRPr lang="en-US" sz="1200" dirty="0"/>
            </a:p>
          </p:txBody>
        </p:sp>
        <p:sp>
          <p:nvSpPr>
            <p:cNvPr id="20" name="Box 6 text"/>
            <p:cNvSpPr/>
            <p:nvPr/>
          </p:nvSpPr>
          <p:spPr>
            <a:xfrm>
              <a:off x="8264957" y="2804160"/>
              <a:ext cx="3195218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1" name="card#7 &gt; Box 7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6696" y="3633216"/>
              <a:ext cx="3487826" cy="1176528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22" name="Box 7 heading"/>
            <p:cNvSpPr/>
            <p:nvPr/>
          </p:nvSpPr>
          <p:spPr>
            <a:xfrm>
              <a:off x="1143000" y="3733800"/>
              <a:ext cx="31952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Box 7</a:t>
              </a:r>
              <a:endParaRPr lang="en-US" sz="1200" dirty="0"/>
            </a:p>
          </p:txBody>
        </p:sp>
        <p:sp>
          <p:nvSpPr>
            <p:cNvPr id="23" name="Box 7 text"/>
            <p:cNvSpPr/>
            <p:nvPr/>
          </p:nvSpPr>
          <p:spPr>
            <a:xfrm>
              <a:off x="1143000" y="4053840"/>
              <a:ext cx="3195218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4" name="card#8 &gt; Box 8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57674" y="3633216"/>
              <a:ext cx="3487826" cy="1176528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25" name="Box 8 heading"/>
            <p:cNvSpPr/>
            <p:nvPr/>
          </p:nvSpPr>
          <p:spPr>
            <a:xfrm>
              <a:off x="4703978" y="3733800"/>
              <a:ext cx="31952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Box 8</a:t>
              </a:r>
              <a:endParaRPr lang="en-US" sz="1200" dirty="0"/>
            </a:p>
          </p:txBody>
        </p:sp>
        <p:sp>
          <p:nvSpPr>
            <p:cNvPr id="26" name="Box 8 text"/>
            <p:cNvSpPr/>
            <p:nvPr/>
          </p:nvSpPr>
          <p:spPr>
            <a:xfrm>
              <a:off x="4703978" y="4053840"/>
              <a:ext cx="3195218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7" name="card#9 &gt; Box 9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18653" y="3633216"/>
              <a:ext cx="3487826" cy="1176528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28" name="Box 9 heading"/>
            <p:cNvSpPr/>
            <p:nvPr/>
          </p:nvSpPr>
          <p:spPr>
            <a:xfrm>
              <a:off x="8264957" y="3733800"/>
              <a:ext cx="31952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Box 9</a:t>
              </a:r>
              <a:endParaRPr lang="en-US" sz="1200" dirty="0"/>
            </a:p>
          </p:txBody>
        </p:sp>
        <p:sp>
          <p:nvSpPr>
            <p:cNvPr id="29" name="Box 9 text"/>
            <p:cNvSpPr/>
            <p:nvPr/>
          </p:nvSpPr>
          <p:spPr>
            <a:xfrm>
              <a:off x="8264957" y="4053840"/>
              <a:ext cx="3195218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30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20" y="4846320"/>
              <a:ext cx="10728655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31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20" y="1051560"/>
              <a:ext cx="91" cy="37947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32" name="X axis"/>
            <p:cNvSpPr/>
            <p:nvPr/>
          </p:nvSpPr>
          <p:spPr>
            <a:xfrm>
              <a:off x="960120" y="4919472"/>
              <a:ext cx="1068293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Horizontal axis</a:t>
              </a:r>
              <a:endParaRPr lang="en-US" sz="1000" dirty="0"/>
            </a:p>
          </p:txBody>
        </p:sp>
        <p:sp>
          <p:nvSpPr>
            <p:cNvPr id="33" name="Y axis"/>
            <p:cNvSpPr/>
            <p:nvPr/>
          </p:nvSpPr>
          <p:spPr>
            <a:xfrm rot="16200000">
              <a:off x="-1124712" y="283464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Vertical axis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V-MAT-06  ·  Positioning map</a:t>
            </a:r>
            <a:endParaRPr lang="en-US" sz="1000" dirty="0"/>
          </a:p>
        </p:txBody>
      </p:sp>
      <p:grpSp>
        <p:nvGrpSpPr>
          <p:cNvPr id="26" name="V-MAT-06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Plot Area"/>
            <p:cNvSpPr/>
            <p:nvPr/>
          </p:nvSpPr>
          <p:spPr>
            <a:xfrm>
              <a:off x="548640" y="1097280"/>
              <a:ext cx="7544202" cy="4160520"/>
            </a:xfrm>
            <a:prstGeom prst="rect">
              <a:avLst/>
            </a:prstGeom>
            <a:ln/>
          </p:spPr>
        </p:sp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177540"/>
              <a:ext cx="7544202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5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20741" y="1097280"/>
              <a:ext cx="91" cy="41605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6" name="Left end"/>
            <p:cNvSpPr/>
            <p:nvPr/>
          </p:nvSpPr>
          <p:spPr>
            <a:xfrm>
              <a:off x="548640" y="322326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Low on axis 1</a:t>
              </a:r>
              <a:endParaRPr lang="en-US" sz="1000" dirty="0"/>
            </a:p>
          </p:txBody>
        </p:sp>
        <p:sp>
          <p:nvSpPr>
            <p:cNvPr id="7" name="Right end"/>
            <p:cNvSpPr/>
            <p:nvPr/>
          </p:nvSpPr>
          <p:spPr>
            <a:xfrm>
              <a:off x="6081162" y="322326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High on axis 1</a:t>
              </a:r>
              <a:endParaRPr lang="en-US" sz="1000" dirty="0"/>
            </a:p>
          </p:txBody>
        </p:sp>
        <p:sp>
          <p:nvSpPr>
            <p:cNvPr id="8" name="Top end"/>
            <p:cNvSpPr/>
            <p:nvPr/>
          </p:nvSpPr>
          <p:spPr>
            <a:xfrm>
              <a:off x="4412181" y="109728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High on axis 2</a:t>
              </a:r>
              <a:endParaRPr lang="en-US" sz="1000" dirty="0"/>
            </a:p>
          </p:txBody>
        </p:sp>
        <p:sp>
          <p:nvSpPr>
            <p:cNvPr id="9" name="Bottom end"/>
            <p:cNvSpPr/>
            <p:nvPr/>
          </p:nvSpPr>
          <p:spPr>
            <a:xfrm>
              <a:off x="4412181" y="498348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Low on axis 2</a:t>
              </a:r>
              <a:endParaRPr lang="en-US" sz="1000" dirty="0"/>
            </a:p>
          </p:txBody>
        </p:sp>
        <p:sp>
          <p:nvSpPr>
            <p:cNvPr id="10" name="Item 1"/>
            <p:cNvSpPr/>
            <p:nvPr/>
          </p:nvSpPr>
          <p:spPr>
            <a:xfrm>
              <a:off x="6014768" y="1737360"/>
              <a:ext cx="384048" cy="384048"/>
            </a:xfrm>
            <a:prstGeom prst="ellipse">
              <a:avLst/>
            </a:prstGeom>
            <a:solidFill>
              <a:schemeClr val="tx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100" dirty="0"/>
            </a:p>
          </p:txBody>
        </p:sp>
        <p:sp>
          <p:nvSpPr>
            <p:cNvPr id="11" name="Item 2"/>
            <p:cNvSpPr/>
            <p:nvPr/>
          </p:nvSpPr>
          <p:spPr>
            <a:xfrm>
              <a:off x="2619877" y="2153412"/>
              <a:ext cx="384048" cy="384048"/>
            </a:xfrm>
            <a:prstGeom prst="ellipse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100" dirty="0"/>
            </a:p>
          </p:txBody>
        </p:sp>
        <p:sp>
          <p:nvSpPr>
            <p:cNvPr id="12" name="Item 3"/>
            <p:cNvSpPr/>
            <p:nvPr/>
          </p:nvSpPr>
          <p:spPr>
            <a:xfrm>
              <a:off x="4883137" y="3609594"/>
              <a:ext cx="384048" cy="384048"/>
            </a:xfrm>
            <a:prstGeom prst="ellipse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100" dirty="0"/>
            </a:p>
          </p:txBody>
        </p:sp>
        <p:sp>
          <p:nvSpPr>
            <p:cNvPr id="13" name="Item 4"/>
            <p:cNvSpPr/>
            <p:nvPr/>
          </p:nvSpPr>
          <p:spPr>
            <a:xfrm>
              <a:off x="1865456" y="4025646"/>
              <a:ext cx="384048" cy="384048"/>
            </a:xfrm>
            <a:prstGeom prst="ellipse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100" dirty="0"/>
            </a:p>
          </p:txBody>
        </p:sp>
        <p:sp>
          <p:nvSpPr>
            <p:cNvPr id="14" name="Item 5"/>
            <p:cNvSpPr/>
            <p:nvPr/>
          </p:nvSpPr>
          <p:spPr>
            <a:xfrm>
              <a:off x="6769188" y="2777490"/>
              <a:ext cx="384048" cy="384048"/>
            </a:xfrm>
            <a:prstGeom prst="ellipse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en-US" sz="1100" dirty="0"/>
            </a:p>
          </p:txBody>
        </p:sp>
        <p:sp>
          <p:nvSpPr>
            <p:cNvPr id="15" name="Key label"/>
            <p:cNvSpPr/>
            <p:nvPr/>
          </p:nvSpPr>
          <p:spPr>
            <a:xfrm>
              <a:off x="8550042" y="1097280"/>
              <a:ext cx="309301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Players</a:t>
              </a:r>
              <a:endParaRPr lang="en-US" sz="1000" dirty="0"/>
            </a:p>
          </p:txBody>
        </p:sp>
        <p:sp>
          <p:nvSpPr>
            <p:cNvPr id="16" name="Key 1 number"/>
            <p:cNvSpPr/>
            <p:nvPr/>
          </p:nvSpPr>
          <p:spPr>
            <a:xfrm>
              <a:off x="8550042" y="1463040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200" dirty="0"/>
            </a:p>
          </p:txBody>
        </p:sp>
        <p:sp>
          <p:nvSpPr>
            <p:cNvPr id="17" name="Key 1"/>
            <p:cNvSpPr/>
            <p:nvPr/>
          </p:nvSpPr>
          <p:spPr>
            <a:xfrm>
              <a:off x="8870082" y="1463040"/>
              <a:ext cx="277297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18" name="Key 2 number"/>
            <p:cNvSpPr/>
            <p:nvPr/>
          </p:nvSpPr>
          <p:spPr>
            <a:xfrm>
              <a:off x="8550042" y="184708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200" dirty="0"/>
            </a:p>
          </p:txBody>
        </p:sp>
        <p:sp>
          <p:nvSpPr>
            <p:cNvPr id="19" name="Key 2"/>
            <p:cNvSpPr/>
            <p:nvPr/>
          </p:nvSpPr>
          <p:spPr>
            <a:xfrm>
              <a:off x="8870082" y="1847088"/>
              <a:ext cx="277297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20" name="Key 3 number"/>
            <p:cNvSpPr/>
            <p:nvPr/>
          </p:nvSpPr>
          <p:spPr>
            <a:xfrm>
              <a:off x="8550042" y="223113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200" dirty="0"/>
            </a:p>
          </p:txBody>
        </p:sp>
        <p:sp>
          <p:nvSpPr>
            <p:cNvPr id="21" name="Key 3"/>
            <p:cNvSpPr/>
            <p:nvPr/>
          </p:nvSpPr>
          <p:spPr>
            <a:xfrm>
              <a:off x="8870082" y="2231136"/>
              <a:ext cx="277297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22" name="Key 4 number"/>
            <p:cNvSpPr/>
            <p:nvPr/>
          </p:nvSpPr>
          <p:spPr>
            <a:xfrm>
              <a:off x="8550042" y="2615184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200" dirty="0"/>
            </a:p>
          </p:txBody>
        </p:sp>
        <p:sp>
          <p:nvSpPr>
            <p:cNvPr id="23" name="Key 4"/>
            <p:cNvSpPr/>
            <p:nvPr/>
          </p:nvSpPr>
          <p:spPr>
            <a:xfrm>
              <a:off x="8870082" y="2615184"/>
              <a:ext cx="277297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  <p:sp>
          <p:nvSpPr>
            <p:cNvPr id="24" name="Key 5 number"/>
            <p:cNvSpPr/>
            <p:nvPr/>
          </p:nvSpPr>
          <p:spPr>
            <a:xfrm>
              <a:off x="8550042" y="2999232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en-US" sz="1200" dirty="0"/>
            </a:p>
          </p:txBody>
        </p:sp>
        <p:sp>
          <p:nvSpPr>
            <p:cNvPr id="25" name="Key 5"/>
            <p:cNvSpPr/>
            <p:nvPr/>
          </p:nvSpPr>
          <p:spPr>
            <a:xfrm>
              <a:off x="8870082" y="2999232"/>
              <a:ext cx="277297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 name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V-PRO-01  ·  Chevron process</a:t>
            </a:r>
            <a:endParaRPr lang="en-US" sz="1000" dirty="0"/>
          </a:p>
        </p:txBody>
      </p:sp>
      <p:grpSp>
        <p:nvGrpSpPr>
          <p:cNvPr id="13" name="V-PRO-01"/>
          <p:cNvGrpSpPr/>
          <p:nvPr/>
        </p:nvGrpSpPr>
        <p:grpSpPr>
          <a:xfrm>
            <a:off x="548640" y="1097280"/>
            <a:ext cx="11094415" cy="4114800"/>
            <a:chOff x="548640" y="1097280"/>
            <a:chExt cx="11094415" cy="4114800"/>
          </a:xfrm>
        </p:grpSpPr>
        <p:sp>
          <p:nvSpPr>
            <p:cNvPr id="3" name="Step 1"/>
            <p:cNvSpPr/>
            <p:nvPr/>
          </p:nvSpPr>
          <p:spPr>
            <a:xfrm>
              <a:off x="548640" y="1097280"/>
              <a:ext cx="2401763" cy="777240"/>
            </a:xfrm>
            <a:prstGeom prst="homePlate">
              <a:avLst/>
            </a:prstGeom>
            <a:solidFill>
              <a:schemeClr val="accent6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 1</a:t>
              </a:r>
              <a:endParaRPr lang="en-US" sz="1200" dirty="0"/>
            </a:p>
          </p:txBody>
        </p:sp>
        <p:sp>
          <p:nvSpPr>
            <p:cNvPr id="4" name="Step 1 text"/>
            <p:cNvSpPr/>
            <p:nvPr/>
          </p:nvSpPr>
          <p:spPr>
            <a:xfrm>
              <a:off x="685800" y="2057400"/>
              <a:ext cx="1898843" cy="3154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 in this step</a:t>
              </a:r>
              <a:endParaRPr lang="en-US" sz="1000" dirty="0"/>
            </a:p>
          </p:txBody>
        </p:sp>
        <p:sp>
          <p:nvSpPr>
            <p:cNvPr id="5" name="Step 2"/>
            <p:cNvSpPr/>
            <p:nvPr/>
          </p:nvSpPr>
          <p:spPr>
            <a:xfrm>
              <a:off x="2721803" y="1097280"/>
              <a:ext cx="2401763" cy="777240"/>
            </a:xfrm>
            <a:prstGeom prst="chevron">
              <a:avLst/>
            </a:prstGeom>
            <a:solidFill>
              <a:schemeClr val="accent1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Step 2</a:t>
              </a:r>
              <a:endParaRPr lang="en-US" sz="1200" dirty="0"/>
            </a:p>
          </p:txBody>
        </p:sp>
        <p:sp>
          <p:nvSpPr>
            <p:cNvPr id="6" name="Step 2 text"/>
            <p:cNvSpPr/>
            <p:nvPr/>
          </p:nvSpPr>
          <p:spPr>
            <a:xfrm>
              <a:off x="2858963" y="2057400"/>
              <a:ext cx="1898843" cy="3154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 in this step</a:t>
              </a:r>
              <a:endParaRPr lang="en-US" sz="1000" dirty="0"/>
            </a:p>
          </p:txBody>
        </p:sp>
        <p:sp>
          <p:nvSpPr>
            <p:cNvPr id="7" name="Step 3"/>
            <p:cNvSpPr/>
            <p:nvPr/>
          </p:nvSpPr>
          <p:spPr>
            <a:xfrm>
              <a:off x="4894966" y="1097280"/>
              <a:ext cx="2401763" cy="777240"/>
            </a:xfrm>
            <a:prstGeom prst="chevron">
              <a:avLst/>
            </a:prstGeom>
            <a:solidFill>
              <a:schemeClr val="accent6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 3</a:t>
              </a:r>
              <a:endParaRPr lang="en-US" sz="1200" dirty="0"/>
            </a:p>
          </p:txBody>
        </p:sp>
        <p:sp>
          <p:nvSpPr>
            <p:cNvPr id="8" name="Step 3 text"/>
            <p:cNvSpPr/>
            <p:nvPr/>
          </p:nvSpPr>
          <p:spPr>
            <a:xfrm>
              <a:off x="5032126" y="2057400"/>
              <a:ext cx="1898843" cy="3154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 in this step</a:t>
              </a:r>
              <a:endParaRPr lang="en-US" sz="1000" dirty="0"/>
            </a:p>
          </p:txBody>
        </p:sp>
        <p:sp>
          <p:nvSpPr>
            <p:cNvPr id="9" name="Step 4"/>
            <p:cNvSpPr/>
            <p:nvPr/>
          </p:nvSpPr>
          <p:spPr>
            <a:xfrm>
              <a:off x="7068129" y="1097280"/>
              <a:ext cx="2401763" cy="777240"/>
            </a:xfrm>
            <a:prstGeom prst="chevron">
              <a:avLst/>
            </a:prstGeom>
            <a:solidFill>
              <a:schemeClr val="accent6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 4</a:t>
              </a:r>
              <a:endParaRPr lang="en-US" sz="1200" dirty="0"/>
            </a:p>
          </p:txBody>
        </p:sp>
        <p:sp>
          <p:nvSpPr>
            <p:cNvPr id="10" name="Step 4 text"/>
            <p:cNvSpPr/>
            <p:nvPr/>
          </p:nvSpPr>
          <p:spPr>
            <a:xfrm>
              <a:off x="7205289" y="2057400"/>
              <a:ext cx="1898843" cy="3154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 in this step</a:t>
              </a:r>
              <a:endParaRPr lang="en-US" sz="1000" dirty="0"/>
            </a:p>
          </p:txBody>
        </p:sp>
        <p:sp>
          <p:nvSpPr>
            <p:cNvPr id="11" name="Step 5"/>
            <p:cNvSpPr/>
            <p:nvPr/>
          </p:nvSpPr>
          <p:spPr>
            <a:xfrm>
              <a:off x="9241292" y="1097280"/>
              <a:ext cx="2401763" cy="777240"/>
            </a:xfrm>
            <a:prstGeom prst="chevron">
              <a:avLst/>
            </a:prstGeom>
            <a:solidFill>
              <a:schemeClr val="accent6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 5</a:t>
              </a:r>
              <a:endParaRPr lang="en-US" sz="1200" dirty="0"/>
            </a:p>
          </p:txBody>
        </p:sp>
        <p:sp>
          <p:nvSpPr>
            <p:cNvPr id="12" name="Step 5 text"/>
            <p:cNvSpPr/>
            <p:nvPr/>
          </p:nvSpPr>
          <p:spPr>
            <a:xfrm>
              <a:off x="9378452" y="2057400"/>
              <a:ext cx="1898843" cy="3154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 in this step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V-PRO-02  ·  Cycle</a:t>
            </a:r>
            <a:endParaRPr lang="en-US" sz="1000" dirty="0"/>
          </a:p>
        </p:txBody>
      </p:sp>
      <p:grpSp>
        <p:nvGrpSpPr>
          <p:cNvPr id="13" name="V-PRO-02"/>
          <p:cNvGrpSpPr/>
          <p:nvPr/>
        </p:nvGrpSpPr>
        <p:grpSpPr>
          <a:xfrm>
            <a:off x="68580" y="1188720"/>
            <a:ext cx="8183880" cy="4069080"/>
            <a:chOff x="68580" y="1188720"/>
            <a:chExt cx="8183880" cy="406908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83180" y="1600200"/>
              <a:ext cx="3154680" cy="3154680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Centre"/>
            <p:cNvSpPr/>
            <p:nvPr/>
          </p:nvSpPr>
          <p:spPr>
            <a:xfrm>
              <a:off x="3154680" y="2811780"/>
              <a:ext cx="20116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Cycle name</a:t>
              </a:r>
              <a:endParaRPr lang="en-US" sz="1600" dirty="0"/>
            </a:p>
          </p:txBody>
        </p:sp>
        <p:sp>
          <p:nvSpPr>
            <p:cNvPr id="5" name="Step 1"/>
            <p:cNvSpPr/>
            <p:nvPr/>
          </p:nvSpPr>
          <p:spPr>
            <a:xfrm>
              <a:off x="3749040" y="1188720"/>
              <a:ext cx="822960" cy="82296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1</a:t>
              </a:r>
              <a:endParaRPr lang="en-US" sz="1600" dirty="0"/>
            </a:p>
          </p:txBody>
        </p:sp>
        <p:sp>
          <p:nvSpPr>
            <p:cNvPr id="6" name="Step 1 text"/>
            <p:cNvSpPr/>
            <p:nvPr/>
          </p:nvSpPr>
          <p:spPr>
            <a:xfrm>
              <a:off x="4663440" y="118872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Step name and one line</a:t>
              </a:r>
              <a:endParaRPr lang="en-US" sz="1000" dirty="0"/>
            </a:p>
          </p:txBody>
        </p:sp>
        <p:sp>
          <p:nvSpPr>
            <p:cNvPr id="7" name="Step 2"/>
            <p:cNvSpPr/>
            <p:nvPr/>
          </p:nvSpPr>
          <p:spPr>
            <a:xfrm>
              <a:off x="5326380" y="2766060"/>
              <a:ext cx="822960" cy="822960"/>
            </a:xfrm>
            <a:prstGeom prst="ellipse">
              <a:avLst/>
            </a:prstGeom>
            <a:solidFill>
              <a:schemeClr val="accent4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2</a:t>
              </a:r>
              <a:endParaRPr lang="en-US" sz="1600" dirty="0"/>
            </a:p>
          </p:txBody>
        </p:sp>
        <p:sp>
          <p:nvSpPr>
            <p:cNvPr id="8" name="Step 2 text"/>
            <p:cNvSpPr/>
            <p:nvPr/>
          </p:nvSpPr>
          <p:spPr>
            <a:xfrm>
              <a:off x="6240780" y="285750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Step name and one line</a:t>
              </a:r>
              <a:endParaRPr lang="en-US" sz="1000" dirty="0"/>
            </a:p>
          </p:txBody>
        </p:sp>
        <p:sp>
          <p:nvSpPr>
            <p:cNvPr id="9" name="Step 3"/>
            <p:cNvSpPr/>
            <p:nvPr/>
          </p:nvSpPr>
          <p:spPr>
            <a:xfrm>
              <a:off x="3749040" y="4343400"/>
              <a:ext cx="822960" cy="822960"/>
            </a:xfrm>
            <a:prstGeom prst="ellipse">
              <a:avLst/>
            </a:prstGeom>
            <a:solidFill>
              <a:schemeClr val="accent4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3</a:t>
              </a:r>
              <a:endParaRPr lang="en-US" sz="1600" dirty="0"/>
            </a:p>
          </p:txBody>
        </p:sp>
        <p:sp>
          <p:nvSpPr>
            <p:cNvPr id="10" name="Step 3 text"/>
            <p:cNvSpPr/>
            <p:nvPr/>
          </p:nvSpPr>
          <p:spPr>
            <a:xfrm>
              <a:off x="4663440" y="461772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Step name and one line</a:t>
              </a:r>
              <a:endParaRPr lang="en-US" sz="1000" dirty="0"/>
            </a:p>
          </p:txBody>
        </p:sp>
        <p:sp>
          <p:nvSpPr>
            <p:cNvPr id="11" name="Step 4"/>
            <p:cNvSpPr/>
            <p:nvPr/>
          </p:nvSpPr>
          <p:spPr>
            <a:xfrm>
              <a:off x="2171700" y="2766060"/>
              <a:ext cx="822960" cy="822960"/>
            </a:xfrm>
            <a:prstGeom prst="ellipse">
              <a:avLst/>
            </a:prstGeom>
            <a:solidFill>
              <a:schemeClr val="accent4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4</a:t>
              </a:r>
              <a:endParaRPr lang="en-US" sz="1600" dirty="0"/>
            </a:p>
          </p:txBody>
        </p:sp>
        <p:sp>
          <p:nvSpPr>
            <p:cNvPr id="12" name="Step 4 text"/>
            <p:cNvSpPr/>
            <p:nvPr/>
          </p:nvSpPr>
          <p:spPr>
            <a:xfrm>
              <a:off x="68580" y="285750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Step name and one line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V-PRO-03  ·  Swimlane flow</a:t>
            </a:r>
            <a:endParaRPr lang="en-US" sz="1000" dirty="0"/>
          </a:p>
        </p:txBody>
      </p:sp>
      <p:grpSp>
        <p:nvGrpSpPr>
          <p:cNvPr id="22" name="V-PRO-03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panel#1 &gt; Lan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11094415" cy="138684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4" name="Lane 1"/>
            <p:cNvSpPr/>
            <p:nvPr/>
          </p:nvSpPr>
          <p:spPr>
            <a:xfrm>
              <a:off x="685800" y="1097280"/>
              <a:ext cx="1371600" cy="1386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Actor 1</a:t>
              </a:r>
              <a:endParaRPr lang="en-US" sz="1200" dirty="0"/>
            </a:p>
          </p:txBody>
        </p:sp>
        <p:sp>
          <p:nvSpPr>
            <p:cNvPr id="5" name="panel#2 &gt; Lan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484120"/>
              <a:ext cx="11094415" cy="1386840"/>
            </a:xfrm>
            <a:prstGeom prst="rect">
              <a:avLst/>
            </a:prstGeom>
            <a:solidFill>
              <a:schemeClr val="bg1"/>
            </a:solidFill>
            <a:ln/>
          </p:spPr>
        </p:sp>
        <p:sp>
          <p:nvSpPr>
            <p:cNvPr id="6" name="Lane 2"/>
            <p:cNvSpPr/>
            <p:nvPr/>
          </p:nvSpPr>
          <p:spPr>
            <a:xfrm>
              <a:off x="685800" y="2484120"/>
              <a:ext cx="1371600" cy="1386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Actor 2</a:t>
              </a:r>
              <a:endParaRPr lang="en-US" sz="1200" dirty="0"/>
            </a:p>
          </p:txBody>
        </p:sp>
        <p:sp>
          <p:nvSpPr>
            <p:cNvPr id="7" name="panel#3 &gt; Lan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870960"/>
              <a:ext cx="11094415" cy="138684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8" name="Lane 3"/>
            <p:cNvSpPr/>
            <p:nvPr/>
          </p:nvSpPr>
          <p:spPr>
            <a:xfrm>
              <a:off x="685800" y="3870960"/>
              <a:ext cx="1371600" cy="1386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Actor 3</a:t>
              </a:r>
              <a:endParaRPr lang="en-US" sz="1200" dirty="0"/>
            </a:p>
          </p:txBody>
        </p:sp>
        <p:sp>
          <p:nvSpPr>
            <p:cNvPr id="9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4560" y="1097280"/>
              <a:ext cx="91" cy="4160520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0" name="Box 1"/>
            <p:cNvSpPr/>
            <p:nvPr/>
          </p:nvSpPr>
          <p:spPr>
            <a:xfrm>
              <a:off x="2400300" y="1447800"/>
              <a:ext cx="1478219" cy="685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Activity</a:t>
              </a:r>
              <a:endParaRPr lang="en-US" sz="1000" dirty="0"/>
            </a:p>
          </p:txBody>
        </p:sp>
        <p:sp>
          <p:nvSpPr>
            <p:cNvPr id="11" name="Box 2"/>
            <p:cNvSpPr/>
            <p:nvPr/>
          </p:nvSpPr>
          <p:spPr>
            <a:xfrm>
              <a:off x="4289999" y="2834640"/>
              <a:ext cx="1478219" cy="685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Activity</a:t>
              </a:r>
              <a:endParaRPr lang="en-US" sz="1000" dirty="0"/>
            </a:p>
          </p:txBody>
        </p:sp>
        <p:sp>
          <p:nvSpPr>
            <p:cNvPr id="12" name="Box 2 mark elbow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78519" y="1790700"/>
              <a:ext cx="115059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13" name="Box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109" y="1790700"/>
              <a:ext cx="91" cy="10439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4" name="Box 3"/>
            <p:cNvSpPr/>
            <p:nvPr/>
          </p:nvSpPr>
          <p:spPr>
            <a:xfrm>
              <a:off x="6179698" y="2834640"/>
              <a:ext cx="1478219" cy="685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Activity</a:t>
              </a:r>
              <a:endParaRPr lang="en-US" sz="1000" dirty="0"/>
            </a:p>
          </p:txBody>
        </p:sp>
        <p:sp>
          <p:nvSpPr>
            <p:cNvPr id="15" name="Box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68218" y="3177540"/>
              <a:ext cx="41148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6" name="Box 4"/>
            <p:cNvSpPr/>
            <p:nvPr/>
          </p:nvSpPr>
          <p:spPr>
            <a:xfrm>
              <a:off x="8069397" y="4221480"/>
              <a:ext cx="1478219" cy="685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Activity</a:t>
              </a:r>
              <a:endParaRPr lang="en-US" sz="1000" dirty="0"/>
            </a:p>
          </p:txBody>
        </p:sp>
        <p:sp>
          <p:nvSpPr>
            <p:cNvPr id="17" name="Box 4 mark elbow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57917" y="3177540"/>
              <a:ext cx="115059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18" name="Box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08507" y="3177540"/>
              <a:ext cx="91" cy="10439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9" name="Box 5"/>
            <p:cNvSpPr/>
            <p:nvPr/>
          </p:nvSpPr>
          <p:spPr>
            <a:xfrm>
              <a:off x="9959096" y="1447800"/>
              <a:ext cx="1478219" cy="685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</a:ln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Activity</a:t>
              </a:r>
              <a:endParaRPr lang="en-US" sz="1000" dirty="0"/>
            </a:p>
          </p:txBody>
        </p:sp>
        <p:sp>
          <p:nvSpPr>
            <p:cNvPr id="20" name="Box 5 mark elbow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47616" y="4564380"/>
              <a:ext cx="115059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21" name="Box 5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98206" y="2133600"/>
              <a:ext cx="91" cy="24307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V-PRO-04  ·  Stage-gate</a:t>
            </a:r>
            <a:endParaRPr lang="en-US" sz="1000" dirty="0"/>
          </a:p>
        </p:txBody>
      </p:sp>
      <p:grpSp>
        <p:nvGrpSpPr>
          <p:cNvPr id="17" name="V-PRO-04"/>
          <p:cNvGrpSpPr/>
          <p:nvPr/>
        </p:nvGrpSpPr>
        <p:grpSpPr>
          <a:xfrm>
            <a:off x="548640" y="1371600"/>
            <a:ext cx="11094415" cy="3840480"/>
            <a:chOff x="548640" y="1371600"/>
            <a:chExt cx="11094415" cy="3840480"/>
          </a:xfrm>
        </p:grpSpPr>
        <p:sp>
          <p:nvSpPr>
            <p:cNvPr id="3" name="Stage 1"/>
            <p:cNvSpPr/>
            <p:nvPr/>
          </p:nvSpPr>
          <p:spPr>
            <a:xfrm>
              <a:off x="548640" y="1371600"/>
              <a:ext cx="2156384" cy="73152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1</a:t>
              </a:r>
              <a:endParaRPr lang="en-US" sz="1200" dirty="0"/>
            </a:p>
          </p:txBody>
        </p:sp>
        <p:sp>
          <p:nvSpPr>
            <p:cNvPr id="4" name="Stage 1 text"/>
            <p:cNvSpPr/>
            <p:nvPr/>
          </p:nvSpPr>
          <p:spPr>
            <a:xfrm>
              <a:off x="548640" y="2240280"/>
              <a:ext cx="2156384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Main activities</a:t>
              </a:r>
              <a:endParaRPr lang="en-US" sz="1000" dirty="0"/>
            </a:p>
          </p:txBody>
        </p:sp>
        <p:sp>
          <p:nvSpPr>
            <p:cNvPr id="5" name="Gate 1"/>
            <p:cNvSpPr/>
            <p:nvPr/>
          </p:nvSpPr>
          <p:spPr>
            <a:xfrm>
              <a:off x="2796464" y="1417320"/>
              <a:ext cx="640080" cy="640080"/>
            </a:xfrm>
            <a:prstGeom prst="diamond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G1</a:t>
              </a:r>
              <a:endParaRPr lang="en-US" sz="1000" dirty="0"/>
            </a:p>
          </p:txBody>
        </p:sp>
        <p:sp>
          <p:nvSpPr>
            <p:cNvPr id="6" name="Gate 1 criteria"/>
            <p:cNvSpPr/>
            <p:nvPr/>
          </p:nvSpPr>
          <p:spPr>
            <a:xfrm>
              <a:off x="2476424" y="2240280"/>
              <a:ext cx="1280160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Decision criteria</a:t>
              </a:r>
              <a:endParaRPr lang="en-US" sz="1000" dirty="0"/>
            </a:p>
          </p:txBody>
        </p:sp>
        <p:sp>
          <p:nvSpPr>
            <p:cNvPr id="7" name="Stage 2"/>
            <p:cNvSpPr/>
            <p:nvPr/>
          </p:nvSpPr>
          <p:spPr>
            <a:xfrm>
              <a:off x="3527984" y="1371600"/>
              <a:ext cx="2156384" cy="73152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2</a:t>
              </a:r>
              <a:endParaRPr lang="en-US" sz="1200" dirty="0"/>
            </a:p>
          </p:txBody>
        </p:sp>
        <p:sp>
          <p:nvSpPr>
            <p:cNvPr id="8" name="Stage 2 text"/>
            <p:cNvSpPr/>
            <p:nvPr/>
          </p:nvSpPr>
          <p:spPr>
            <a:xfrm>
              <a:off x="3527984" y="2240280"/>
              <a:ext cx="2156384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Main activities</a:t>
              </a:r>
              <a:endParaRPr lang="en-US" sz="1000" dirty="0"/>
            </a:p>
          </p:txBody>
        </p:sp>
        <p:sp>
          <p:nvSpPr>
            <p:cNvPr id="9" name="Gate 2"/>
            <p:cNvSpPr/>
            <p:nvPr/>
          </p:nvSpPr>
          <p:spPr>
            <a:xfrm>
              <a:off x="5775808" y="1417320"/>
              <a:ext cx="640080" cy="640080"/>
            </a:xfrm>
            <a:prstGeom prst="diamond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G2</a:t>
              </a:r>
              <a:endParaRPr lang="en-US" sz="1000" dirty="0"/>
            </a:p>
          </p:txBody>
        </p:sp>
        <p:sp>
          <p:nvSpPr>
            <p:cNvPr id="10" name="Gate 2 criteria"/>
            <p:cNvSpPr/>
            <p:nvPr/>
          </p:nvSpPr>
          <p:spPr>
            <a:xfrm>
              <a:off x="5455768" y="2240280"/>
              <a:ext cx="1280160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Decision criteria</a:t>
              </a:r>
              <a:endParaRPr lang="en-US" sz="1000" dirty="0"/>
            </a:p>
          </p:txBody>
        </p:sp>
        <p:sp>
          <p:nvSpPr>
            <p:cNvPr id="11" name="Stage 3"/>
            <p:cNvSpPr/>
            <p:nvPr/>
          </p:nvSpPr>
          <p:spPr>
            <a:xfrm>
              <a:off x="6507328" y="1371600"/>
              <a:ext cx="2156384" cy="73152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3</a:t>
              </a:r>
              <a:endParaRPr lang="en-US" sz="1200" dirty="0"/>
            </a:p>
          </p:txBody>
        </p:sp>
        <p:sp>
          <p:nvSpPr>
            <p:cNvPr id="12" name="Stage 3 text"/>
            <p:cNvSpPr/>
            <p:nvPr/>
          </p:nvSpPr>
          <p:spPr>
            <a:xfrm>
              <a:off x="6507328" y="2240280"/>
              <a:ext cx="2156384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Main activities</a:t>
              </a:r>
              <a:endParaRPr lang="en-US" sz="1000" dirty="0"/>
            </a:p>
          </p:txBody>
        </p:sp>
        <p:sp>
          <p:nvSpPr>
            <p:cNvPr id="13" name="Gate 3"/>
            <p:cNvSpPr/>
            <p:nvPr/>
          </p:nvSpPr>
          <p:spPr>
            <a:xfrm>
              <a:off x="8755151" y="1417320"/>
              <a:ext cx="640080" cy="640080"/>
            </a:xfrm>
            <a:prstGeom prst="diamond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G3</a:t>
              </a:r>
              <a:endParaRPr lang="en-US" sz="1000" dirty="0"/>
            </a:p>
          </p:txBody>
        </p:sp>
        <p:sp>
          <p:nvSpPr>
            <p:cNvPr id="14" name="Gate 3 criteria"/>
            <p:cNvSpPr/>
            <p:nvPr/>
          </p:nvSpPr>
          <p:spPr>
            <a:xfrm>
              <a:off x="8435111" y="2240280"/>
              <a:ext cx="1280160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Decision criteria</a:t>
              </a:r>
              <a:endParaRPr lang="en-US" sz="1000" dirty="0"/>
            </a:p>
          </p:txBody>
        </p:sp>
        <p:sp>
          <p:nvSpPr>
            <p:cNvPr id="15" name="Stage 4"/>
            <p:cNvSpPr/>
            <p:nvPr/>
          </p:nvSpPr>
          <p:spPr>
            <a:xfrm>
              <a:off x="9486671" y="1371600"/>
              <a:ext cx="2156384" cy="73152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4</a:t>
              </a:r>
              <a:endParaRPr lang="en-US" sz="1200" dirty="0"/>
            </a:p>
          </p:txBody>
        </p:sp>
        <p:sp>
          <p:nvSpPr>
            <p:cNvPr id="16" name="Stage 4 text"/>
            <p:cNvSpPr/>
            <p:nvPr/>
          </p:nvSpPr>
          <p:spPr>
            <a:xfrm>
              <a:off x="9486671" y="2240280"/>
              <a:ext cx="2156384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Main activities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V-PRO-05  ·  Customer journey</a:t>
            </a:r>
            <a:endParaRPr lang="en-US" sz="1000" dirty="0"/>
          </a:p>
        </p:txBody>
      </p:sp>
      <p:grpSp>
        <p:nvGrpSpPr>
          <p:cNvPr id="29" name="V-PRO-05"/>
          <p:cNvGrpSpPr/>
          <p:nvPr/>
        </p:nvGrpSpPr>
        <p:grpSpPr>
          <a:xfrm>
            <a:off x="548640" y="1097280"/>
            <a:ext cx="11277295" cy="4069080"/>
            <a:chOff x="548640" y="1097280"/>
            <a:chExt cx="11277295" cy="4069080"/>
          </a:xfrm>
        </p:grpSpPr>
        <p:sp>
          <p:nvSpPr>
            <p:cNvPr id="3" name="Stage 1"/>
            <p:cNvSpPr/>
            <p:nvPr/>
          </p:nvSpPr>
          <p:spPr>
            <a:xfrm>
              <a:off x="2286000" y="1097280"/>
              <a:ext cx="2054291" cy="640080"/>
            </a:xfrm>
            <a:prstGeom prst="homePlat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Stage 1</a:t>
              </a:r>
              <a:endParaRPr lang="en-US" sz="1000" dirty="0"/>
            </a:p>
          </p:txBody>
        </p:sp>
        <p:sp>
          <p:nvSpPr>
            <p:cNvPr id="4" name="Stage 2"/>
            <p:cNvSpPr/>
            <p:nvPr/>
          </p:nvSpPr>
          <p:spPr>
            <a:xfrm>
              <a:off x="4157411" y="1097280"/>
              <a:ext cx="2054291" cy="640080"/>
            </a:xfrm>
            <a:prstGeom prst="chevron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Stage 2</a:t>
              </a:r>
              <a:endParaRPr lang="en-US" sz="1000" dirty="0"/>
            </a:p>
          </p:txBody>
        </p:sp>
        <p:sp>
          <p:nvSpPr>
            <p:cNvPr id="5" name="Stage 3"/>
            <p:cNvSpPr/>
            <p:nvPr/>
          </p:nvSpPr>
          <p:spPr>
            <a:xfrm>
              <a:off x="6028822" y="1097280"/>
              <a:ext cx="2054291" cy="640080"/>
            </a:xfrm>
            <a:prstGeom prst="chevron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Stage 3</a:t>
              </a:r>
              <a:endParaRPr lang="en-US" sz="1000" dirty="0"/>
            </a:p>
          </p:txBody>
        </p:sp>
        <p:sp>
          <p:nvSpPr>
            <p:cNvPr id="6" name="Stage 4"/>
            <p:cNvSpPr/>
            <p:nvPr/>
          </p:nvSpPr>
          <p:spPr>
            <a:xfrm>
              <a:off x="7900233" y="1097280"/>
              <a:ext cx="2054291" cy="640080"/>
            </a:xfrm>
            <a:prstGeom prst="chevron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Stage 4</a:t>
              </a:r>
              <a:endParaRPr lang="en-US" sz="1000" dirty="0"/>
            </a:p>
          </p:txBody>
        </p:sp>
        <p:sp>
          <p:nvSpPr>
            <p:cNvPr id="7" name="Stage 5"/>
            <p:cNvSpPr/>
            <p:nvPr/>
          </p:nvSpPr>
          <p:spPr>
            <a:xfrm>
              <a:off x="9771644" y="1097280"/>
              <a:ext cx="2054291" cy="640080"/>
            </a:xfrm>
            <a:prstGeom prst="chevron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Stage 5</a:t>
              </a:r>
              <a:endParaRPr lang="en-US" sz="1000" dirty="0"/>
            </a:p>
          </p:txBody>
        </p:sp>
        <p:sp>
          <p:nvSpPr>
            <p:cNvPr id="8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874520"/>
              <a:ext cx="11094415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9" name="Row 1"/>
            <p:cNvSpPr/>
            <p:nvPr/>
          </p:nvSpPr>
          <p:spPr>
            <a:xfrm>
              <a:off x="548640" y="1965960"/>
              <a:ext cx="1600200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Actions</a:t>
              </a:r>
              <a:endParaRPr lang="en-US" sz="1000" dirty="0"/>
            </a:p>
          </p:txBody>
        </p:sp>
        <p:sp>
          <p:nvSpPr>
            <p:cNvPr id="10" name="Cell 1-1"/>
            <p:cNvSpPr/>
            <p:nvPr/>
          </p:nvSpPr>
          <p:spPr>
            <a:xfrm>
              <a:off x="2423160" y="196596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1" name="Cell 1-2"/>
            <p:cNvSpPr/>
            <p:nvPr/>
          </p:nvSpPr>
          <p:spPr>
            <a:xfrm>
              <a:off x="4294571" y="196596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2" name="Cell 1-3"/>
            <p:cNvSpPr/>
            <p:nvPr/>
          </p:nvSpPr>
          <p:spPr>
            <a:xfrm>
              <a:off x="6165982" y="196596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3" name="Cell 1-4"/>
            <p:cNvSpPr/>
            <p:nvPr/>
          </p:nvSpPr>
          <p:spPr>
            <a:xfrm>
              <a:off x="8037393" y="196596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4" name="Cell 1-5"/>
            <p:cNvSpPr/>
            <p:nvPr/>
          </p:nvSpPr>
          <p:spPr>
            <a:xfrm>
              <a:off x="9908804" y="196596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5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002280"/>
              <a:ext cx="11094415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6" name="Row 2"/>
            <p:cNvSpPr/>
            <p:nvPr/>
          </p:nvSpPr>
          <p:spPr>
            <a:xfrm>
              <a:off x="548640" y="3093720"/>
              <a:ext cx="1600200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Touchpoints</a:t>
              </a:r>
              <a:endParaRPr lang="en-US" sz="1000" dirty="0"/>
            </a:p>
          </p:txBody>
        </p:sp>
        <p:sp>
          <p:nvSpPr>
            <p:cNvPr id="17" name="Cell 2-1"/>
            <p:cNvSpPr/>
            <p:nvPr/>
          </p:nvSpPr>
          <p:spPr>
            <a:xfrm>
              <a:off x="2423160" y="309372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8" name="Cell 2-2"/>
            <p:cNvSpPr/>
            <p:nvPr/>
          </p:nvSpPr>
          <p:spPr>
            <a:xfrm>
              <a:off x="4294571" y="309372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9" name="Cell 2-3"/>
            <p:cNvSpPr/>
            <p:nvPr/>
          </p:nvSpPr>
          <p:spPr>
            <a:xfrm>
              <a:off x="6165982" y="309372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0" name="Cell 2-4"/>
            <p:cNvSpPr/>
            <p:nvPr/>
          </p:nvSpPr>
          <p:spPr>
            <a:xfrm>
              <a:off x="8037393" y="309372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1" name="Cell 2-5"/>
            <p:cNvSpPr/>
            <p:nvPr/>
          </p:nvSpPr>
          <p:spPr>
            <a:xfrm>
              <a:off x="9908804" y="309372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2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130040"/>
              <a:ext cx="11094415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3" name="Row 3"/>
            <p:cNvSpPr/>
            <p:nvPr/>
          </p:nvSpPr>
          <p:spPr>
            <a:xfrm>
              <a:off x="548640" y="4221480"/>
              <a:ext cx="1600200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Pain points</a:t>
              </a:r>
              <a:endParaRPr lang="en-US" sz="1000" dirty="0"/>
            </a:p>
          </p:txBody>
        </p:sp>
        <p:sp>
          <p:nvSpPr>
            <p:cNvPr id="24" name="Cell 3-1"/>
            <p:cNvSpPr/>
            <p:nvPr/>
          </p:nvSpPr>
          <p:spPr>
            <a:xfrm>
              <a:off x="2423160" y="422148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5" name="Cell 3-2"/>
            <p:cNvSpPr/>
            <p:nvPr/>
          </p:nvSpPr>
          <p:spPr>
            <a:xfrm>
              <a:off x="4294571" y="422148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6" name="Cell 3-3"/>
            <p:cNvSpPr/>
            <p:nvPr/>
          </p:nvSpPr>
          <p:spPr>
            <a:xfrm>
              <a:off x="6165982" y="422148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7" name="Cell 3-4"/>
            <p:cNvSpPr/>
            <p:nvPr/>
          </p:nvSpPr>
          <p:spPr>
            <a:xfrm>
              <a:off x="8037393" y="422148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8" name="Cell 3-5"/>
            <p:cNvSpPr/>
            <p:nvPr/>
          </p:nvSpPr>
          <p:spPr>
            <a:xfrm>
              <a:off x="9908804" y="4221480"/>
              <a:ext cx="1642811" cy="944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V-PRO-06  ·  Double diamond</a:t>
            </a:r>
            <a:endParaRPr lang="en-US" sz="1000" dirty="0"/>
          </a:p>
        </p:txBody>
      </p:sp>
      <p:grpSp>
        <p:nvGrpSpPr>
          <p:cNvPr id="17" name="V-PRO-06"/>
          <p:cNvGrpSpPr/>
          <p:nvPr/>
        </p:nvGrpSpPr>
        <p:grpSpPr>
          <a:xfrm>
            <a:off x="548640" y="1078992"/>
            <a:ext cx="11094416" cy="4133088"/>
            <a:chOff x="548640" y="1078992"/>
            <a:chExt cx="11094416" cy="4133088"/>
          </a:xfrm>
        </p:grpSpPr>
        <p:sp>
          <p:nvSpPr>
            <p:cNvPr id="3" name="Diamond 1"/>
            <p:cNvSpPr/>
            <p:nvPr/>
          </p:nvSpPr>
          <p:spPr>
            <a:xfrm>
              <a:off x="548640" y="1097280"/>
              <a:ext cx="5547208" cy="3063240"/>
            </a:xfrm>
            <a:prstGeom prst="diamond">
              <a:avLst/>
            </a:prstGeom>
            <a:solidFill>
              <a:schemeClr val="accent6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22244" y="1234440"/>
              <a:ext cx="91" cy="278892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5" name="Diamond 2"/>
            <p:cNvSpPr/>
            <p:nvPr/>
          </p:nvSpPr>
          <p:spPr>
            <a:xfrm>
              <a:off x="6095848" y="1097280"/>
              <a:ext cx="5547208" cy="3063240"/>
            </a:xfrm>
            <a:prstGeom prst="diamond">
              <a:avLst/>
            </a:prstGeom>
            <a:solidFill>
              <a:schemeClr val="accent5"/>
            </a:solidFill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000" dirty="0"/>
            </a:p>
          </p:txBody>
        </p:sp>
        <p:sp>
          <p:nvSpPr>
            <p:cNvPr id="6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69451" y="1234440"/>
              <a:ext cx="91" cy="278892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7" name="Phase 1"/>
            <p:cNvSpPr/>
            <p:nvPr/>
          </p:nvSpPr>
          <p:spPr>
            <a:xfrm>
              <a:off x="731520" y="2446020"/>
              <a:ext cx="24078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Phase 1</a:t>
              </a:r>
              <a:endParaRPr lang="en-US" sz="1200" dirty="0"/>
            </a:p>
          </p:txBody>
        </p:sp>
        <p:sp>
          <p:nvSpPr>
            <p:cNvPr id="8" name="Phase 1 text"/>
            <p:cNvSpPr/>
            <p:nvPr/>
          </p:nvSpPr>
          <p:spPr>
            <a:xfrm>
              <a:off x="640080" y="4297680"/>
              <a:ext cx="259072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9" name="Phase 2"/>
            <p:cNvSpPr/>
            <p:nvPr/>
          </p:nvSpPr>
          <p:spPr>
            <a:xfrm>
              <a:off x="3505124" y="2446020"/>
              <a:ext cx="24078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Phase 2</a:t>
              </a:r>
              <a:endParaRPr lang="en-US" sz="1200" dirty="0"/>
            </a:p>
          </p:txBody>
        </p:sp>
        <p:sp>
          <p:nvSpPr>
            <p:cNvPr id="10" name="Phase 2 text"/>
            <p:cNvSpPr/>
            <p:nvPr/>
          </p:nvSpPr>
          <p:spPr>
            <a:xfrm>
              <a:off x="3413684" y="4297680"/>
              <a:ext cx="259072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11" name="Phase 3"/>
            <p:cNvSpPr/>
            <p:nvPr/>
          </p:nvSpPr>
          <p:spPr>
            <a:xfrm>
              <a:off x="6278728" y="2446020"/>
              <a:ext cx="24078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Phase 3</a:t>
              </a:r>
              <a:endParaRPr lang="en-US" sz="1200" dirty="0"/>
            </a:p>
          </p:txBody>
        </p:sp>
        <p:sp>
          <p:nvSpPr>
            <p:cNvPr id="12" name="Phase 3 text"/>
            <p:cNvSpPr/>
            <p:nvPr/>
          </p:nvSpPr>
          <p:spPr>
            <a:xfrm>
              <a:off x="6187288" y="4297680"/>
              <a:ext cx="259072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13" name="Phase 4"/>
            <p:cNvSpPr/>
            <p:nvPr/>
          </p:nvSpPr>
          <p:spPr>
            <a:xfrm>
              <a:off x="9052331" y="2446020"/>
              <a:ext cx="24078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Phase 4</a:t>
              </a:r>
              <a:endParaRPr lang="en-US" sz="1200" dirty="0"/>
            </a:p>
          </p:txBody>
        </p:sp>
        <p:sp>
          <p:nvSpPr>
            <p:cNvPr id="14" name="Phase 4 text"/>
            <p:cNvSpPr/>
            <p:nvPr/>
          </p:nvSpPr>
          <p:spPr>
            <a:xfrm>
              <a:off x="8960891" y="4297680"/>
              <a:ext cx="259072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15" name="Milestone 1"/>
            <p:cNvSpPr/>
            <p:nvPr/>
          </p:nvSpPr>
          <p:spPr>
            <a:xfrm>
              <a:off x="4998568" y="1078992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Problem defined</a:t>
              </a:r>
              <a:endParaRPr lang="en-US" sz="1000" dirty="0"/>
            </a:p>
          </p:txBody>
        </p:sp>
        <p:sp>
          <p:nvSpPr>
            <p:cNvPr id="16" name="Milestone 2"/>
            <p:cNvSpPr/>
            <p:nvPr/>
          </p:nvSpPr>
          <p:spPr>
            <a:xfrm>
              <a:off x="9448495" y="1078992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Solution delivered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V-PRO-07  ·  Staircase</a:t>
            </a:r>
            <a:endParaRPr lang="en-US" sz="1000" dirty="0"/>
          </a:p>
        </p:txBody>
      </p:sp>
      <p:grpSp>
        <p:nvGrpSpPr>
          <p:cNvPr id="15" name="V-PRO-07"/>
          <p:cNvGrpSpPr/>
          <p:nvPr/>
        </p:nvGrpSpPr>
        <p:grpSpPr>
          <a:xfrm>
            <a:off x="585216" y="1188720"/>
            <a:ext cx="11021263" cy="4069080"/>
            <a:chOff x="585216" y="1188720"/>
            <a:chExt cx="11021263" cy="4069080"/>
          </a:xfrm>
        </p:grpSpPr>
        <p:sp>
          <p:nvSpPr>
            <p:cNvPr id="3" name="card#1 &gt; Level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5216" y="4217670"/>
              <a:ext cx="2700452" cy="1040130"/>
            </a:xfrm>
            <a:prstGeom prst="rect">
              <a:avLst/>
            </a:prstGeom>
            <a:solidFill>
              <a:schemeClr val="accent6"/>
            </a:solidFill>
            <a:ln/>
          </p:spPr>
        </p:sp>
        <p:sp>
          <p:nvSpPr>
            <p:cNvPr id="4" name="Level 1"/>
            <p:cNvSpPr/>
            <p:nvPr/>
          </p:nvSpPr>
          <p:spPr>
            <a:xfrm>
              <a:off x="731520" y="4354830"/>
              <a:ext cx="24078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Level 1</a:t>
              </a:r>
              <a:endParaRPr lang="en-US" sz="1200" dirty="0"/>
            </a:p>
          </p:txBody>
        </p:sp>
        <p:sp>
          <p:nvSpPr>
            <p:cNvPr id="5" name="Level 1 text"/>
            <p:cNvSpPr/>
            <p:nvPr/>
          </p:nvSpPr>
          <p:spPr>
            <a:xfrm>
              <a:off x="731520" y="3211830"/>
              <a:ext cx="240784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level looks like</a:t>
              </a:r>
              <a:endParaRPr lang="en-US" sz="1000" dirty="0"/>
            </a:p>
          </p:txBody>
        </p:sp>
        <p:sp>
          <p:nvSpPr>
            <p:cNvPr id="6" name="card#2 &gt; Level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58820" y="3543300"/>
              <a:ext cx="2700452" cy="1714500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7" name="Level 2"/>
            <p:cNvSpPr/>
            <p:nvPr/>
          </p:nvSpPr>
          <p:spPr>
            <a:xfrm>
              <a:off x="3505124" y="3680460"/>
              <a:ext cx="24078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Level 2</a:t>
              </a:r>
              <a:endParaRPr lang="en-US" sz="1200" dirty="0"/>
            </a:p>
          </p:txBody>
        </p:sp>
        <p:sp>
          <p:nvSpPr>
            <p:cNvPr id="8" name="Level 2 text"/>
            <p:cNvSpPr/>
            <p:nvPr/>
          </p:nvSpPr>
          <p:spPr>
            <a:xfrm>
              <a:off x="3505124" y="2537460"/>
              <a:ext cx="240784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level looks like</a:t>
              </a:r>
              <a:endParaRPr lang="en-US" sz="1000" dirty="0"/>
            </a:p>
          </p:txBody>
        </p:sp>
        <p:sp>
          <p:nvSpPr>
            <p:cNvPr id="9" name="card#3 &gt; Level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32424" y="2868930"/>
              <a:ext cx="2700452" cy="2388870"/>
            </a:xfrm>
            <a:prstGeom prst="rect">
              <a:avLst/>
            </a:prstGeom>
            <a:solidFill>
              <a:schemeClr val="accent2"/>
            </a:solidFill>
            <a:ln/>
          </p:spPr>
        </p:sp>
        <p:sp>
          <p:nvSpPr>
            <p:cNvPr id="10" name="Level 3"/>
            <p:cNvSpPr/>
            <p:nvPr/>
          </p:nvSpPr>
          <p:spPr>
            <a:xfrm>
              <a:off x="6278728" y="3006090"/>
              <a:ext cx="24078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Level 3</a:t>
              </a:r>
              <a:endParaRPr lang="en-US" sz="1200" dirty="0"/>
            </a:p>
          </p:txBody>
        </p:sp>
        <p:sp>
          <p:nvSpPr>
            <p:cNvPr id="11" name="Level 3 text"/>
            <p:cNvSpPr/>
            <p:nvPr/>
          </p:nvSpPr>
          <p:spPr>
            <a:xfrm>
              <a:off x="6278728" y="1863090"/>
              <a:ext cx="240784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level looks like</a:t>
              </a:r>
              <a:endParaRPr lang="en-US" sz="1000" dirty="0"/>
            </a:p>
          </p:txBody>
        </p:sp>
        <p:sp>
          <p:nvSpPr>
            <p:cNvPr id="12" name="card#4 &gt; Level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06027" y="2194560"/>
              <a:ext cx="2700452" cy="3063240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13" name="Level 4"/>
            <p:cNvSpPr/>
            <p:nvPr/>
          </p:nvSpPr>
          <p:spPr>
            <a:xfrm>
              <a:off x="9052331" y="2331720"/>
              <a:ext cx="24078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Level 4</a:t>
              </a:r>
              <a:endParaRPr lang="en-US" sz="1200" dirty="0"/>
            </a:p>
          </p:txBody>
        </p:sp>
        <p:sp>
          <p:nvSpPr>
            <p:cNvPr id="14" name="Level 4 text"/>
            <p:cNvSpPr/>
            <p:nvPr/>
          </p:nvSpPr>
          <p:spPr>
            <a:xfrm>
              <a:off x="9052331" y="1188720"/>
              <a:ext cx="240784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level looks like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V-TIM-01  ·  Milestone timeline</a:t>
            </a:r>
            <a:endParaRPr lang="en-US" sz="1000" dirty="0"/>
          </a:p>
        </p:txBody>
      </p:sp>
      <p:grpSp>
        <p:nvGrpSpPr>
          <p:cNvPr id="28" name="V-TIM-01"/>
          <p:cNvGrpSpPr/>
          <p:nvPr/>
        </p:nvGrpSpPr>
        <p:grpSpPr>
          <a:xfrm>
            <a:off x="548640" y="1348740"/>
            <a:ext cx="11094415" cy="3566160"/>
            <a:chOff x="548640" y="1348740"/>
            <a:chExt cx="11094415" cy="356616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177540"/>
              <a:ext cx="1109441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4" name="Milestone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72591" y="3076956"/>
              <a:ext cx="201168" cy="2011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5" name="Milestone 1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3175" y="2491740"/>
              <a:ext cx="91" cy="585216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ate 1"/>
            <p:cNvSpPr/>
            <p:nvPr/>
          </p:nvSpPr>
          <p:spPr>
            <a:xfrm>
              <a:off x="594360" y="2034540"/>
              <a:ext cx="175762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Date</a:t>
              </a:r>
              <a:endParaRPr lang="en-US" sz="1000" dirty="0"/>
            </a:p>
          </p:txBody>
        </p:sp>
        <p:sp>
          <p:nvSpPr>
            <p:cNvPr id="7" name="Milestone 1"/>
            <p:cNvSpPr/>
            <p:nvPr/>
          </p:nvSpPr>
          <p:spPr>
            <a:xfrm>
              <a:off x="594360" y="1348740"/>
              <a:ext cx="175762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000" dirty="0"/>
            </a:p>
          </p:txBody>
        </p:sp>
        <p:sp>
          <p:nvSpPr>
            <p:cNvPr id="8" name="Milestone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21660" y="3076956"/>
              <a:ext cx="201168" cy="2011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9" name="Milestone 2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22244" y="3278124"/>
              <a:ext cx="91" cy="585216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0" name="Date 2"/>
            <p:cNvSpPr/>
            <p:nvPr/>
          </p:nvSpPr>
          <p:spPr>
            <a:xfrm>
              <a:off x="2443429" y="3909060"/>
              <a:ext cx="175762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Date</a:t>
              </a:r>
              <a:endParaRPr lang="en-US" sz="1000" dirty="0"/>
            </a:p>
          </p:txBody>
        </p:sp>
        <p:sp>
          <p:nvSpPr>
            <p:cNvPr id="11" name="Milestone 2"/>
            <p:cNvSpPr/>
            <p:nvPr/>
          </p:nvSpPr>
          <p:spPr>
            <a:xfrm>
              <a:off x="2443429" y="4229100"/>
              <a:ext cx="175762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000" dirty="0"/>
            </a:p>
          </p:txBody>
        </p:sp>
        <p:sp>
          <p:nvSpPr>
            <p:cNvPr id="12" name="Milestone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70729" y="3076956"/>
              <a:ext cx="201168" cy="2011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13" name="Milestone 3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1313" y="2491740"/>
              <a:ext cx="91" cy="585216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4" name="Date 3"/>
            <p:cNvSpPr/>
            <p:nvPr/>
          </p:nvSpPr>
          <p:spPr>
            <a:xfrm>
              <a:off x="4292498" y="2034540"/>
              <a:ext cx="175762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Date</a:t>
              </a:r>
              <a:endParaRPr lang="en-US" sz="1000" dirty="0"/>
            </a:p>
          </p:txBody>
        </p:sp>
        <p:sp>
          <p:nvSpPr>
            <p:cNvPr id="15" name="Milestone 3"/>
            <p:cNvSpPr/>
            <p:nvPr/>
          </p:nvSpPr>
          <p:spPr>
            <a:xfrm>
              <a:off x="4292498" y="1348740"/>
              <a:ext cx="175762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000" dirty="0"/>
            </a:p>
          </p:txBody>
        </p:sp>
        <p:sp>
          <p:nvSpPr>
            <p:cNvPr id="16" name="Milestone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9798" y="3076956"/>
              <a:ext cx="201168" cy="2011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17" name="Milestone 4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020382" y="3278124"/>
              <a:ext cx="91" cy="585216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8" name="Date 4"/>
            <p:cNvSpPr/>
            <p:nvPr/>
          </p:nvSpPr>
          <p:spPr>
            <a:xfrm>
              <a:off x="6141568" y="3909060"/>
              <a:ext cx="175762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Date</a:t>
              </a:r>
              <a:endParaRPr lang="en-US" sz="1000" dirty="0"/>
            </a:p>
          </p:txBody>
        </p:sp>
        <p:sp>
          <p:nvSpPr>
            <p:cNvPr id="19" name="Milestone 4"/>
            <p:cNvSpPr/>
            <p:nvPr/>
          </p:nvSpPr>
          <p:spPr>
            <a:xfrm>
              <a:off x="6141568" y="4229100"/>
              <a:ext cx="175762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000" dirty="0"/>
            </a:p>
          </p:txBody>
        </p:sp>
        <p:sp>
          <p:nvSpPr>
            <p:cNvPr id="20" name="Milestone 5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768867" y="3076956"/>
              <a:ext cx="201168" cy="2011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21" name="Milestone 5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69451" y="2491740"/>
              <a:ext cx="91" cy="585216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2" name="Date 5"/>
            <p:cNvSpPr/>
            <p:nvPr/>
          </p:nvSpPr>
          <p:spPr>
            <a:xfrm>
              <a:off x="7990637" y="2034540"/>
              <a:ext cx="175762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Date</a:t>
              </a:r>
              <a:endParaRPr lang="en-US" sz="1000" dirty="0"/>
            </a:p>
          </p:txBody>
        </p:sp>
        <p:sp>
          <p:nvSpPr>
            <p:cNvPr id="23" name="Milestone 5"/>
            <p:cNvSpPr/>
            <p:nvPr/>
          </p:nvSpPr>
          <p:spPr>
            <a:xfrm>
              <a:off x="7990637" y="1348740"/>
              <a:ext cx="175762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000" dirty="0"/>
            </a:p>
          </p:txBody>
        </p:sp>
        <p:sp>
          <p:nvSpPr>
            <p:cNvPr id="24" name="Milestone 6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17937" y="3076956"/>
              <a:ext cx="201168" cy="20116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25" name="Milestone 6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718521" y="3278124"/>
              <a:ext cx="91" cy="585216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6" name="Date 6"/>
            <p:cNvSpPr/>
            <p:nvPr/>
          </p:nvSpPr>
          <p:spPr>
            <a:xfrm>
              <a:off x="9839706" y="3909060"/>
              <a:ext cx="175762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Date</a:t>
              </a:r>
              <a:endParaRPr lang="en-US" sz="1000" dirty="0"/>
            </a:p>
          </p:txBody>
        </p:sp>
        <p:sp>
          <p:nvSpPr>
            <p:cNvPr id="27" name="Milestone 6"/>
            <p:cNvSpPr/>
            <p:nvPr/>
          </p:nvSpPr>
          <p:spPr>
            <a:xfrm>
              <a:off x="9839706" y="4229100"/>
              <a:ext cx="175762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V-TIM-02  ·  Roadmap by lanes</a:t>
            </a:r>
            <a:endParaRPr lang="en-US" sz="1000" dirty="0"/>
          </a:p>
        </p:txBody>
      </p:sp>
      <p:grpSp>
        <p:nvGrpSpPr>
          <p:cNvPr id="28" name="V-TIM-02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Period 1"/>
            <p:cNvSpPr/>
            <p:nvPr/>
          </p:nvSpPr>
          <p:spPr>
            <a:xfrm>
              <a:off x="2468880" y="1097280"/>
              <a:ext cx="22935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Period 1</a:t>
              </a:r>
              <a:endParaRPr lang="en-US" sz="1000" dirty="0"/>
            </a:p>
          </p:txBody>
        </p:sp>
        <p:sp>
          <p:nvSpPr>
            <p:cNvPr id="4" name="Period 2"/>
            <p:cNvSpPr/>
            <p:nvPr/>
          </p:nvSpPr>
          <p:spPr>
            <a:xfrm>
              <a:off x="4762424" y="1097280"/>
              <a:ext cx="22935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Period 2</a:t>
              </a:r>
              <a:endParaRPr lang="en-US" sz="1000" dirty="0"/>
            </a:p>
          </p:txBody>
        </p:sp>
        <p:sp>
          <p:nvSpPr>
            <p:cNvPr id="5" name="Period 3"/>
            <p:cNvSpPr/>
            <p:nvPr/>
          </p:nvSpPr>
          <p:spPr>
            <a:xfrm>
              <a:off x="7055968" y="1097280"/>
              <a:ext cx="22935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Period 3</a:t>
              </a:r>
              <a:endParaRPr lang="en-US" sz="1000" dirty="0"/>
            </a:p>
          </p:txBody>
        </p:sp>
        <p:sp>
          <p:nvSpPr>
            <p:cNvPr id="6" name="Period 4"/>
            <p:cNvSpPr/>
            <p:nvPr/>
          </p:nvSpPr>
          <p:spPr>
            <a:xfrm>
              <a:off x="9349511" y="1097280"/>
              <a:ext cx="22935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Period 4</a:t>
              </a:r>
              <a:endParaRPr lang="en-US" sz="1000" dirty="0"/>
            </a:p>
          </p:txBody>
        </p:sp>
        <p:sp>
          <p:nvSpPr>
            <p:cNvPr id="7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481328"/>
              <a:ext cx="11094415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</p:sp>
        <p:sp>
          <p:nvSpPr>
            <p:cNvPr id="8" name="Lane 1"/>
            <p:cNvSpPr/>
            <p:nvPr/>
          </p:nvSpPr>
          <p:spPr>
            <a:xfrm>
              <a:off x="548640" y="1554480"/>
              <a:ext cx="1783080" cy="925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Workstream 1</a:t>
              </a:r>
              <a:endParaRPr lang="en-US" sz="1200" dirty="0"/>
            </a:p>
          </p:txBody>
        </p:sp>
        <p:sp>
          <p:nvSpPr>
            <p:cNvPr id="9" name="Cell 1-1"/>
            <p:cNvSpPr/>
            <p:nvPr/>
          </p:nvSpPr>
          <p:spPr>
            <a:xfrm>
              <a:off x="2523744" y="1645920"/>
              <a:ext cx="2183816" cy="74295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10" name="Cell 1-2"/>
            <p:cNvSpPr/>
            <p:nvPr/>
          </p:nvSpPr>
          <p:spPr>
            <a:xfrm>
              <a:off x="4817288" y="164592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11" name="Cell 1-3"/>
            <p:cNvSpPr/>
            <p:nvPr/>
          </p:nvSpPr>
          <p:spPr>
            <a:xfrm>
              <a:off x="7110832" y="164592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12" name="Cell 1-4"/>
            <p:cNvSpPr/>
            <p:nvPr/>
          </p:nvSpPr>
          <p:spPr>
            <a:xfrm>
              <a:off x="9404375" y="1645920"/>
              <a:ext cx="2183816" cy="74295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13" name="Lane 2"/>
            <p:cNvSpPr/>
            <p:nvPr/>
          </p:nvSpPr>
          <p:spPr>
            <a:xfrm>
              <a:off x="548640" y="2480310"/>
              <a:ext cx="1783080" cy="925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Workstream 2</a:t>
              </a:r>
              <a:endParaRPr lang="en-US" sz="1200" dirty="0"/>
            </a:p>
          </p:txBody>
        </p:sp>
        <p:sp>
          <p:nvSpPr>
            <p:cNvPr id="14" name="Cell 2-1"/>
            <p:cNvSpPr/>
            <p:nvPr/>
          </p:nvSpPr>
          <p:spPr>
            <a:xfrm>
              <a:off x="2523744" y="257175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15" name="Cell 2-2"/>
            <p:cNvSpPr/>
            <p:nvPr/>
          </p:nvSpPr>
          <p:spPr>
            <a:xfrm>
              <a:off x="4817288" y="257175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16" name="Cell 2-3"/>
            <p:cNvSpPr/>
            <p:nvPr/>
          </p:nvSpPr>
          <p:spPr>
            <a:xfrm>
              <a:off x="7110832" y="2571750"/>
              <a:ext cx="2183816" cy="74295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17" name="Cell 2-4"/>
            <p:cNvSpPr/>
            <p:nvPr/>
          </p:nvSpPr>
          <p:spPr>
            <a:xfrm>
              <a:off x="9404375" y="257175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18" name="Lane 3"/>
            <p:cNvSpPr/>
            <p:nvPr/>
          </p:nvSpPr>
          <p:spPr>
            <a:xfrm>
              <a:off x="548640" y="3406140"/>
              <a:ext cx="1783080" cy="925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Workstream 3</a:t>
              </a:r>
              <a:endParaRPr lang="en-US" sz="1200" dirty="0"/>
            </a:p>
          </p:txBody>
        </p:sp>
        <p:sp>
          <p:nvSpPr>
            <p:cNvPr id="19" name="Cell 3-1"/>
            <p:cNvSpPr/>
            <p:nvPr/>
          </p:nvSpPr>
          <p:spPr>
            <a:xfrm>
              <a:off x="2523744" y="349758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20" name="Cell 3-2"/>
            <p:cNvSpPr/>
            <p:nvPr/>
          </p:nvSpPr>
          <p:spPr>
            <a:xfrm>
              <a:off x="4817288" y="3497580"/>
              <a:ext cx="2183816" cy="74295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21" name="Cell 3-3"/>
            <p:cNvSpPr/>
            <p:nvPr/>
          </p:nvSpPr>
          <p:spPr>
            <a:xfrm>
              <a:off x="7110832" y="349758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22" name="Cell 3-4"/>
            <p:cNvSpPr/>
            <p:nvPr/>
          </p:nvSpPr>
          <p:spPr>
            <a:xfrm>
              <a:off x="9404375" y="349758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23" name="Lane 4"/>
            <p:cNvSpPr/>
            <p:nvPr/>
          </p:nvSpPr>
          <p:spPr>
            <a:xfrm>
              <a:off x="548640" y="4331970"/>
              <a:ext cx="1783080" cy="925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Workstream 4</a:t>
              </a:r>
              <a:endParaRPr lang="en-US" sz="1200" dirty="0"/>
            </a:p>
          </p:txBody>
        </p:sp>
        <p:sp>
          <p:nvSpPr>
            <p:cNvPr id="24" name="Cell 4-1"/>
            <p:cNvSpPr/>
            <p:nvPr/>
          </p:nvSpPr>
          <p:spPr>
            <a:xfrm>
              <a:off x="2523744" y="4423410"/>
              <a:ext cx="2183816" cy="74295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25" name="Cell 4-2"/>
            <p:cNvSpPr/>
            <p:nvPr/>
          </p:nvSpPr>
          <p:spPr>
            <a:xfrm>
              <a:off x="4817288" y="442341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26" name="Cell 4-3"/>
            <p:cNvSpPr/>
            <p:nvPr/>
          </p:nvSpPr>
          <p:spPr>
            <a:xfrm>
              <a:off x="7110832" y="4423410"/>
              <a:ext cx="2183816" cy="74295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  <p:sp>
          <p:nvSpPr>
            <p:cNvPr id="27" name="Cell 4-4"/>
            <p:cNvSpPr/>
            <p:nvPr/>
          </p:nvSpPr>
          <p:spPr>
            <a:xfrm>
              <a:off x="9404375" y="4423410"/>
              <a:ext cx="2183816" cy="74295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Deliverable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V-TIM-03  ·  Gantt chart</a:t>
            </a:r>
            <a:endParaRPr lang="en-US" sz="1000" dirty="0"/>
          </a:p>
        </p:txBody>
      </p:sp>
      <p:grpSp>
        <p:nvGrpSpPr>
          <p:cNvPr id="5" name="V-TIM-03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11094415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Note"/>
            <p:cNvSpPr/>
            <p:nvPr/>
          </p:nvSpPr>
          <p:spPr>
            <a:xfrm>
              <a:off x="548640" y="4983480"/>
              <a:ext cx="1109441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Time unit: weeks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V-TIM-04  ·  Three horizons</a:t>
            </a:r>
            <a:endParaRPr lang="en-US" sz="1000" dirty="0"/>
          </a:p>
        </p:txBody>
      </p:sp>
      <p:grpSp>
        <p:nvGrpSpPr>
          <p:cNvPr id="16" name="V-TIM-04"/>
          <p:cNvGrpSpPr/>
          <p:nvPr/>
        </p:nvGrpSpPr>
        <p:grpSpPr>
          <a:xfrm>
            <a:off x="109728" y="1097280"/>
            <a:ext cx="11944807" cy="4142232"/>
            <a:chOff x="109728" y="1097280"/>
            <a:chExt cx="11944807" cy="4142232"/>
          </a:xfrm>
        </p:grpSpPr>
        <p:sp>
          <p:nvSpPr>
            <p:cNvPr id="3" name="card#1 &gt; Horizon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20" y="3067396"/>
              <a:ext cx="5042916" cy="1641764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4" name="Horizon 1"/>
            <p:cNvSpPr/>
            <p:nvPr/>
          </p:nvSpPr>
          <p:spPr>
            <a:xfrm>
              <a:off x="1143000" y="3204556"/>
              <a:ext cx="46771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Horizon 1</a:t>
              </a:r>
              <a:endParaRPr lang="en-US" sz="1200" dirty="0"/>
            </a:p>
          </p:txBody>
        </p:sp>
        <p:sp>
          <p:nvSpPr>
            <p:cNvPr id="5" name="Horizon 1 text"/>
            <p:cNvSpPr/>
            <p:nvPr/>
          </p:nvSpPr>
          <p:spPr>
            <a:xfrm>
              <a:off x="1143000" y="3570316"/>
              <a:ext cx="4677156" cy="10016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What this horizon covers</a:t>
              </a:r>
              <a:endParaRPr lang="en-US" sz="1000" dirty="0"/>
            </a:p>
          </p:txBody>
        </p:sp>
        <p:sp>
          <p:nvSpPr>
            <p:cNvPr id="6" name="card#2 &gt; Horizon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85870" y="2082338"/>
              <a:ext cx="5042916" cy="1641764"/>
            </a:xfrm>
            <a:prstGeom prst="rect">
              <a:avLst/>
            </a:prstGeom>
            <a:solidFill>
              <a:schemeClr val="accent3"/>
            </a:solidFill>
            <a:ln/>
          </p:spPr>
        </p:sp>
        <p:sp>
          <p:nvSpPr>
            <p:cNvPr id="7" name="Horizon 2"/>
            <p:cNvSpPr/>
            <p:nvPr/>
          </p:nvSpPr>
          <p:spPr>
            <a:xfrm>
              <a:off x="4168750" y="2219498"/>
              <a:ext cx="46771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Horizon 2</a:t>
              </a:r>
              <a:endParaRPr lang="en-US" sz="1200" dirty="0"/>
            </a:p>
          </p:txBody>
        </p:sp>
        <p:sp>
          <p:nvSpPr>
            <p:cNvPr id="8" name="Horizon 2 text"/>
            <p:cNvSpPr/>
            <p:nvPr/>
          </p:nvSpPr>
          <p:spPr>
            <a:xfrm>
              <a:off x="4168750" y="2585258"/>
              <a:ext cx="4677156" cy="10016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this horizon covers</a:t>
              </a:r>
              <a:endParaRPr lang="en-US" sz="1000" dirty="0"/>
            </a:p>
          </p:txBody>
        </p:sp>
        <p:sp>
          <p:nvSpPr>
            <p:cNvPr id="9" name="card#3 &gt; Horizon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011619" y="1097280"/>
              <a:ext cx="5042916" cy="1641764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10" name="Horizon 3"/>
            <p:cNvSpPr/>
            <p:nvPr/>
          </p:nvSpPr>
          <p:spPr>
            <a:xfrm>
              <a:off x="7194499" y="1234440"/>
              <a:ext cx="46771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Horizon 3</a:t>
              </a:r>
              <a:endParaRPr lang="en-US" sz="1200" dirty="0"/>
            </a:p>
          </p:txBody>
        </p:sp>
        <p:sp>
          <p:nvSpPr>
            <p:cNvPr id="11" name="Horizon 3 text"/>
            <p:cNvSpPr/>
            <p:nvPr/>
          </p:nvSpPr>
          <p:spPr>
            <a:xfrm>
              <a:off x="7194499" y="1600200"/>
              <a:ext cx="4677156" cy="10016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horizon covers</a:t>
              </a:r>
              <a:endParaRPr lang="en-US" sz="1000" dirty="0"/>
            </a:p>
          </p:txBody>
        </p:sp>
        <p:sp>
          <p:nvSpPr>
            <p:cNvPr id="12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22960" y="4892040"/>
              <a:ext cx="10820095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3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22960" y="1097280"/>
              <a:ext cx="91" cy="37947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4" name="X axis"/>
            <p:cNvSpPr/>
            <p:nvPr/>
          </p:nvSpPr>
          <p:spPr>
            <a:xfrm>
              <a:off x="9357055" y="496519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Time</a:t>
              </a:r>
              <a:endParaRPr lang="en-US" sz="1000" dirty="0"/>
            </a:p>
          </p:txBody>
        </p:sp>
        <p:sp>
          <p:nvSpPr>
            <p:cNvPr id="15" name="Y axis"/>
            <p:cNvSpPr/>
            <p:nvPr/>
          </p:nvSpPr>
          <p:spPr>
            <a:xfrm rot="16200000">
              <a:off x="109728" y="150876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Value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V-TIM-05  ·  Now, next, later</a:t>
            </a:r>
            <a:endParaRPr lang="en-US" sz="1000" dirty="0"/>
          </a:p>
        </p:txBody>
      </p:sp>
      <p:grpSp>
        <p:nvGrpSpPr>
          <p:cNvPr id="12" name="V-TIM-05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Column 1 heading"/>
            <p:cNvSpPr/>
            <p:nvPr/>
          </p:nvSpPr>
          <p:spPr>
            <a:xfrm>
              <a:off x="548640" y="1097280"/>
              <a:ext cx="3545738" cy="5486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Now</a:t>
              </a:r>
              <a:endParaRPr lang="en-US" sz="1600" dirty="0"/>
            </a:p>
          </p:txBody>
        </p:sp>
        <p:sp>
          <p:nvSpPr>
            <p:cNvPr id="4" name="card#1 &gt; Column 1 items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645920"/>
              <a:ext cx="3545738" cy="361188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5" name="Column 1 items"/>
            <p:cNvSpPr/>
            <p:nvPr/>
          </p:nvSpPr>
          <p:spPr>
            <a:xfrm>
              <a:off x="731520" y="1828800"/>
              <a:ext cx="3179978" cy="3246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6" name="Column 2 heading"/>
            <p:cNvSpPr/>
            <p:nvPr/>
          </p:nvSpPr>
          <p:spPr>
            <a:xfrm>
              <a:off x="4322978" y="1097280"/>
              <a:ext cx="3545738" cy="548640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Next</a:t>
              </a:r>
              <a:endParaRPr lang="en-US" sz="1600" dirty="0"/>
            </a:p>
          </p:txBody>
        </p:sp>
        <p:sp>
          <p:nvSpPr>
            <p:cNvPr id="7" name="card#2 &gt; Column 2 items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22978" y="1645920"/>
              <a:ext cx="3545738" cy="361188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8" name="Column 2 items"/>
            <p:cNvSpPr/>
            <p:nvPr/>
          </p:nvSpPr>
          <p:spPr>
            <a:xfrm>
              <a:off x="4505858" y="1828800"/>
              <a:ext cx="3179978" cy="3246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9" name="Column 3 heading"/>
            <p:cNvSpPr/>
            <p:nvPr/>
          </p:nvSpPr>
          <p:spPr>
            <a:xfrm>
              <a:off x="8097317" y="1097280"/>
              <a:ext cx="3545738" cy="548640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Later</a:t>
              </a:r>
              <a:endParaRPr lang="en-US" sz="1600" dirty="0"/>
            </a:p>
          </p:txBody>
        </p:sp>
        <p:sp>
          <p:nvSpPr>
            <p:cNvPr id="10" name="card#3 &gt; Column 3 items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97317" y="1645920"/>
              <a:ext cx="3545738" cy="361188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1" name="Column 3 items"/>
            <p:cNvSpPr/>
            <p:nvPr/>
          </p:nvSpPr>
          <p:spPr>
            <a:xfrm>
              <a:off x="8280197" y="1828800"/>
              <a:ext cx="3179978" cy="3246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V-TIM-06  ·  Serpentine timeline</a:t>
            </a:r>
            <a:endParaRPr lang="en-US" sz="1000" dirty="0"/>
          </a:p>
        </p:txBody>
      </p:sp>
      <p:grpSp>
        <p:nvGrpSpPr>
          <p:cNvPr id="28" name="V-TIM-06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11094415" cy="4160520"/>
            </a:xfrm>
            <a:custGeom>
              <a:avLst/>
              <a:gdLst/>
              <a:ahLst/>
              <a:cxnLst/>
              <a:rect l="l" t="t" r="r" b="b"/>
              <a:pathLst>
                <a:path w="11094415" h="4160520">
                  <a:moveTo>
                    <a:pt x="0" y="868680"/>
                  </a:moveTo>
                  <a:lnTo>
                    <a:pt x="10399471" y="868680"/>
                  </a:lnTo>
                  <a:arcTo hR="649224" wR="649224" stAng="16200000" swAng="10800000"/>
                  <a:lnTo>
                    <a:pt x="694944" y="2167128"/>
                  </a:lnTo>
                  <a:arcTo hR="649224" wR="649224" stAng="16200000" swAng="-10800000"/>
                  <a:lnTo>
                    <a:pt x="11094415" y="3465576"/>
                  </a:lnTo>
                </a:path>
              </a:pathLst>
            </a:custGeom>
            <a:ln w="114300">
              <a:solidFill>
                <a:schemeClr val="accent5"/>
              </a:solidFill>
              <a:prstDash val="solid"/>
            </a:ln>
          </p:spPr>
        </p:sp>
        <p:sp>
          <p:nvSpPr>
            <p:cNvPr id="4" name="Step 1 number"/>
            <p:cNvSpPr/>
            <p:nvPr/>
          </p:nvSpPr>
          <p:spPr>
            <a:xfrm>
              <a:off x="2650693" y="1755648"/>
              <a:ext cx="420624" cy="420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200" dirty="0"/>
            </a:p>
          </p:txBody>
        </p:sp>
        <p:sp>
          <p:nvSpPr>
            <p:cNvPr id="5" name="Step 1"/>
            <p:cNvSpPr/>
            <p:nvPr/>
          </p:nvSpPr>
          <p:spPr>
            <a:xfrm>
              <a:off x="2083765" y="1207008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</a:t>
              </a:r>
              <a:endParaRPr lang="en-US" sz="1200" dirty="0"/>
            </a:p>
          </p:txBody>
        </p:sp>
        <p:sp>
          <p:nvSpPr>
            <p:cNvPr id="6" name="Step 1 text"/>
            <p:cNvSpPr/>
            <p:nvPr/>
          </p:nvSpPr>
          <p:spPr>
            <a:xfrm>
              <a:off x="2083765" y="2240280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7" name="Step 2 number"/>
            <p:cNvSpPr/>
            <p:nvPr/>
          </p:nvSpPr>
          <p:spPr>
            <a:xfrm>
              <a:off x="5885536" y="1755648"/>
              <a:ext cx="420624" cy="420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200" dirty="0"/>
            </a:p>
          </p:txBody>
        </p:sp>
        <p:sp>
          <p:nvSpPr>
            <p:cNvPr id="8" name="Step 2"/>
            <p:cNvSpPr/>
            <p:nvPr/>
          </p:nvSpPr>
          <p:spPr>
            <a:xfrm>
              <a:off x="5318608" y="1207008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</a:t>
              </a:r>
              <a:endParaRPr lang="en-US" sz="1200" dirty="0"/>
            </a:p>
          </p:txBody>
        </p:sp>
        <p:sp>
          <p:nvSpPr>
            <p:cNvPr id="9" name="Step 2 text"/>
            <p:cNvSpPr/>
            <p:nvPr/>
          </p:nvSpPr>
          <p:spPr>
            <a:xfrm>
              <a:off x="5318608" y="2240280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10" name="Step 3 number"/>
            <p:cNvSpPr/>
            <p:nvPr/>
          </p:nvSpPr>
          <p:spPr>
            <a:xfrm>
              <a:off x="9120378" y="1755648"/>
              <a:ext cx="420624" cy="420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200" dirty="0"/>
            </a:p>
          </p:txBody>
        </p:sp>
        <p:sp>
          <p:nvSpPr>
            <p:cNvPr id="11" name="Step 3"/>
            <p:cNvSpPr/>
            <p:nvPr/>
          </p:nvSpPr>
          <p:spPr>
            <a:xfrm>
              <a:off x="8553450" y="1207008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</a:t>
              </a:r>
              <a:endParaRPr lang="en-US" sz="1200" dirty="0"/>
            </a:p>
          </p:txBody>
        </p:sp>
        <p:sp>
          <p:nvSpPr>
            <p:cNvPr id="12" name="Step 3 text"/>
            <p:cNvSpPr/>
            <p:nvPr/>
          </p:nvSpPr>
          <p:spPr>
            <a:xfrm>
              <a:off x="8553450" y="2240280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13" name="Step 4 number"/>
            <p:cNvSpPr/>
            <p:nvPr/>
          </p:nvSpPr>
          <p:spPr>
            <a:xfrm>
              <a:off x="7502957" y="3054096"/>
              <a:ext cx="420624" cy="420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200" dirty="0"/>
            </a:p>
          </p:txBody>
        </p:sp>
        <p:sp>
          <p:nvSpPr>
            <p:cNvPr id="14" name="Step 4"/>
            <p:cNvSpPr/>
            <p:nvPr/>
          </p:nvSpPr>
          <p:spPr>
            <a:xfrm>
              <a:off x="6936029" y="2505456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</a:t>
              </a:r>
              <a:endParaRPr lang="en-US" sz="1200" dirty="0"/>
            </a:p>
          </p:txBody>
        </p:sp>
        <p:sp>
          <p:nvSpPr>
            <p:cNvPr id="15" name="Step 4 text"/>
            <p:cNvSpPr/>
            <p:nvPr/>
          </p:nvSpPr>
          <p:spPr>
            <a:xfrm>
              <a:off x="6936029" y="3538728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16" name="Step 5 number"/>
            <p:cNvSpPr/>
            <p:nvPr/>
          </p:nvSpPr>
          <p:spPr>
            <a:xfrm>
              <a:off x="4268114" y="3054096"/>
              <a:ext cx="420624" cy="420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en-US" sz="1200" dirty="0"/>
            </a:p>
          </p:txBody>
        </p:sp>
        <p:sp>
          <p:nvSpPr>
            <p:cNvPr id="17" name="Step 5"/>
            <p:cNvSpPr/>
            <p:nvPr/>
          </p:nvSpPr>
          <p:spPr>
            <a:xfrm>
              <a:off x="3701186" y="2505456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</a:t>
              </a:r>
              <a:endParaRPr lang="en-US" sz="1200" dirty="0"/>
            </a:p>
          </p:txBody>
        </p:sp>
        <p:sp>
          <p:nvSpPr>
            <p:cNvPr id="18" name="Step 5 text"/>
            <p:cNvSpPr/>
            <p:nvPr/>
          </p:nvSpPr>
          <p:spPr>
            <a:xfrm>
              <a:off x="3701186" y="3538728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19" name="Step 6 number"/>
            <p:cNvSpPr/>
            <p:nvPr/>
          </p:nvSpPr>
          <p:spPr>
            <a:xfrm>
              <a:off x="2650693" y="4352544"/>
              <a:ext cx="420624" cy="420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6</a:t>
              </a:r>
              <a:endParaRPr lang="en-US" sz="1200" dirty="0"/>
            </a:p>
          </p:txBody>
        </p:sp>
        <p:sp>
          <p:nvSpPr>
            <p:cNvPr id="20" name="Step 6"/>
            <p:cNvSpPr/>
            <p:nvPr/>
          </p:nvSpPr>
          <p:spPr>
            <a:xfrm>
              <a:off x="2083765" y="3803904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</a:t>
              </a:r>
              <a:endParaRPr lang="en-US" sz="1200" dirty="0"/>
            </a:p>
          </p:txBody>
        </p:sp>
        <p:sp>
          <p:nvSpPr>
            <p:cNvPr id="21" name="Step 6 text"/>
            <p:cNvSpPr/>
            <p:nvPr/>
          </p:nvSpPr>
          <p:spPr>
            <a:xfrm>
              <a:off x="2083765" y="4837176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22" name="Step 7 number"/>
            <p:cNvSpPr/>
            <p:nvPr/>
          </p:nvSpPr>
          <p:spPr>
            <a:xfrm>
              <a:off x="5885536" y="4352544"/>
              <a:ext cx="420624" cy="420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7</a:t>
              </a:r>
              <a:endParaRPr lang="en-US" sz="1200" dirty="0"/>
            </a:p>
          </p:txBody>
        </p:sp>
        <p:sp>
          <p:nvSpPr>
            <p:cNvPr id="23" name="Step 7"/>
            <p:cNvSpPr/>
            <p:nvPr/>
          </p:nvSpPr>
          <p:spPr>
            <a:xfrm>
              <a:off x="5318608" y="3803904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</a:t>
              </a:r>
              <a:endParaRPr lang="en-US" sz="1200" dirty="0"/>
            </a:p>
          </p:txBody>
        </p:sp>
        <p:sp>
          <p:nvSpPr>
            <p:cNvPr id="24" name="Step 7 text"/>
            <p:cNvSpPr/>
            <p:nvPr/>
          </p:nvSpPr>
          <p:spPr>
            <a:xfrm>
              <a:off x="5318608" y="4837176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  <p:sp>
          <p:nvSpPr>
            <p:cNvPr id="25" name="Step 8 number"/>
            <p:cNvSpPr/>
            <p:nvPr/>
          </p:nvSpPr>
          <p:spPr>
            <a:xfrm>
              <a:off x="9120378" y="4352544"/>
              <a:ext cx="420624" cy="420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en-US" sz="1200" dirty="0"/>
            </a:p>
          </p:txBody>
        </p:sp>
        <p:sp>
          <p:nvSpPr>
            <p:cNvPr id="26" name="Step 8"/>
            <p:cNvSpPr/>
            <p:nvPr/>
          </p:nvSpPr>
          <p:spPr>
            <a:xfrm>
              <a:off x="8553450" y="3803904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</a:t>
              </a:r>
              <a:endParaRPr lang="en-US" sz="1200" dirty="0"/>
            </a:p>
          </p:txBody>
        </p:sp>
        <p:sp>
          <p:nvSpPr>
            <p:cNvPr id="27" name="Step 8 text"/>
            <p:cNvSpPr/>
            <p:nvPr/>
          </p:nvSpPr>
          <p:spPr>
            <a:xfrm>
              <a:off x="8553450" y="4837176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happens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V-STR-01  ·  Organisation chart</a:t>
            </a:r>
            <a:endParaRPr lang="en-US" sz="1000" dirty="0"/>
          </a:p>
        </p:txBody>
      </p:sp>
      <p:grpSp>
        <p:nvGrpSpPr>
          <p:cNvPr id="38" name="V-STR-01"/>
          <p:cNvGrpSpPr/>
          <p:nvPr/>
        </p:nvGrpSpPr>
        <p:grpSpPr>
          <a:xfrm>
            <a:off x="548640" y="1097280"/>
            <a:ext cx="11094415" cy="3749040"/>
            <a:chOff x="548640" y="1097280"/>
            <a:chExt cx="11094415" cy="3749040"/>
          </a:xfrm>
        </p:grpSpPr>
        <p:sp>
          <p:nvSpPr>
            <p:cNvPr id="3" name="Head"/>
            <p:cNvSpPr/>
            <p:nvPr/>
          </p:nvSpPr>
          <p:spPr>
            <a:xfrm>
              <a:off x="4907128" y="1097280"/>
              <a:ext cx="2377440" cy="68580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2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200" dirty="0"/>
            </a:p>
          </p:txBody>
        </p:sp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95848" y="1783080"/>
              <a:ext cx="91" cy="320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5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32572" y="2103120"/>
              <a:ext cx="8526551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6" name="Unit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32572" y="2103120"/>
              <a:ext cx="91" cy="274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7" name="Unit 1"/>
            <p:cNvSpPr/>
            <p:nvPr/>
          </p:nvSpPr>
          <p:spPr>
            <a:xfrm>
              <a:off x="548640" y="2377440"/>
              <a:ext cx="2567864" cy="68580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2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200" dirty="0"/>
            </a:p>
          </p:txBody>
        </p:sp>
        <p:sp>
          <p:nvSpPr>
            <p:cNvPr id="8" name="Unit 1.1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1520" y="3063240"/>
              <a:ext cx="91" cy="594360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9" name="Unit 1.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1520" y="3657600"/>
              <a:ext cx="18288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0" name="Unit 1.1"/>
            <p:cNvSpPr/>
            <p:nvPr/>
          </p:nvSpPr>
          <p:spPr>
            <a:xfrm>
              <a:off x="914400" y="3337560"/>
              <a:ext cx="2202104" cy="6400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0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000" dirty="0"/>
            </a:p>
          </p:txBody>
        </p:sp>
        <p:sp>
          <p:nvSpPr>
            <p:cNvPr id="11" name="Unit 1.2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1520" y="3063240"/>
              <a:ext cx="91" cy="1463040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2" name="Unit 1.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1520" y="4526280"/>
              <a:ext cx="18288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3" name="Unit 1.2"/>
            <p:cNvSpPr/>
            <p:nvPr/>
          </p:nvSpPr>
          <p:spPr>
            <a:xfrm>
              <a:off x="914400" y="4206240"/>
              <a:ext cx="2202104" cy="6400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0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000" dirty="0"/>
            </a:p>
          </p:txBody>
        </p:sp>
        <p:sp>
          <p:nvSpPr>
            <p:cNvPr id="14" name="Unit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74756" y="2103120"/>
              <a:ext cx="91" cy="274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15" name="Unit 2"/>
            <p:cNvSpPr/>
            <p:nvPr/>
          </p:nvSpPr>
          <p:spPr>
            <a:xfrm>
              <a:off x="3390824" y="2377440"/>
              <a:ext cx="2567864" cy="68580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2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200" dirty="0"/>
            </a:p>
          </p:txBody>
        </p:sp>
        <p:sp>
          <p:nvSpPr>
            <p:cNvPr id="16" name="Unit 2.1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73704" y="3063240"/>
              <a:ext cx="91" cy="594360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7" name="Unit 2.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73704" y="3657600"/>
              <a:ext cx="18288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8" name="Unit 2.1"/>
            <p:cNvSpPr/>
            <p:nvPr/>
          </p:nvSpPr>
          <p:spPr>
            <a:xfrm>
              <a:off x="3756584" y="3337560"/>
              <a:ext cx="2202104" cy="6400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0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000" dirty="0"/>
            </a:p>
          </p:txBody>
        </p:sp>
        <p:sp>
          <p:nvSpPr>
            <p:cNvPr id="19" name="Unit 2.2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73704" y="3063240"/>
              <a:ext cx="91" cy="1463040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0" name="Unit 2.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73704" y="4526280"/>
              <a:ext cx="18288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1" name="Unit 2.2"/>
            <p:cNvSpPr/>
            <p:nvPr/>
          </p:nvSpPr>
          <p:spPr>
            <a:xfrm>
              <a:off x="3756584" y="4206240"/>
              <a:ext cx="2202104" cy="6400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0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000" dirty="0"/>
            </a:p>
          </p:txBody>
        </p:sp>
        <p:sp>
          <p:nvSpPr>
            <p:cNvPr id="22" name="Unit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516940" y="2103120"/>
              <a:ext cx="91" cy="274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23" name="Unit 3"/>
            <p:cNvSpPr/>
            <p:nvPr/>
          </p:nvSpPr>
          <p:spPr>
            <a:xfrm>
              <a:off x="6233008" y="2377440"/>
              <a:ext cx="2567864" cy="68580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2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200" dirty="0"/>
            </a:p>
          </p:txBody>
        </p:sp>
        <p:sp>
          <p:nvSpPr>
            <p:cNvPr id="24" name="Unit 3.1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15888" y="3063240"/>
              <a:ext cx="91" cy="594360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5" name="Unit 3.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15888" y="3657600"/>
              <a:ext cx="18288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6" name="Unit 3.1"/>
            <p:cNvSpPr/>
            <p:nvPr/>
          </p:nvSpPr>
          <p:spPr>
            <a:xfrm>
              <a:off x="6598768" y="3337560"/>
              <a:ext cx="2202104" cy="6400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0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000" dirty="0"/>
            </a:p>
          </p:txBody>
        </p:sp>
        <p:sp>
          <p:nvSpPr>
            <p:cNvPr id="27" name="Unit 3.2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15888" y="3063240"/>
              <a:ext cx="91" cy="1463040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8" name="Unit 3.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15888" y="4526280"/>
              <a:ext cx="18288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29" name="Unit 3.2"/>
            <p:cNvSpPr/>
            <p:nvPr/>
          </p:nvSpPr>
          <p:spPr>
            <a:xfrm>
              <a:off x="6598768" y="4206240"/>
              <a:ext cx="2202104" cy="6400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0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000" dirty="0"/>
            </a:p>
          </p:txBody>
        </p:sp>
        <p:sp>
          <p:nvSpPr>
            <p:cNvPr id="30" name="Unit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9123" y="2103120"/>
              <a:ext cx="91" cy="274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31" name="Unit 4"/>
            <p:cNvSpPr/>
            <p:nvPr/>
          </p:nvSpPr>
          <p:spPr>
            <a:xfrm>
              <a:off x="9075191" y="2377440"/>
              <a:ext cx="2567864" cy="68580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2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200" dirty="0"/>
            </a:p>
          </p:txBody>
        </p:sp>
        <p:sp>
          <p:nvSpPr>
            <p:cNvPr id="32" name="Unit 4.1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258071" y="3063240"/>
              <a:ext cx="91" cy="594360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33" name="Unit 4.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258071" y="3657600"/>
              <a:ext cx="18288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34" name="Unit 4.1"/>
            <p:cNvSpPr/>
            <p:nvPr/>
          </p:nvSpPr>
          <p:spPr>
            <a:xfrm>
              <a:off x="9440951" y="3337560"/>
              <a:ext cx="2202104" cy="6400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0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000" dirty="0"/>
            </a:p>
          </p:txBody>
        </p:sp>
        <p:sp>
          <p:nvSpPr>
            <p:cNvPr id="35" name="Unit 4.2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258071" y="3063240"/>
              <a:ext cx="91" cy="1463040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36" name="Unit 4.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258071" y="4526280"/>
              <a:ext cx="18288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37" name="Unit 4.2"/>
            <p:cNvSpPr/>
            <p:nvPr/>
          </p:nvSpPr>
          <p:spPr>
            <a:xfrm>
              <a:off x="9440951" y="4206240"/>
              <a:ext cx="2202104" cy="6400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Name</a:t>
              </a:r>
              <a:endParaRPr lang="en-US" sz="1000" dirty="0"/>
            </a:p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V-STR-02  ·  Logic tree</a:t>
            </a:r>
            <a:endParaRPr lang="en-US" sz="1000" dirty="0"/>
          </a:p>
        </p:txBody>
      </p:sp>
      <p:grpSp>
        <p:nvGrpSpPr>
          <p:cNvPr id="22" name="V-STR-02"/>
          <p:cNvGrpSpPr/>
          <p:nvPr/>
        </p:nvGrpSpPr>
        <p:grpSpPr>
          <a:xfrm>
            <a:off x="548640" y="1197102"/>
            <a:ext cx="10058400" cy="3960876"/>
            <a:chOff x="548640" y="1197102"/>
            <a:chExt cx="10058400" cy="3960876"/>
          </a:xfrm>
        </p:grpSpPr>
        <p:sp>
          <p:nvSpPr>
            <p:cNvPr id="3" name="Root"/>
            <p:cNvSpPr/>
            <p:nvPr/>
          </p:nvSpPr>
          <p:spPr>
            <a:xfrm>
              <a:off x="548640" y="2628900"/>
              <a:ext cx="2194560" cy="109728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Question or objective</a:t>
              </a:r>
              <a:endParaRPr lang="en-US" sz="1200" dirty="0"/>
            </a:p>
          </p:txBody>
        </p:sp>
        <p:sp>
          <p:nvSpPr>
            <p:cNvPr id="4" name="Branch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2743200" y="1790700"/>
              <a:ext cx="731520" cy="13868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5" name="Branch 1"/>
            <p:cNvSpPr/>
            <p:nvPr/>
          </p:nvSpPr>
          <p:spPr>
            <a:xfrm>
              <a:off x="3474720" y="1470660"/>
              <a:ext cx="2743200" cy="64008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Driver</a:t>
              </a:r>
              <a:endParaRPr lang="en-US" sz="1200" dirty="0"/>
            </a:p>
          </p:txBody>
        </p:sp>
        <p:sp>
          <p:nvSpPr>
            <p:cNvPr id="6" name="Leaf 1.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217920" y="1443990"/>
              <a:ext cx="731520" cy="34671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7" name="Leaf 1.1"/>
            <p:cNvSpPr/>
            <p:nvPr/>
          </p:nvSpPr>
          <p:spPr>
            <a:xfrm>
              <a:off x="6949440" y="1197102"/>
              <a:ext cx="3657600" cy="4937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Sub-driver</a:t>
              </a:r>
              <a:endParaRPr lang="en-US" sz="1000" dirty="0"/>
            </a:p>
          </p:txBody>
        </p:sp>
        <p:sp>
          <p:nvSpPr>
            <p:cNvPr id="8" name="Leaf 1.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17920" y="1790700"/>
              <a:ext cx="731520" cy="34671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9" name="Leaf 1.2"/>
            <p:cNvSpPr/>
            <p:nvPr/>
          </p:nvSpPr>
          <p:spPr>
            <a:xfrm>
              <a:off x="6949440" y="1890522"/>
              <a:ext cx="3657600" cy="4937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Sub-driver</a:t>
              </a:r>
              <a:endParaRPr lang="en-US" sz="1000" dirty="0"/>
            </a:p>
          </p:txBody>
        </p:sp>
        <p:sp>
          <p:nvSpPr>
            <p:cNvPr id="10" name="Branch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743200" y="3177540"/>
              <a:ext cx="73152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11" name="Branch 2"/>
            <p:cNvSpPr/>
            <p:nvPr/>
          </p:nvSpPr>
          <p:spPr>
            <a:xfrm>
              <a:off x="3474720" y="2857500"/>
              <a:ext cx="2743200" cy="64008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Driver</a:t>
              </a:r>
              <a:endParaRPr lang="en-US" sz="1200" dirty="0"/>
            </a:p>
          </p:txBody>
        </p:sp>
        <p:sp>
          <p:nvSpPr>
            <p:cNvPr id="12" name="Leaf 2.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217920" y="2830830"/>
              <a:ext cx="731520" cy="34671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13" name="Leaf 2.1"/>
            <p:cNvSpPr/>
            <p:nvPr/>
          </p:nvSpPr>
          <p:spPr>
            <a:xfrm>
              <a:off x="6949440" y="2583942"/>
              <a:ext cx="3657600" cy="4937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Sub-driver</a:t>
              </a:r>
              <a:endParaRPr lang="en-US" sz="1000" dirty="0"/>
            </a:p>
          </p:txBody>
        </p:sp>
        <p:sp>
          <p:nvSpPr>
            <p:cNvPr id="14" name="Leaf 2.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17920" y="3177540"/>
              <a:ext cx="731520" cy="34671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15" name="Leaf 2.2"/>
            <p:cNvSpPr/>
            <p:nvPr/>
          </p:nvSpPr>
          <p:spPr>
            <a:xfrm>
              <a:off x="6949440" y="3277362"/>
              <a:ext cx="3657600" cy="4937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Sub-driver</a:t>
              </a:r>
              <a:endParaRPr lang="en-US" sz="1000" dirty="0"/>
            </a:p>
          </p:txBody>
        </p:sp>
        <p:sp>
          <p:nvSpPr>
            <p:cNvPr id="16" name="Branch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743200" y="3177540"/>
              <a:ext cx="731520" cy="13868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17" name="Branch 3"/>
            <p:cNvSpPr/>
            <p:nvPr/>
          </p:nvSpPr>
          <p:spPr>
            <a:xfrm>
              <a:off x="3474720" y="4244340"/>
              <a:ext cx="2743200" cy="64008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Driver</a:t>
              </a:r>
              <a:endParaRPr lang="en-US" sz="1200" dirty="0"/>
            </a:p>
          </p:txBody>
        </p:sp>
        <p:sp>
          <p:nvSpPr>
            <p:cNvPr id="18" name="Leaf 3.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217920" y="4217670"/>
              <a:ext cx="731520" cy="34671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19" name="Leaf 3.1"/>
            <p:cNvSpPr/>
            <p:nvPr/>
          </p:nvSpPr>
          <p:spPr>
            <a:xfrm>
              <a:off x="6949440" y="3970782"/>
              <a:ext cx="3657600" cy="4937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Sub-driver</a:t>
              </a:r>
              <a:endParaRPr lang="en-US" sz="1000" dirty="0"/>
            </a:p>
          </p:txBody>
        </p:sp>
        <p:sp>
          <p:nvSpPr>
            <p:cNvPr id="20" name="Leaf 3.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17920" y="4564380"/>
              <a:ext cx="731520" cy="34671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21" name="Leaf 3.2"/>
            <p:cNvSpPr/>
            <p:nvPr/>
          </p:nvSpPr>
          <p:spPr>
            <a:xfrm>
              <a:off x="6949440" y="4664202"/>
              <a:ext cx="3657600" cy="4937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Sub-driver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V-STR-03  ·  Pyramid</a:t>
            </a:r>
            <a:endParaRPr lang="en-US" sz="1000" dirty="0"/>
          </a:p>
        </p:txBody>
      </p:sp>
      <p:grpSp>
        <p:nvGrpSpPr>
          <p:cNvPr id="15" name="V-STR-03"/>
          <p:cNvGrpSpPr/>
          <p:nvPr/>
        </p:nvGrpSpPr>
        <p:grpSpPr>
          <a:xfrm>
            <a:off x="548640" y="1124712"/>
            <a:ext cx="7223760" cy="4105656"/>
            <a:chOff x="548640" y="1124712"/>
            <a:chExt cx="7223760" cy="4105656"/>
          </a:xfrm>
        </p:grpSpPr>
        <p:sp>
          <p:nvSpPr>
            <p:cNvPr id="3" name="Level 1"/>
            <p:cNvSpPr/>
            <p:nvPr/>
          </p:nvSpPr>
          <p:spPr>
            <a:xfrm>
              <a:off x="1903095" y="1124712"/>
              <a:ext cx="902970" cy="985266"/>
            </a:xfrm>
            <a:prstGeom prst="triangle">
              <a:avLst/>
            </a:prstGeom>
            <a:solidFill>
              <a:schemeClr val="accent1"/>
            </a:solidFill>
            <a:ln/>
          </p:spPr>
          <p:txBody>
            <a:bodyPr wrap="square" lIns="36576" tIns="36576" rIns="36576" bIns="36576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Top</a:t>
              </a:r>
              <a:endParaRPr lang="en-US" sz="1200" dirty="0"/>
            </a:p>
          </p:txBody>
        </p:sp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43400" y="1617345"/>
              <a:ext cx="365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Level 1 text"/>
            <p:cNvSpPr/>
            <p:nvPr/>
          </p:nvSpPr>
          <p:spPr>
            <a:xfrm>
              <a:off x="4800600" y="1143000"/>
              <a:ext cx="2971800" cy="9486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level means</a:t>
              </a:r>
              <a:endParaRPr lang="en-US" sz="1000" dirty="0"/>
            </a:p>
          </p:txBody>
        </p:sp>
        <p:sp>
          <p:nvSpPr>
            <p:cNvPr id="6" name="Level 2"/>
            <p:cNvSpPr/>
            <p:nvPr/>
          </p:nvSpPr>
          <p:spPr>
            <a:xfrm>
              <a:off x="1451610" y="2164842"/>
              <a:ext cx="1805940" cy="985266"/>
            </a:xfrm>
            <a:prstGeom prst="trapezoid">
              <a:avLst/>
            </a:prstGeom>
            <a:solidFill>
              <a:schemeClr val="accent2"/>
            </a:solidFill>
            <a:ln/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Level 2</a:t>
              </a:r>
              <a:endParaRPr lang="en-US" sz="1200" dirty="0"/>
            </a:p>
          </p:txBody>
        </p:sp>
        <p:sp>
          <p:nvSpPr>
            <p:cNvPr id="7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43400" y="2657475"/>
              <a:ext cx="365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8" name="Level 2 text"/>
            <p:cNvSpPr/>
            <p:nvPr/>
          </p:nvSpPr>
          <p:spPr>
            <a:xfrm>
              <a:off x="4800600" y="2183130"/>
              <a:ext cx="2971800" cy="9486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level means</a:t>
              </a:r>
              <a:endParaRPr lang="en-US" sz="1000" dirty="0"/>
            </a:p>
          </p:txBody>
        </p:sp>
        <p:sp>
          <p:nvSpPr>
            <p:cNvPr id="9" name="Level 3"/>
            <p:cNvSpPr/>
            <p:nvPr/>
          </p:nvSpPr>
          <p:spPr>
            <a:xfrm>
              <a:off x="1000125" y="3204972"/>
              <a:ext cx="2708910" cy="985266"/>
            </a:xfrm>
            <a:prstGeom prst="trapezoid">
              <a:avLst/>
            </a:prstGeom>
            <a:solidFill>
              <a:schemeClr val="accent3"/>
            </a:solidFill>
            <a:ln/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Level 3</a:t>
              </a:r>
              <a:endParaRPr lang="en-US" sz="1200" dirty="0"/>
            </a:p>
          </p:txBody>
        </p:sp>
        <p:sp>
          <p:nvSpPr>
            <p:cNvPr id="10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43400" y="3697605"/>
              <a:ext cx="365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1" name="Level 3 text"/>
            <p:cNvSpPr/>
            <p:nvPr/>
          </p:nvSpPr>
          <p:spPr>
            <a:xfrm>
              <a:off x="4800600" y="3223260"/>
              <a:ext cx="2971800" cy="9486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level means</a:t>
              </a:r>
              <a:endParaRPr lang="en-US" sz="1000" dirty="0"/>
            </a:p>
          </p:txBody>
        </p:sp>
        <p:sp>
          <p:nvSpPr>
            <p:cNvPr id="12" name="Level 4"/>
            <p:cNvSpPr/>
            <p:nvPr/>
          </p:nvSpPr>
          <p:spPr>
            <a:xfrm>
              <a:off x="548640" y="4245102"/>
              <a:ext cx="3611880" cy="985266"/>
            </a:xfrm>
            <a:prstGeom prst="trapezoid">
              <a:avLst/>
            </a:prstGeom>
            <a:solidFill>
              <a:schemeClr val="accent5"/>
            </a:solidFill>
            <a:ln/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Level 4</a:t>
              </a:r>
              <a:endParaRPr lang="en-US" sz="1200" dirty="0"/>
            </a:p>
          </p:txBody>
        </p:sp>
        <p:sp>
          <p:nvSpPr>
            <p:cNvPr id="13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43400" y="4737735"/>
              <a:ext cx="365760" cy="91"/>
            </a:xfrm>
            <a:prstGeom prst="lin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4" name="Level 4 text"/>
            <p:cNvSpPr/>
            <p:nvPr/>
          </p:nvSpPr>
          <p:spPr>
            <a:xfrm>
              <a:off x="4800600" y="4263390"/>
              <a:ext cx="2971800" cy="9486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level means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V-STR-04  ·  Layered architecture</a:t>
            </a:r>
            <a:endParaRPr lang="en-US" sz="1000" dirty="0"/>
          </a:p>
        </p:txBody>
      </p:sp>
      <p:grpSp>
        <p:nvGrpSpPr>
          <p:cNvPr id="27" name="V-STR-04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Layer 1"/>
            <p:cNvSpPr/>
            <p:nvPr/>
          </p:nvSpPr>
          <p:spPr>
            <a:xfrm>
              <a:off x="548640" y="1097280"/>
              <a:ext cx="1828800" cy="97155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109728" tIns="109728" rIns="109728" bIns="109728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Layer 1</a:t>
              </a:r>
              <a:endParaRPr lang="en-US" sz="1200" dirty="0"/>
            </a:p>
          </p:txBody>
        </p:sp>
        <p:sp>
          <p:nvSpPr>
            <p:cNvPr id="4" name="panel#1 &gt; Laye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7440" y="1097280"/>
              <a:ext cx="9265615" cy="97155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5" name="Block 1.1"/>
            <p:cNvSpPr/>
            <p:nvPr/>
          </p:nvSpPr>
          <p:spPr>
            <a:xfrm>
              <a:off x="2514600" y="120700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6" name="Block 1.2"/>
            <p:cNvSpPr/>
            <p:nvPr/>
          </p:nvSpPr>
          <p:spPr>
            <a:xfrm>
              <a:off x="4785284" y="120700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7" name="Block 1.3"/>
            <p:cNvSpPr/>
            <p:nvPr/>
          </p:nvSpPr>
          <p:spPr>
            <a:xfrm>
              <a:off x="7055968" y="120700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8" name="Block 1.4"/>
            <p:cNvSpPr/>
            <p:nvPr/>
          </p:nvSpPr>
          <p:spPr>
            <a:xfrm>
              <a:off x="9326651" y="120700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9" name="Layer 2"/>
            <p:cNvSpPr/>
            <p:nvPr/>
          </p:nvSpPr>
          <p:spPr>
            <a:xfrm>
              <a:off x="548640" y="2160270"/>
              <a:ext cx="1828800" cy="971550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109728" tIns="109728" rIns="109728" bIns="109728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Layer 2</a:t>
              </a:r>
              <a:endParaRPr lang="en-US" sz="1200" dirty="0"/>
            </a:p>
          </p:txBody>
        </p:sp>
        <p:sp>
          <p:nvSpPr>
            <p:cNvPr id="10" name="panel#2 &gt; Laye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7440" y="2160270"/>
              <a:ext cx="9265615" cy="97155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1" name="Block 2.1"/>
            <p:cNvSpPr/>
            <p:nvPr/>
          </p:nvSpPr>
          <p:spPr>
            <a:xfrm>
              <a:off x="2514600" y="226999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12" name="Block 2.2"/>
            <p:cNvSpPr/>
            <p:nvPr/>
          </p:nvSpPr>
          <p:spPr>
            <a:xfrm>
              <a:off x="4785284" y="226999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13" name="Block 2.3"/>
            <p:cNvSpPr/>
            <p:nvPr/>
          </p:nvSpPr>
          <p:spPr>
            <a:xfrm>
              <a:off x="7055968" y="226999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14" name="Block 2.4"/>
            <p:cNvSpPr/>
            <p:nvPr/>
          </p:nvSpPr>
          <p:spPr>
            <a:xfrm>
              <a:off x="9326651" y="226999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15" name="Layer 3"/>
            <p:cNvSpPr/>
            <p:nvPr/>
          </p:nvSpPr>
          <p:spPr>
            <a:xfrm>
              <a:off x="548640" y="3223260"/>
              <a:ext cx="1828800" cy="971550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109728" tIns="109728" rIns="109728" bIns="109728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Layer 3</a:t>
              </a:r>
              <a:endParaRPr lang="en-US" sz="1200" dirty="0"/>
            </a:p>
          </p:txBody>
        </p:sp>
        <p:sp>
          <p:nvSpPr>
            <p:cNvPr id="16" name="panel#3 &gt; Layer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7440" y="3223260"/>
              <a:ext cx="9265615" cy="97155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7" name="Block 3.1"/>
            <p:cNvSpPr/>
            <p:nvPr/>
          </p:nvSpPr>
          <p:spPr>
            <a:xfrm>
              <a:off x="2514600" y="333298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18" name="Block 3.2"/>
            <p:cNvSpPr/>
            <p:nvPr/>
          </p:nvSpPr>
          <p:spPr>
            <a:xfrm>
              <a:off x="4785284" y="333298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19" name="Block 3.3"/>
            <p:cNvSpPr/>
            <p:nvPr/>
          </p:nvSpPr>
          <p:spPr>
            <a:xfrm>
              <a:off x="7055968" y="333298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20" name="Block 3.4"/>
            <p:cNvSpPr/>
            <p:nvPr/>
          </p:nvSpPr>
          <p:spPr>
            <a:xfrm>
              <a:off x="9326651" y="333298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21" name="Layer 4"/>
            <p:cNvSpPr/>
            <p:nvPr/>
          </p:nvSpPr>
          <p:spPr>
            <a:xfrm>
              <a:off x="548640" y="4286250"/>
              <a:ext cx="1828800" cy="971550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109728" tIns="109728" rIns="109728" bIns="109728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Layer 4</a:t>
              </a:r>
              <a:endParaRPr lang="en-US" sz="1200" dirty="0"/>
            </a:p>
          </p:txBody>
        </p:sp>
        <p:sp>
          <p:nvSpPr>
            <p:cNvPr id="22" name="panel#4 &gt; Layer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7440" y="4286250"/>
              <a:ext cx="9265615" cy="97155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23" name="Block 4.1"/>
            <p:cNvSpPr/>
            <p:nvPr/>
          </p:nvSpPr>
          <p:spPr>
            <a:xfrm>
              <a:off x="2514600" y="439597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24" name="Block 4.2"/>
            <p:cNvSpPr/>
            <p:nvPr/>
          </p:nvSpPr>
          <p:spPr>
            <a:xfrm>
              <a:off x="4785284" y="439597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25" name="Block 4.3"/>
            <p:cNvSpPr/>
            <p:nvPr/>
          </p:nvSpPr>
          <p:spPr>
            <a:xfrm>
              <a:off x="7055968" y="439597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  <p:sp>
          <p:nvSpPr>
            <p:cNvPr id="26" name="Block 4.4"/>
            <p:cNvSpPr/>
            <p:nvPr/>
          </p:nvSpPr>
          <p:spPr>
            <a:xfrm>
              <a:off x="9326651" y="4395978"/>
              <a:ext cx="2133524" cy="7520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 wrap="square" lIns="54864" tIns="54864" rIns="54864" bIns="54864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Component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V-STR-05  ·  Hub and spoke</a:t>
            </a:r>
            <a:endParaRPr lang="en-US" sz="1000" dirty="0"/>
          </a:p>
        </p:txBody>
      </p:sp>
      <p:grpSp>
        <p:nvGrpSpPr>
          <p:cNvPr id="16" name="V-STR-05"/>
          <p:cNvGrpSpPr/>
          <p:nvPr/>
        </p:nvGrpSpPr>
        <p:grpSpPr>
          <a:xfrm>
            <a:off x="2258114" y="1051560"/>
            <a:ext cx="3804812" cy="4251960"/>
            <a:chOff x="2258114" y="1051560"/>
            <a:chExt cx="3804812" cy="4251960"/>
          </a:xfrm>
        </p:grpSpPr>
        <p:sp>
          <p:nvSpPr>
            <p:cNvPr id="3" name="Node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60520" y="1508760"/>
              <a:ext cx="91" cy="166878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4" name="Node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4160520" y="2343150"/>
              <a:ext cx="1445206" cy="83439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5" name="Node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60520" y="3177540"/>
              <a:ext cx="1445206" cy="83439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6" name="Node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60520" y="3177540"/>
              <a:ext cx="91" cy="166878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7" name="Node 5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2715314" y="3177540"/>
              <a:ext cx="1445206" cy="83439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8" name="Node 6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715314" y="2343150"/>
              <a:ext cx="1445206" cy="834390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prstDash val="solid"/>
            </a:ln>
          </p:spPr>
        </p:sp>
        <p:sp>
          <p:nvSpPr>
            <p:cNvPr id="9" name="Centre"/>
            <p:cNvSpPr/>
            <p:nvPr/>
          </p:nvSpPr>
          <p:spPr>
            <a:xfrm>
              <a:off x="3474720" y="2491740"/>
              <a:ext cx="1371600" cy="137160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Core</a:t>
              </a:r>
              <a:endParaRPr lang="en-US" sz="1200" dirty="0"/>
            </a:p>
          </p:txBody>
        </p:sp>
        <p:sp>
          <p:nvSpPr>
            <p:cNvPr id="10" name="Node 1"/>
            <p:cNvSpPr/>
            <p:nvPr/>
          </p:nvSpPr>
          <p:spPr>
            <a:xfrm>
              <a:off x="3703320" y="1051560"/>
              <a:ext cx="9144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Node</a:t>
              </a:r>
              <a:endParaRPr lang="en-US" sz="1000" dirty="0"/>
            </a:p>
          </p:txBody>
        </p:sp>
        <p:sp>
          <p:nvSpPr>
            <p:cNvPr id="11" name="Node 2"/>
            <p:cNvSpPr/>
            <p:nvPr/>
          </p:nvSpPr>
          <p:spPr>
            <a:xfrm>
              <a:off x="5148526" y="1885950"/>
              <a:ext cx="9144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Node</a:t>
              </a:r>
              <a:endParaRPr lang="en-US" sz="1000" dirty="0"/>
            </a:p>
          </p:txBody>
        </p:sp>
        <p:sp>
          <p:nvSpPr>
            <p:cNvPr id="12" name="Node 3"/>
            <p:cNvSpPr/>
            <p:nvPr/>
          </p:nvSpPr>
          <p:spPr>
            <a:xfrm>
              <a:off x="5148526" y="3554730"/>
              <a:ext cx="9144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Node</a:t>
              </a:r>
              <a:endParaRPr lang="en-US" sz="1000" dirty="0"/>
            </a:p>
          </p:txBody>
        </p:sp>
        <p:sp>
          <p:nvSpPr>
            <p:cNvPr id="13" name="Node 4"/>
            <p:cNvSpPr/>
            <p:nvPr/>
          </p:nvSpPr>
          <p:spPr>
            <a:xfrm>
              <a:off x="3703320" y="4389120"/>
              <a:ext cx="9144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Node</a:t>
              </a:r>
              <a:endParaRPr lang="en-US" sz="1000" dirty="0"/>
            </a:p>
          </p:txBody>
        </p:sp>
        <p:sp>
          <p:nvSpPr>
            <p:cNvPr id="14" name="Node 5"/>
            <p:cNvSpPr/>
            <p:nvPr/>
          </p:nvSpPr>
          <p:spPr>
            <a:xfrm>
              <a:off x="2258114" y="3554730"/>
              <a:ext cx="9144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Node</a:t>
              </a:r>
              <a:endParaRPr lang="en-US" sz="1000" dirty="0"/>
            </a:p>
          </p:txBody>
        </p:sp>
        <p:sp>
          <p:nvSpPr>
            <p:cNvPr id="15" name="Node 6"/>
            <p:cNvSpPr/>
            <p:nvPr/>
          </p:nvSpPr>
          <p:spPr>
            <a:xfrm>
              <a:off x="2258114" y="1885950"/>
              <a:ext cx="9144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Node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V-STR-06  ·  Venn diagram</a:t>
            </a:r>
            <a:endParaRPr lang="en-US" sz="1000" dirty="0"/>
          </a:p>
        </p:txBody>
      </p:sp>
      <p:grpSp>
        <p:nvGrpSpPr>
          <p:cNvPr id="10" name="V-STR-06"/>
          <p:cNvGrpSpPr/>
          <p:nvPr/>
        </p:nvGrpSpPr>
        <p:grpSpPr>
          <a:xfrm>
            <a:off x="2126607" y="1320284"/>
            <a:ext cx="4067826" cy="3817693"/>
            <a:chOff x="2126607" y="1320284"/>
            <a:chExt cx="4067826" cy="3817693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8493" y="1320284"/>
              <a:ext cx="2579522" cy="2579522"/>
            </a:xfrm>
            <a:prstGeom prst="ellipse">
              <a:avLst/>
            </a:prstGeom>
            <a:solidFill>
              <a:schemeClr val="accent3">
                <a:alpha val="55000"/>
              </a:schemeClr>
            </a:solidFill>
            <a:ln/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93025" y="1320284"/>
              <a:ext cx="2579522" cy="2579522"/>
            </a:xfrm>
            <a:prstGeom prst="ellipse">
              <a:avLst/>
            </a:prstGeom>
            <a:solidFill>
              <a:schemeClr val="accent4">
                <a:alpha val="55000"/>
              </a:schemeClr>
            </a:solidFill>
            <a:ln/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70759" y="2558455"/>
              <a:ext cx="2579522" cy="2579522"/>
            </a:xfrm>
            <a:prstGeom prst="ellipse">
              <a:avLst/>
            </a:prstGeom>
            <a:solidFill>
              <a:schemeClr val="accent5">
                <a:alpha val="55000"/>
              </a:schemeClr>
            </a:solidFill>
            <a:ln/>
          </p:spPr>
        </p:sp>
        <p:sp>
          <p:nvSpPr>
            <p:cNvPr id="6" name="Set 1"/>
            <p:cNvSpPr/>
            <p:nvPr/>
          </p:nvSpPr>
          <p:spPr>
            <a:xfrm>
              <a:off x="2126607" y="2069323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 1</a:t>
              </a:r>
              <a:endParaRPr lang="en-US" sz="1200" dirty="0"/>
            </a:p>
          </p:txBody>
        </p:sp>
        <p:sp>
          <p:nvSpPr>
            <p:cNvPr id="7" name="Set 2"/>
            <p:cNvSpPr/>
            <p:nvPr/>
          </p:nvSpPr>
          <p:spPr>
            <a:xfrm>
              <a:off x="4365633" y="2069323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 2</a:t>
              </a:r>
              <a:endParaRPr lang="en-US" sz="1200" dirty="0"/>
            </a:p>
          </p:txBody>
        </p:sp>
        <p:sp>
          <p:nvSpPr>
            <p:cNvPr id="8" name="Set 3"/>
            <p:cNvSpPr/>
            <p:nvPr/>
          </p:nvSpPr>
          <p:spPr>
            <a:xfrm>
              <a:off x="3246120" y="398848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 3</a:t>
              </a:r>
              <a:endParaRPr lang="en-US" sz="1200" dirty="0"/>
            </a:p>
          </p:txBody>
        </p:sp>
        <p:sp>
          <p:nvSpPr>
            <p:cNvPr id="9" name="Centre"/>
            <p:cNvSpPr/>
            <p:nvPr/>
          </p:nvSpPr>
          <p:spPr>
            <a:xfrm>
              <a:off x="3474720" y="2994660"/>
              <a:ext cx="1371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Overlap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V-STR-07  ·  Fishbone</a:t>
            </a:r>
            <a:endParaRPr lang="en-US" sz="1000" dirty="0"/>
          </a:p>
        </p:txBody>
      </p:sp>
      <p:grpSp>
        <p:nvGrpSpPr>
          <p:cNvPr id="29" name="V-STR-07"/>
          <p:cNvGrpSpPr/>
          <p:nvPr/>
        </p:nvGrpSpPr>
        <p:grpSpPr>
          <a:xfrm>
            <a:off x="365760" y="1097280"/>
            <a:ext cx="11277295" cy="4160520"/>
            <a:chOff x="365760" y="1097280"/>
            <a:chExt cx="11277295" cy="416052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3177540"/>
              <a:ext cx="8991295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4" name="Effect"/>
            <p:cNvSpPr/>
            <p:nvPr/>
          </p:nvSpPr>
          <p:spPr>
            <a:xfrm>
              <a:off x="9631375" y="2628900"/>
              <a:ext cx="2011680" cy="109728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91440" tIns="91440" rIns="91440" bIns="9144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Effect or problem</a:t>
              </a:r>
              <a:endParaRPr lang="en-US" sz="1200" dirty="0"/>
            </a:p>
          </p:txBody>
        </p:sp>
        <p:sp>
          <p:nvSpPr>
            <p:cNvPr id="5" name="Category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4400" y="1417320"/>
              <a:ext cx="1545379" cy="1760220"/>
            </a:xfrm>
            <a:prstGeom prst="line">
              <a:avLst/>
            </a:prstGeom>
            <a:noFill/>
            <a:ln w="15875">
              <a:solidFill>
                <a:schemeClr val="accent3"/>
              </a:solidFill>
              <a:prstDash val="solid"/>
            </a:ln>
          </p:spPr>
        </p:sp>
        <p:sp>
          <p:nvSpPr>
            <p:cNvPr id="6" name="Category 1"/>
            <p:cNvSpPr/>
            <p:nvPr/>
          </p:nvSpPr>
          <p:spPr>
            <a:xfrm>
              <a:off x="365760" y="10972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Category 1</a:t>
              </a:r>
              <a:endParaRPr lang="en-US" sz="1000" dirty="0"/>
            </a:p>
          </p:txBody>
        </p:sp>
        <p:sp>
          <p:nvSpPr>
            <p:cNvPr id="7" name="Cause 1.1"/>
            <p:cNvSpPr/>
            <p:nvPr/>
          </p:nvSpPr>
          <p:spPr>
            <a:xfrm>
              <a:off x="1546723" y="1896237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8" name="Cause 1.2"/>
            <p:cNvSpPr/>
            <p:nvPr/>
          </p:nvSpPr>
          <p:spPr>
            <a:xfrm>
              <a:off x="2010336" y="2424303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9" name="Category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24180" y="1417320"/>
              <a:ext cx="1545379" cy="1760220"/>
            </a:xfrm>
            <a:prstGeom prst="line">
              <a:avLst/>
            </a:prstGeom>
            <a:noFill/>
            <a:ln w="15875">
              <a:solidFill>
                <a:schemeClr val="accent3"/>
              </a:solidFill>
              <a:prstDash val="solid"/>
            </a:ln>
          </p:spPr>
        </p:sp>
        <p:sp>
          <p:nvSpPr>
            <p:cNvPr id="10" name="Category 2"/>
            <p:cNvSpPr/>
            <p:nvPr/>
          </p:nvSpPr>
          <p:spPr>
            <a:xfrm>
              <a:off x="3175540" y="10972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Category 2</a:t>
              </a:r>
              <a:endParaRPr lang="en-US" sz="1000" dirty="0"/>
            </a:p>
          </p:txBody>
        </p:sp>
        <p:sp>
          <p:nvSpPr>
            <p:cNvPr id="11" name="Cause 2.1"/>
            <p:cNvSpPr/>
            <p:nvPr/>
          </p:nvSpPr>
          <p:spPr>
            <a:xfrm>
              <a:off x="4356502" y="1896237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12" name="Cause 2.2"/>
            <p:cNvSpPr/>
            <p:nvPr/>
          </p:nvSpPr>
          <p:spPr>
            <a:xfrm>
              <a:off x="4820116" y="2424303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13" name="Category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960" y="1417320"/>
              <a:ext cx="1545379" cy="1760220"/>
            </a:xfrm>
            <a:prstGeom prst="line">
              <a:avLst/>
            </a:prstGeom>
            <a:noFill/>
            <a:ln w="15875">
              <a:solidFill>
                <a:schemeClr val="accent3"/>
              </a:solidFill>
              <a:prstDash val="solid"/>
            </a:ln>
          </p:spPr>
        </p:sp>
        <p:sp>
          <p:nvSpPr>
            <p:cNvPr id="14" name="Category 3"/>
            <p:cNvSpPr/>
            <p:nvPr/>
          </p:nvSpPr>
          <p:spPr>
            <a:xfrm>
              <a:off x="5985320" y="10972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Category 3</a:t>
              </a:r>
              <a:endParaRPr lang="en-US" sz="1000" dirty="0"/>
            </a:p>
          </p:txBody>
        </p:sp>
        <p:sp>
          <p:nvSpPr>
            <p:cNvPr id="15" name="Cause 3.1"/>
            <p:cNvSpPr/>
            <p:nvPr/>
          </p:nvSpPr>
          <p:spPr>
            <a:xfrm>
              <a:off x="7166282" y="1896237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16" name="Cause 3.2"/>
            <p:cNvSpPr/>
            <p:nvPr/>
          </p:nvSpPr>
          <p:spPr>
            <a:xfrm>
              <a:off x="7629896" y="2424303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17" name="Category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914400" y="3177540"/>
              <a:ext cx="1545379" cy="1760220"/>
            </a:xfrm>
            <a:prstGeom prst="line">
              <a:avLst/>
            </a:prstGeom>
            <a:noFill/>
            <a:ln w="15875">
              <a:solidFill>
                <a:schemeClr val="accent3"/>
              </a:solidFill>
              <a:prstDash val="solid"/>
            </a:ln>
          </p:spPr>
        </p:sp>
        <p:sp>
          <p:nvSpPr>
            <p:cNvPr id="18" name="Category 4"/>
            <p:cNvSpPr/>
            <p:nvPr/>
          </p:nvSpPr>
          <p:spPr>
            <a:xfrm>
              <a:off x="365760" y="49834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Category 4</a:t>
              </a:r>
              <a:endParaRPr lang="en-US" sz="1000" dirty="0"/>
            </a:p>
          </p:txBody>
        </p:sp>
        <p:sp>
          <p:nvSpPr>
            <p:cNvPr id="19" name="Cause 4.1"/>
            <p:cNvSpPr/>
            <p:nvPr/>
          </p:nvSpPr>
          <p:spPr>
            <a:xfrm>
              <a:off x="1546723" y="4184523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20" name="Cause 4.2"/>
            <p:cNvSpPr/>
            <p:nvPr/>
          </p:nvSpPr>
          <p:spPr>
            <a:xfrm>
              <a:off x="2010336" y="3656457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21" name="Category 5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3724180" y="3177540"/>
              <a:ext cx="1545379" cy="1760220"/>
            </a:xfrm>
            <a:prstGeom prst="line">
              <a:avLst/>
            </a:prstGeom>
            <a:noFill/>
            <a:ln w="15875">
              <a:solidFill>
                <a:schemeClr val="accent3"/>
              </a:solidFill>
              <a:prstDash val="solid"/>
            </a:ln>
          </p:spPr>
        </p:sp>
        <p:sp>
          <p:nvSpPr>
            <p:cNvPr id="22" name="Category 5"/>
            <p:cNvSpPr/>
            <p:nvPr/>
          </p:nvSpPr>
          <p:spPr>
            <a:xfrm>
              <a:off x="3175540" y="49834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Category 5</a:t>
              </a:r>
              <a:endParaRPr lang="en-US" sz="1000" dirty="0"/>
            </a:p>
          </p:txBody>
        </p:sp>
        <p:sp>
          <p:nvSpPr>
            <p:cNvPr id="23" name="Cause 5.1"/>
            <p:cNvSpPr/>
            <p:nvPr/>
          </p:nvSpPr>
          <p:spPr>
            <a:xfrm>
              <a:off x="4356502" y="4184523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24" name="Cause 5.2"/>
            <p:cNvSpPr/>
            <p:nvPr/>
          </p:nvSpPr>
          <p:spPr>
            <a:xfrm>
              <a:off x="4820116" y="3656457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25" name="Category 6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533960" y="3177540"/>
              <a:ext cx="1545379" cy="1760220"/>
            </a:xfrm>
            <a:prstGeom prst="line">
              <a:avLst/>
            </a:prstGeom>
            <a:noFill/>
            <a:ln w="15875">
              <a:solidFill>
                <a:schemeClr val="accent3"/>
              </a:solidFill>
              <a:prstDash val="solid"/>
            </a:ln>
          </p:spPr>
        </p:sp>
        <p:sp>
          <p:nvSpPr>
            <p:cNvPr id="26" name="Category 6"/>
            <p:cNvSpPr/>
            <p:nvPr/>
          </p:nvSpPr>
          <p:spPr>
            <a:xfrm>
              <a:off x="5985320" y="49834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Category 6</a:t>
              </a:r>
              <a:endParaRPr lang="en-US" sz="1000" dirty="0"/>
            </a:p>
          </p:txBody>
        </p:sp>
        <p:sp>
          <p:nvSpPr>
            <p:cNvPr id="27" name="Cause 6.1"/>
            <p:cNvSpPr/>
            <p:nvPr/>
          </p:nvSpPr>
          <p:spPr>
            <a:xfrm>
              <a:off x="7166282" y="4184523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  <p:sp>
          <p:nvSpPr>
            <p:cNvPr id="28" name="Cause 6.2"/>
            <p:cNvSpPr/>
            <p:nvPr/>
          </p:nvSpPr>
          <p:spPr>
            <a:xfrm>
              <a:off x="7629896" y="3656457"/>
              <a:ext cx="1404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Cause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V-STR-08  ·  Concentric circles</a:t>
            </a:r>
            <a:endParaRPr lang="en-US" sz="1000" dirty="0"/>
          </a:p>
        </p:txBody>
      </p:sp>
      <p:grpSp>
        <p:nvGrpSpPr>
          <p:cNvPr id="15" name="V-STR-08"/>
          <p:cNvGrpSpPr/>
          <p:nvPr/>
        </p:nvGrpSpPr>
        <p:grpSpPr>
          <a:xfrm>
            <a:off x="548640" y="1097280"/>
            <a:ext cx="7223760" cy="3973068"/>
            <a:chOff x="548640" y="1097280"/>
            <a:chExt cx="7223760" cy="3973068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3973068" cy="3973068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331" y="2368662"/>
              <a:ext cx="2701686" cy="2701686"/>
            </a:xfrm>
            <a:prstGeom prst="ellipse">
              <a:avLst/>
            </a:prstGeom>
            <a:solidFill>
              <a:schemeClr val="accent4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0022" y="3640044"/>
              <a:ext cx="1430304" cy="143030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96028" y="1325880"/>
              <a:ext cx="36576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7" name="Ring 1"/>
            <p:cNvSpPr/>
            <p:nvPr/>
          </p:nvSpPr>
          <p:spPr>
            <a:xfrm>
              <a:off x="4796028" y="1417320"/>
              <a:ext cx="29763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ring</a:t>
              </a:r>
              <a:endParaRPr lang="en-US" sz="1200" dirty="0"/>
            </a:p>
          </p:txBody>
        </p:sp>
        <p:sp>
          <p:nvSpPr>
            <p:cNvPr id="8" name="Ring 1 text"/>
            <p:cNvSpPr/>
            <p:nvPr/>
          </p:nvSpPr>
          <p:spPr>
            <a:xfrm>
              <a:off x="4796028" y="1783080"/>
              <a:ext cx="29763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it contains</a:t>
              </a:r>
              <a:endParaRPr lang="en-US" sz="1000" dirty="0"/>
            </a:p>
          </p:txBody>
        </p:sp>
        <p:sp>
          <p:nvSpPr>
            <p:cNvPr id="9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96028" y="2590800"/>
              <a:ext cx="36576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10" name="Ring 2"/>
            <p:cNvSpPr/>
            <p:nvPr/>
          </p:nvSpPr>
          <p:spPr>
            <a:xfrm>
              <a:off x="4796028" y="2682240"/>
              <a:ext cx="29763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Middle ring</a:t>
              </a:r>
              <a:endParaRPr lang="en-US" sz="1200" dirty="0"/>
            </a:p>
          </p:txBody>
        </p:sp>
        <p:sp>
          <p:nvSpPr>
            <p:cNvPr id="11" name="Ring 2 text"/>
            <p:cNvSpPr/>
            <p:nvPr/>
          </p:nvSpPr>
          <p:spPr>
            <a:xfrm>
              <a:off x="4796028" y="3048000"/>
              <a:ext cx="29763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it contains</a:t>
              </a:r>
              <a:endParaRPr lang="en-US" sz="1000" dirty="0"/>
            </a:p>
          </p:txBody>
        </p:sp>
        <p:sp>
          <p:nvSpPr>
            <p:cNvPr id="12" name="decoration#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96028" y="3855720"/>
              <a:ext cx="36576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13" name="Ring 3"/>
            <p:cNvSpPr/>
            <p:nvPr/>
          </p:nvSpPr>
          <p:spPr>
            <a:xfrm>
              <a:off x="4796028" y="3947160"/>
              <a:ext cx="29763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Core</a:t>
              </a:r>
              <a:endParaRPr lang="en-US" sz="1200" dirty="0"/>
            </a:p>
          </p:txBody>
        </p:sp>
        <p:sp>
          <p:nvSpPr>
            <p:cNvPr id="14" name="Ring 3 text"/>
            <p:cNvSpPr/>
            <p:nvPr/>
          </p:nvSpPr>
          <p:spPr>
            <a:xfrm>
              <a:off x="4796028" y="4312920"/>
              <a:ext cx="29763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it contains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V-STR-09  ·  Half-ring layers</a:t>
            </a:r>
            <a:endParaRPr lang="en-US" sz="1000" dirty="0"/>
          </a:p>
        </p:txBody>
      </p:sp>
      <p:grpSp>
        <p:nvGrpSpPr>
          <p:cNvPr id="15" name="V-STR-09"/>
          <p:cNvGrpSpPr/>
          <p:nvPr/>
        </p:nvGrpSpPr>
        <p:grpSpPr>
          <a:xfrm>
            <a:off x="594360" y="1645920"/>
            <a:ext cx="7132320" cy="3593592"/>
            <a:chOff x="594360" y="1645920"/>
            <a:chExt cx="7132320" cy="3593592"/>
          </a:xfrm>
        </p:grpSpPr>
        <p:sp>
          <p:nvSpPr>
            <p:cNvPr id="3" name="Layer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4360" y="1645920"/>
              <a:ext cx="7132320" cy="3566160"/>
            </a:xfrm>
            <a:custGeom>
              <a:avLst/>
              <a:gdLst/>
              <a:ahLst/>
              <a:cxnLst/>
              <a:rect l="l" t="t" r="r" b="b"/>
              <a:pathLst>
                <a:path w="7132320" h="3566160">
                  <a:moveTo>
                    <a:pt x="0" y="3566160"/>
                  </a:moveTo>
                  <a:arcTo hR="3566160" wR="3566160" stAng="10800000" swAng="10800000"/>
                  <a:lnTo>
                    <a:pt x="6263640" y="3566160"/>
                  </a:lnTo>
                  <a:arcTo hR="2697480" wR="2697480" stAng="0" swAng="-10800000"/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63040" y="2514600"/>
              <a:ext cx="5394960" cy="2697480"/>
            </a:xfrm>
            <a:custGeom>
              <a:avLst/>
              <a:gdLst/>
              <a:ahLst/>
              <a:cxnLst/>
              <a:rect l="l" t="t" r="r" b="b"/>
              <a:pathLst>
                <a:path w="5394960" h="2697480">
                  <a:moveTo>
                    <a:pt x="0" y="2697480"/>
                  </a:moveTo>
                  <a:arcTo hR="2697480" wR="2697480" stAng="10800000" swAng="10800000"/>
                  <a:lnTo>
                    <a:pt x="4526280" y="2697480"/>
                  </a:lnTo>
                  <a:arcTo hR="1828800" wR="1828800" stAng="0" swAng="-10800000"/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5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31720" y="3383280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1828800"/>
                  </a:moveTo>
                  <a:arcTo hR="1828800" wR="1828800" stAng="10800000" swAng="10800000"/>
                  <a:lnTo>
                    <a:pt x="2788920" y="1828800"/>
                  </a:lnTo>
                  <a:arcTo hR="960120" wR="960120" stAng="0" swAng="-10800000"/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6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00400" y="4251960"/>
              <a:ext cx="1920240" cy="960120"/>
            </a:xfrm>
            <a:custGeom>
              <a:avLst/>
              <a:gdLst/>
              <a:ahLst/>
              <a:cxnLst/>
              <a:rect l="l" t="t" r="r" b="b"/>
              <a:pathLst>
                <a:path w="1920240" h="960120">
                  <a:moveTo>
                    <a:pt x="0" y="960120"/>
                  </a:moveTo>
                  <a:arcTo hR="960120" wR="960120" stAng="10800000" swAng="10800000"/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7" name="Layer 1"/>
            <p:cNvSpPr/>
            <p:nvPr/>
          </p:nvSpPr>
          <p:spPr>
            <a:xfrm>
              <a:off x="3429000" y="4526280"/>
              <a:ext cx="14630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Core</a:t>
              </a:r>
              <a:endParaRPr lang="en-US" sz="1200" dirty="0"/>
            </a:p>
          </p:txBody>
        </p:sp>
        <p:sp>
          <p:nvSpPr>
            <p:cNvPr id="8" name="Layer 1 text"/>
            <p:cNvSpPr/>
            <p:nvPr/>
          </p:nvSpPr>
          <p:spPr>
            <a:xfrm>
              <a:off x="3429000" y="4828032"/>
              <a:ext cx="1463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this layer adds</a:t>
              </a:r>
              <a:endParaRPr lang="en-US" sz="1000" dirty="0"/>
            </a:p>
          </p:txBody>
        </p:sp>
        <p:sp>
          <p:nvSpPr>
            <p:cNvPr id="9" name="Layer 2"/>
            <p:cNvSpPr/>
            <p:nvPr/>
          </p:nvSpPr>
          <p:spPr>
            <a:xfrm>
              <a:off x="3246120" y="3474720"/>
              <a:ext cx="1828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Layer 2</a:t>
              </a:r>
              <a:endParaRPr lang="en-US" sz="1200" dirty="0"/>
            </a:p>
          </p:txBody>
        </p:sp>
        <p:sp>
          <p:nvSpPr>
            <p:cNvPr id="10" name="Layer 2 text"/>
            <p:cNvSpPr/>
            <p:nvPr/>
          </p:nvSpPr>
          <p:spPr>
            <a:xfrm>
              <a:off x="3246120" y="3776472"/>
              <a:ext cx="18288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this layer adds</a:t>
              </a:r>
              <a:endParaRPr lang="en-US" sz="1000" dirty="0"/>
            </a:p>
          </p:txBody>
        </p:sp>
        <p:sp>
          <p:nvSpPr>
            <p:cNvPr id="11" name="Layer 3"/>
            <p:cNvSpPr/>
            <p:nvPr/>
          </p:nvSpPr>
          <p:spPr>
            <a:xfrm>
              <a:off x="3246120" y="2606040"/>
              <a:ext cx="1828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Layer 3</a:t>
              </a:r>
              <a:endParaRPr lang="en-US" sz="1200" dirty="0"/>
            </a:p>
          </p:txBody>
        </p:sp>
        <p:sp>
          <p:nvSpPr>
            <p:cNvPr id="12" name="Layer 3 text"/>
            <p:cNvSpPr/>
            <p:nvPr/>
          </p:nvSpPr>
          <p:spPr>
            <a:xfrm>
              <a:off x="3246120" y="2907792"/>
              <a:ext cx="18288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layer adds</a:t>
              </a:r>
              <a:endParaRPr lang="en-US" sz="1000" dirty="0"/>
            </a:p>
          </p:txBody>
        </p:sp>
        <p:sp>
          <p:nvSpPr>
            <p:cNvPr id="13" name="Layer 4"/>
            <p:cNvSpPr/>
            <p:nvPr/>
          </p:nvSpPr>
          <p:spPr>
            <a:xfrm>
              <a:off x="3246120" y="1737360"/>
              <a:ext cx="1828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Layer 4</a:t>
              </a:r>
              <a:endParaRPr lang="en-US" sz="1200" dirty="0"/>
            </a:p>
          </p:txBody>
        </p:sp>
        <p:sp>
          <p:nvSpPr>
            <p:cNvPr id="14" name="Layer 4 text"/>
            <p:cNvSpPr/>
            <p:nvPr/>
          </p:nvSpPr>
          <p:spPr>
            <a:xfrm>
              <a:off x="3246120" y="2039112"/>
              <a:ext cx="18288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layer adds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V-FRM-01  ·  Business model canvas</a:t>
            </a:r>
            <a:endParaRPr lang="en-US" sz="1000" dirty="0"/>
          </a:p>
        </p:txBody>
      </p:sp>
      <p:grpSp>
        <p:nvGrpSpPr>
          <p:cNvPr id="30" name="V-FRM-01"/>
          <p:cNvGrpSpPr/>
          <p:nvPr/>
        </p:nvGrpSpPr>
        <p:grpSpPr>
          <a:xfrm>
            <a:off x="585216" y="1097280"/>
            <a:ext cx="11021264" cy="4160520"/>
            <a:chOff x="585216" y="1097280"/>
            <a:chExt cx="11021264" cy="4160520"/>
          </a:xfrm>
        </p:grpSpPr>
        <p:sp>
          <p:nvSpPr>
            <p:cNvPr id="3" name="card#1 &gt; Block 1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5216" y="1097280"/>
              <a:ext cx="2145731" cy="277941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4" name="Block 1 heading"/>
            <p:cNvSpPr/>
            <p:nvPr/>
          </p:nvSpPr>
          <p:spPr>
            <a:xfrm>
              <a:off x="722376" y="1207008"/>
              <a:ext cx="187141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Key partners</a:t>
              </a:r>
              <a:endParaRPr lang="en-US" sz="1200" dirty="0"/>
            </a:p>
          </p:txBody>
        </p:sp>
        <p:sp>
          <p:nvSpPr>
            <p:cNvPr id="5" name="Block 1 text"/>
            <p:cNvSpPr/>
            <p:nvPr/>
          </p:nvSpPr>
          <p:spPr>
            <a:xfrm>
              <a:off x="722376" y="1572768"/>
              <a:ext cx="1871411" cy="2185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6" name="card#2 &gt; Block 2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04099" y="1097280"/>
              <a:ext cx="2145731" cy="1353129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7" name="Block 2 heading"/>
            <p:cNvSpPr/>
            <p:nvPr/>
          </p:nvSpPr>
          <p:spPr>
            <a:xfrm>
              <a:off x="2941259" y="1207008"/>
              <a:ext cx="187141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Key activities</a:t>
              </a:r>
              <a:endParaRPr lang="en-US" sz="1200" dirty="0"/>
            </a:p>
          </p:txBody>
        </p:sp>
        <p:sp>
          <p:nvSpPr>
            <p:cNvPr id="8" name="Block 2 text"/>
            <p:cNvSpPr/>
            <p:nvPr/>
          </p:nvSpPr>
          <p:spPr>
            <a:xfrm>
              <a:off x="2941259" y="1572768"/>
              <a:ext cx="1871411" cy="758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9" name="card#3 &gt; Block 3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04099" y="2523561"/>
              <a:ext cx="2145731" cy="1353129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0" name="Block 3 heading"/>
            <p:cNvSpPr/>
            <p:nvPr/>
          </p:nvSpPr>
          <p:spPr>
            <a:xfrm>
              <a:off x="2941259" y="2633289"/>
              <a:ext cx="187141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Key resources</a:t>
              </a:r>
              <a:endParaRPr lang="en-US" sz="1200" dirty="0"/>
            </a:p>
          </p:txBody>
        </p:sp>
        <p:sp>
          <p:nvSpPr>
            <p:cNvPr id="11" name="Block 3 text"/>
            <p:cNvSpPr/>
            <p:nvPr/>
          </p:nvSpPr>
          <p:spPr>
            <a:xfrm>
              <a:off x="2941259" y="2999049"/>
              <a:ext cx="1871411" cy="758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2" name="card#4 &gt; Block 4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2982" y="1097280"/>
              <a:ext cx="2145731" cy="2779410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13" name="Block 4 heading"/>
            <p:cNvSpPr/>
            <p:nvPr/>
          </p:nvSpPr>
          <p:spPr>
            <a:xfrm>
              <a:off x="5160142" y="1207008"/>
              <a:ext cx="187141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Value propositions</a:t>
              </a:r>
              <a:endParaRPr lang="en-US" sz="1200" dirty="0"/>
            </a:p>
          </p:txBody>
        </p:sp>
        <p:sp>
          <p:nvSpPr>
            <p:cNvPr id="14" name="Block 4 text"/>
            <p:cNvSpPr/>
            <p:nvPr/>
          </p:nvSpPr>
          <p:spPr>
            <a:xfrm>
              <a:off x="5160142" y="1572768"/>
              <a:ext cx="1871411" cy="2185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5" name="card#5 &gt; Block 5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41865" y="1097280"/>
              <a:ext cx="2145731" cy="1353129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6" name="Block 5 heading"/>
            <p:cNvSpPr/>
            <p:nvPr/>
          </p:nvSpPr>
          <p:spPr>
            <a:xfrm>
              <a:off x="7379025" y="1207008"/>
              <a:ext cx="187141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Customer relationships</a:t>
              </a:r>
              <a:endParaRPr lang="en-US" sz="1200" dirty="0"/>
            </a:p>
          </p:txBody>
        </p:sp>
        <p:sp>
          <p:nvSpPr>
            <p:cNvPr id="17" name="Block 5 text"/>
            <p:cNvSpPr/>
            <p:nvPr/>
          </p:nvSpPr>
          <p:spPr>
            <a:xfrm>
              <a:off x="7379025" y="1572768"/>
              <a:ext cx="1871411" cy="758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8" name="card#6 &gt; Block 6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41865" y="2523561"/>
              <a:ext cx="2145731" cy="1353129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9" name="Block 6 heading"/>
            <p:cNvSpPr/>
            <p:nvPr/>
          </p:nvSpPr>
          <p:spPr>
            <a:xfrm>
              <a:off x="7379025" y="2633289"/>
              <a:ext cx="187141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Channels</a:t>
              </a:r>
              <a:endParaRPr lang="en-US" sz="1200" dirty="0"/>
            </a:p>
          </p:txBody>
        </p:sp>
        <p:sp>
          <p:nvSpPr>
            <p:cNvPr id="20" name="Block 6 text"/>
            <p:cNvSpPr/>
            <p:nvPr/>
          </p:nvSpPr>
          <p:spPr>
            <a:xfrm>
              <a:off x="7379025" y="2999049"/>
              <a:ext cx="1871411" cy="758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1" name="card#7 &gt; Block 7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460748" y="1097280"/>
              <a:ext cx="2145731" cy="277941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22" name="Block 7 heading"/>
            <p:cNvSpPr/>
            <p:nvPr/>
          </p:nvSpPr>
          <p:spPr>
            <a:xfrm>
              <a:off x="9597908" y="1207008"/>
              <a:ext cx="187141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Customer segments</a:t>
              </a:r>
              <a:endParaRPr lang="en-US" sz="1200" dirty="0"/>
            </a:p>
          </p:txBody>
        </p:sp>
        <p:sp>
          <p:nvSpPr>
            <p:cNvPr id="23" name="Block 7 text"/>
            <p:cNvSpPr/>
            <p:nvPr/>
          </p:nvSpPr>
          <p:spPr>
            <a:xfrm>
              <a:off x="9597908" y="1572768"/>
              <a:ext cx="1871411" cy="2185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4" name="card#8 &gt; Block 8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5216" y="3949842"/>
              <a:ext cx="5474056" cy="1307958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25" name="Block 8 heading"/>
            <p:cNvSpPr/>
            <p:nvPr/>
          </p:nvSpPr>
          <p:spPr>
            <a:xfrm>
              <a:off x="722376" y="4059570"/>
              <a:ext cx="519973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Cost structure</a:t>
              </a:r>
              <a:endParaRPr lang="en-US" sz="1200" dirty="0"/>
            </a:p>
          </p:txBody>
        </p:sp>
        <p:sp>
          <p:nvSpPr>
            <p:cNvPr id="26" name="Block 8 text"/>
            <p:cNvSpPr/>
            <p:nvPr/>
          </p:nvSpPr>
          <p:spPr>
            <a:xfrm>
              <a:off x="722376" y="4425330"/>
              <a:ext cx="5199736" cy="713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27" name="card#9 &gt; Block 9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32424" y="3949842"/>
              <a:ext cx="5474056" cy="1307958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28" name="Block 9 heading"/>
            <p:cNvSpPr/>
            <p:nvPr/>
          </p:nvSpPr>
          <p:spPr>
            <a:xfrm>
              <a:off x="6269584" y="4059570"/>
              <a:ext cx="519973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Revenue streams</a:t>
              </a:r>
              <a:endParaRPr lang="en-US" sz="1200" dirty="0"/>
            </a:p>
          </p:txBody>
        </p:sp>
        <p:sp>
          <p:nvSpPr>
            <p:cNvPr id="29" name="Block 9 text"/>
            <p:cNvSpPr/>
            <p:nvPr/>
          </p:nvSpPr>
          <p:spPr>
            <a:xfrm>
              <a:off x="6269584" y="4425330"/>
              <a:ext cx="5199736" cy="713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V-FRM-02  ·  Five forces</a:t>
            </a:r>
            <a:endParaRPr lang="en-US" sz="1000" dirty="0"/>
          </a:p>
        </p:txBody>
      </p:sp>
      <p:grpSp>
        <p:nvGrpSpPr>
          <p:cNvPr id="22" name="V-FRM-02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card#1 &gt; Force 1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87088" y="2606040"/>
              <a:ext cx="3017520" cy="1143000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4" name="Force 1 heading"/>
            <p:cNvSpPr/>
            <p:nvPr/>
          </p:nvSpPr>
          <p:spPr>
            <a:xfrm>
              <a:off x="4724248" y="2715768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Industry rivalry</a:t>
              </a:r>
              <a:endParaRPr lang="en-US" sz="1200" dirty="0"/>
            </a:p>
          </p:txBody>
        </p:sp>
        <p:sp>
          <p:nvSpPr>
            <p:cNvPr id="5" name="Force 1 text"/>
            <p:cNvSpPr/>
            <p:nvPr/>
          </p:nvSpPr>
          <p:spPr>
            <a:xfrm>
              <a:off x="4724248" y="3081528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6" name="card#2 &gt; Force 2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87088" y="1097280"/>
              <a:ext cx="3017520" cy="114300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7" name="Force 2 heading"/>
            <p:cNvSpPr/>
            <p:nvPr/>
          </p:nvSpPr>
          <p:spPr>
            <a:xfrm>
              <a:off x="4724248" y="1207008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Threat of new entrants</a:t>
              </a:r>
              <a:endParaRPr lang="en-US" sz="1200" dirty="0"/>
            </a:p>
          </p:txBody>
        </p:sp>
        <p:sp>
          <p:nvSpPr>
            <p:cNvPr id="8" name="Force 2 text"/>
            <p:cNvSpPr/>
            <p:nvPr/>
          </p:nvSpPr>
          <p:spPr>
            <a:xfrm>
              <a:off x="4724248" y="1572768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9" name="card#3 &gt; Force 3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606040"/>
              <a:ext cx="3017520" cy="114300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0" name="Force 3 heading"/>
            <p:cNvSpPr/>
            <p:nvPr/>
          </p:nvSpPr>
          <p:spPr>
            <a:xfrm>
              <a:off x="685800" y="2715768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Bargaining power of suppliers</a:t>
              </a:r>
              <a:endParaRPr lang="en-US" sz="1200" dirty="0"/>
            </a:p>
          </p:txBody>
        </p:sp>
        <p:sp>
          <p:nvSpPr>
            <p:cNvPr id="11" name="Force 3 text"/>
            <p:cNvSpPr/>
            <p:nvPr/>
          </p:nvSpPr>
          <p:spPr>
            <a:xfrm>
              <a:off x="685800" y="3081528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2" name="card#4 &gt; Force 4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25535" y="2606040"/>
              <a:ext cx="3017520" cy="114300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3" name="Force 4 heading"/>
            <p:cNvSpPr/>
            <p:nvPr/>
          </p:nvSpPr>
          <p:spPr>
            <a:xfrm>
              <a:off x="8762695" y="2715768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Bargaining power of buyers</a:t>
              </a:r>
              <a:endParaRPr lang="en-US" sz="1200" dirty="0"/>
            </a:p>
          </p:txBody>
        </p:sp>
        <p:sp>
          <p:nvSpPr>
            <p:cNvPr id="14" name="Force 4 text"/>
            <p:cNvSpPr/>
            <p:nvPr/>
          </p:nvSpPr>
          <p:spPr>
            <a:xfrm>
              <a:off x="8762695" y="3081528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5" name="card#5 &gt; Force 5 heading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87088" y="4114800"/>
              <a:ext cx="3017520" cy="114300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6" name="Force 5 heading"/>
            <p:cNvSpPr/>
            <p:nvPr/>
          </p:nvSpPr>
          <p:spPr>
            <a:xfrm>
              <a:off x="4724248" y="4224528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Threat of substitutes</a:t>
              </a:r>
              <a:endParaRPr lang="en-US" sz="1200" dirty="0"/>
            </a:p>
          </p:txBody>
        </p:sp>
        <p:sp>
          <p:nvSpPr>
            <p:cNvPr id="17" name="Force 5 text"/>
            <p:cNvSpPr/>
            <p:nvPr/>
          </p:nvSpPr>
          <p:spPr>
            <a:xfrm>
              <a:off x="4724248" y="4590288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</a:t>
              </a:r>
              <a:endParaRPr lang="en-US" sz="1000" dirty="0"/>
            </a:p>
          </p:txBody>
        </p:sp>
        <p:sp>
          <p:nvSpPr>
            <p:cNvPr id="18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95848" y="2240280"/>
              <a:ext cx="91" cy="3200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19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95848" y="3794760"/>
              <a:ext cx="91" cy="3200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20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66160" y="3177540"/>
              <a:ext cx="975208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21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50328" y="3177540"/>
              <a:ext cx="975208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V-FRM-03  ·  PESTEL</a:t>
            </a:r>
            <a:endParaRPr lang="en-US" sz="1000" dirty="0"/>
          </a:p>
        </p:txBody>
      </p:sp>
      <p:grpSp>
        <p:nvGrpSpPr>
          <p:cNvPr id="27" name="V-FRM-03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Letter 1"/>
            <p:cNvSpPr/>
            <p:nvPr/>
          </p:nvSpPr>
          <p:spPr>
            <a:xfrm>
              <a:off x="548640" y="1097280"/>
              <a:ext cx="1757629" cy="82296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P</a:t>
              </a:r>
              <a:endParaRPr lang="en-US" sz="4000" dirty="0"/>
            </a:p>
          </p:txBody>
        </p:sp>
        <p:sp>
          <p:nvSpPr>
            <p:cNvPr id="4" name="Heading 1"/>
            <p:cNvSpPr/>
            <p:nvPr/>
          </p:nvSpPr>
          <p:spPr>
            <a:xfrm>
              <a:off x="548640" y="1965960"/>
              <a:ext cx="175762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Political</a:t>
              </a:r>
              <a:endParaRPr lang="en-US" sz="1200" dirty="0"/>
            </a:p>
          </p:txBody>
        </p:sp>
        <p:sp>
          <p:nvSpPr>
            <p:cNvPr id="5" name="card#1 &gt; Facto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377440"/>
              <a:ext cx="1757629" cy="28803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6" name="Factor 1"/>
            <p:cNvSpPr/>
            <p:nvPr/>
          </p:nvSpPr>
          <p:spPr>
            <a:xfrm>
              <a:off x="658368" y="2514600"/>
              <a:ext cx="1538173" cy="2606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</p:txBody>
        </p:sp>
        <p:sp>
          <p:nvSpPr>
            <p:cNvPr id="7" name="Letter 2"/>
            <p:cNvSpPr/>
            <p:nvPr/>
          </p:nvSpPr>
          <p:spPr>
            <a:xfrm>
              <a:off x="2415997" y="1097280"/>
              <a:ext cx="1757629" cy="82296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E</a:t>
              </a:r>
              <a:endParaRPr lang="en-US" sz="4000" dirty="0"/>
            </a:p>
          </p:txBody>
        </p:sp>
        <p:sp>
          <p:nvSpPr>
            <p:cNvPr id="8" name="Heading 2"/>
            <p:cNvSpPr/>
            <p:nvPr/>
          </p:nvSpPr>
          <p:spPr>
            <a:xfrm>
              <a:off x="2415997" y="1965960"/>
              <a:ext cx="175762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Economic</a:t>
              </a:r>
              <a:endParaRPr lang="en-US" sz="1200" dirty="0"/>
            </a:p>
          </p:txBody>
        </p:sp>
        <p:sp>
          <p:nvSpPr>
            <p:cNvPr id="9" name="card#2 &gt; Facto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415997" y="2377440"/>
              <a:ext cx="1757629" cy="28803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0" name="Factor 2"/>
            <p:cNvSpPr/>
            <p:nvPr/>
          </p:nvSpPr>
          <p:spPr>
            <a:xfrm>
              <a:off x="2525725" y="2514600"/>
              <a:ext cx="1538173" cy="2606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</p:txBody>
        </p:sp>
        <p:sp>
          <p:nvSpPr>
            <p:cNvPr id="11" name="Letter 3"/>
            <p:cNvSpPr/>
            <p:nvPr/>
          </p:nvSpPr>
          <p:spPr>
            <a:xfrm>
              <a:off x="4283354" y="1097280"/>
              <a:ext cx="1757629" cy="82296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S</a:t>
              </a:r>
              <a:endParaRPr lang="en-US" sz="4000" dirty="0"/>
            </a:p>
          </p:txBody>
        </p:sp>
        <p:sp>
          <p:nvSpPr>
            <p:cNvPr id="12" name="Heading 3"/>
            <p:cNvSpPr/>
            <p:nvPr/>
          </p:nvSpPr>
          <p:spPr>
            <a:xfrm>
              <a:off x="4283354" y="1965960"/>
              <a:ext cx="175762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Social</a:t>
              </a:r>
              <a:endParaRPr lang="en-US" sz="1200" dirty="0"/>
            </a:p>
          </p:txBody>
        </p:sp>
        <p:sp>
          <p:nvSpPr>
            <p:cNvPr id="13" name="card#3 &gt; Factor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3354" y="2377440"/>
              <a:ext cx="1757629" cy="28803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4" name="Factor 3"/>
            <p:cNvSpPr/>
            <p:nvPr/>
          </p:nvSpPr>
          <p:spPr>
            <a:xfrm>
              <a:off x="4393082" y="2514600"/>
              <a:ext cx="1538173" cy="2606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</p:txBody>
        </p:sp>
        <p:sp>
          <p:nvSpPr>
            <p:cNvPr id="15" name="Letter 4"/>
            <p:cNvSpPr/>
            <p:nvPr/>
          </p:nvSpPr>
          <p:spPr>
            <a:xfrm>
              <a:off x="6150712" y="1097280"/>
              <a:ext cx="1757629" cy="82296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T</a:t>
              </a:r>
              <a:endParaRPr lang="en-US" sz="4000" dirty="0"/>
            </a:p>
          </p:txBody>
        </p:sp>
        <p:sp>
          <p:nvSpPr>
            <p:cNvPr id="16" name="Heading 4"/>
            <p:cNvSpPr/>
            <p:nvPr/>
          </p:nvSpPr>
          <p:spPr>
            <a:xfrm>
              <a:off x="6150712" y="1965960"/>
              <a:ext cx="175762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Technological</a:t>
              </a:r>
              <a:endParaRPr lang="en-US" sz="1200" dirty="0"/>
            </a:p>
          </p:txBody>
        </p:sp>
        <p:sp>
          <p:nvSpPr>
            <p:cNvPr id="17" name="card#4 &gt; Factor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50712" y="2377440"/>
              <a:ext cx="1757629" cy="28803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8" name="Factor 4"/>
            <p:cNvSpPr/>
            <p:nvPr/>
          </p:nvSpPr>
          <p:spPr>
            <a:xfrm>
              <a:off x="6260440" y="2514600"/>
              <a:ext cx="1538173" cy="2606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</p:txBody>
        </p:sp>
        <p:sp>
          <p:nvSpPr>
            <p:cNvPr id="19" name="Letter 5"/>
            <p:cNvSpPr/>
            <p:nvPr/>
          </p:nvSpPr>
          <p:spPr>
            <a:xfrm>
              <a:off x="8018069" y="1097280"/>
              <a:ext cx="1757629" cy="82296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E</a:t>
              </a:r>
              <a:endParaRPr lang="en-US" sz="4000" dirty="0"/>
            </a:p>
          </p:txBody>
        </p:sp>
        <p:sp>
          <p:nvSpPr>
            <p:cNvPr id="20" name="Heading 5"/>
            <p:cNvSpPr/>
            <p:nvPr/>
          </p:nvSpPr>
          <p:spPr>
            <a:xfrm>
              <a:off x="8018069" y="1965960"/>
              <a:ext cx="175762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Environmental</a:t>
              </a:r>
              <a:endParaRPr lang="en-US" sz="1200" dirty="0"/>
            </a:p>
          </p:txBody>
        </p:sp>
        <p:sp>
          <p:nvSpPr>
            <p:cNvPr id="21" name="card#5 &gt; Factor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18069" y="2377440"/>
              <a:ext cx="1757629" cy="28803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22" name="Factor 5"/>
            <p:cNvSpPr/>
            <p:nvPr/>
          </p:nvSpPr>
          <p:spPr>
            <a:xfrm>
              <a:off x="8127797" y="2514600"/>
              <a:ext cx="1538173" cy="2606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</p:txBody>
        </p:sp>
        <p:sp>
          <p:nvSpPr>
            <p:cNvPr id="23" name="Letter 6"/>
            <p:cNvSpPr/>
            <p:nvPr/>
          </p:nvSpPr>
          <p:spPr>
            <a:xfrm>
              <a:off x="9885426" y="1097280"/>
              <a:ext cx="1757629" cy="82296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L</a:t>
              </a:r>
              <a:endParaRPr lang="en-US" sz="4000" dirty="0"/>
            </a:p>
          </p:txBody>
        </p:sp>
        <p:sp>
          <p:nvSpPr>
            <p:cNvPr id="24" name="Heading 6"/>
            <p:cNvSpPr/>
            <p:nvPr/>
          </p:nvSpPr>
          <p:spPr>
            <a:xfrm>
              <a:off x="9885426" y="1965960"/>
              <a:ext cx="175762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Legal</a:t>
              </a:r>
              <a:endParaRPr lang="en-US" sz="1200" dirty="0"/>
            </a:p>
          </p:txBody>
        </p:sp>
        <p:sp>
          <p:nvSpPr>
            <p:cNvPr id="25" name="card#6 &gt; Factor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85426" y="2377440"/>
              <a:ext cx="1757629" cy="28803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26" name="Factor 6"/>
            <p:cNvSpPr/>
            <p:nvPr/>
          </p:nvSpPr>
          <p:spPr>
            <a:xfrm>
              <a:off x="9995154" y="2514600"/>
              <a:ext cx="1538173" cy="2606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  <a:p>
              <a:pPr algn="l" marL="139700" indent="-1397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Factor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V-FRM-04  ·  RACI matrix</a:t>
            </a:r>
            <a:endParaRPr lang="en-US" sz="1000" dirty="0"/>
          </a:p>
        </p:txBody>
      </p:sp>
      <p:grpSp>
        <p:nvGrpSpPr>
          <p:cNvPr id="46" name="V-FRM-04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Role 1"/>
            <p:cNvSpPr/>
            <p:nvPr/>
          </p:nvSpPr>
          <p:spPr>
            <a:xfrm>
              <a:off x="4023360" y="1097280"/>
              <a:ext cx="152393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 1</a:t>
              </a:r>
              <a:endParaRPr lang="en-US" sz="1200" dirty="0"/>
            </a:p>
          </p:txBody>
        </p:sp>
        <p:sp>
          <p:nvSpPr>
            <p:cNvPr id="4" name="Role 2"/>
            <p:cNvSpPr/>
            <p:nvPr/>
          </p:nvSpPr>
          <p:spPr>
            <a:xfrm>
              <a:off x="5547299" y="1097280"/>
              <a:ext cx="152393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 2</a:t>
              </a:r>
              <a:endParaRPr lang="en-US" sz="1200" dirty="0"/>
            </a:p>
          </p:txBody>
        </p:sp>
        <p:sp>
          <p:nvSpPr>
            <p:cNvPr id="5" name="Role 3"/>
            <p:cNvSpPr/>
            <p:nvPr/>
          </p:nvSpPr>
          <p:spPr>
            <a:xfrm>
              <a:off x="7071238" y="1097280"/>
              <a:ext cx="152393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 3</a:t>
              </a:r>
              <a:endParaRPr lang="en-US" sz="1200" dirty="0"/>
            </a:p>
          </p:txBody>
        </p:sp>
        <p:sp>
          <p:nvSpPr>
            <p:cNvPr id="6" name="Role 4"/>
            <p:cNvSpPr/>
            <p:nvPr/>
          </p:nvSpPr>
          <p:spPr>
            <a:xfrm>
              <a:off x="8595177" y="1097280"/>
              <a:ext cx="152393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 4</a:t>
              </a:r>
              <a:endParaRPr lang="en-US" sz="1200" dirty="0"/>
            </a:p>
          </p:txBody>
        </p:sp>
        <p:sp>
          <p:nvSpPr>
            <p:cNvPr id="7" name="Role 5"/>
            <p:cNvSpPr/>
            <p:nvPr/>
          </p:nvSpPr>
          <p:spPr>
            <a:xfrm>
              <a:off x="10119116" y="1097280"/>
              <a:ext cx="152393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Role 5</a:t>
              </a:r>
              <a:endParaRPr lang="en-US" sz="1200" dirty="0"/>
            </a:p>
          </p:txBody>
        </p:sp>
        <p:sp>
          <p:nvSpPr>
            <p:cNvPr id="8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600200"/>
              <a:ext cx="11094415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</p:sp>
        <p:sp>
          <p:nvSpPr>
            <p:cNvPr id="9" name="Activity 1"/>
            <p:cNvSpPr/>
            <p:nvPr/>
          </p:nvSpPr>
          <p:spPr>
            <a:xfrm>
              <a:off x="548640" y="1645920"/>
              <a:ext cx="3291840" cy="563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Activity 1</a:t>
              </a:r>
              <a:endParaRPr lang="en-US" sz="1200" dirty="0"/>
            </a:p>
          </p:txBody>
        </p:sp>
        <p:sp>
          <p:nvSpPr>
            <p:cNvPr id="10" name="Cell 1-1"/>
            <p:cNvSpPr/>
            <p:nvPr/>
          </p:nvSpPr>
          <p:spPr>
            <a:xfrm>
              <a:off x="4096512" y="1691640"/>
              <a:ext cx="1377635" cy="472440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sz="1200" dirty="0"/>
            </a:p>
          </p:txBody>
        </p:sp>
        <p:sp>
          <p:nvSpPr>
            <p:cNvPr id="11" name="Cell 1-2"/>
            <p:cNvSpPr/>
            <p:nvPr/>
          </p:nvSpPr>
          <p:spPr>
            <a:xfrm>
              <a:off x="5620451" y="1691640"/>
              <a:ext cx="1377635" cy="4724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en-US" sz="1200" dirty="0"/>
            </a:p>
          </p:txBody>
        </p:sp>
        <p:sp>
          <p:nvSpPr>
            <p:cNvPr id="12" name="Cell 1-3"/>
            <p:cNvSpPr/>
            <p:nvPr/>
          </p:nvSpPr>
          <p:spPr>
            <a:xfrm>
              <a:off x="7144390" y="169164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13" name="Cell 1-4"/>
            <p:cNvSpPr/>
            <p:nvPr/>
          </p:nvSpPr>
          <p:spPr>
            <a:xfrm>
              <a:off x="8668329" y="169164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endParaRPr lang="en-US" sz="1200" dirty="0"/>
            </a:p>
          </p:txBody>
        </p:sp>
        <p:sp>
          <p:nvSpPr>
            <p:cNvPr id="14" name="Cell 1-5"/>
            <p:cNvSpPr/>
            <p:nvPr/>
          </p:nvSpPr>
          <p:spPr>
            <a:xfrm>
              <a:off x="10192268" y="169164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200" dirty="0"/>
            </a:p>
          </p:txBody>
        </p:sp>
        <p:sp>
          <p:nvSpPr>
            <p:cNvPr id="15" name="Activity 2"/>
            <p:cNvSpPr/>
            <p:nvPr/>
          </p:nvSpPr>
          <p:spPr>
            <a:xfrm>
              <a:off x="548640" y="2209800"/>
              <a:ext cx="3291840" cy="563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Activity 2</a:t>
              </a:r>
              <a:endParaRPr lang="en-US" sz="1200" dirty="0"/>
            </a:p>
          </p:txBody>
        </p:sp>
        <p:sp>
          <p:nvSpPr>
            <p:cNvPr id="16" name="Cell 2-1"/>
            <p:cNvSpPr/>
            <p:nvPr/>
          </p:nvSpPr>
          <p:spPr>
            <a:xfrm>
              <a:off x="4096512" y="2255520"/>
              <a:ext cx="1377635" cy="4724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en-US" sz="1200" dirty="0"/>
            </a:p>
          </p:txBody>
        </p:sp>
        <p:sp>
          <p:nvSpPr>
            <p:cNvPr id="17" name="Cell 2-2"/>
            <p:cNvSpPr/>
            <p:nvPr/>
          </p:nvSpPr>
          <p:spPr>
            <a:xfrm>
              <a:off x="5620451" y="225552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18" name="Cell 2-3"/>
            <p:cNvSpPr/>
            <p:nvPr/>
          </p:nvSpPr>
          <p:spPr>
            <a:xfrm>
              <a:off x="7144390" y="225552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endParaRPr lang="en-US" sz="1200" dirty="0"/>
            </a:p>
          </p:txBody>
        </p:sp>
        <p:sp>
          <p:nvSpPr>
            <p:cNvPr id="19" name="Cell 2-4"/>
            <p:cNvSpPr/>
            <p:nvPr/>
          </p:nvSpPr>
          <p:spPr>
            <a:xfrm>
              <a:off x="8668329" y="225552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200" dirty="0"/>
            </a:p>
          </p:txBody>
        </p:sp>
        <p:sp>
          <p:nvSpPr>
            <p:cNvPr id="20" name="Cell 2-5"/>
            <p:cNvSpPr/>
            <p:nvPr/>
          </p:nvSpPr>
          <p:spPr>
            <a:xfrm>
              <a:off x="10192268" y="225552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21" name="Activity 3"/>
            <p:cNvSpPr/>
            <p:nvPr/>
          </p:nvSpPr>
          <p:spPr>
            <a:xfrm>
              <a:off x="548640" y="2773680"/>
              <a:ext cx="3291840" cy="563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Activity 3</a:t>
              </a:r>
              <a:endParaRPr lang="en-US" sz="1200" dirty="0"/>
            </a:p>
          </p:txBody>
        </p:sp>
        <p:sp>
          <p:nvSpPr>
            <p:cNvPr id="22" name="Cell 3-1"/>
            <p:cNvSpPr/>
            <p:nvPr/>
          </p:nvSpPr>
          <p:spPr>
            <a:xfrm>
              <a:off x="4096512" y="281940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23" name="Cell 3-2"/>
            <p:cNvSpPr/>
            <p:nvPr/>
          </p:nvSpPr>
          <p:spPr>
            <a:xfrm>
              <a:off x="5620451" y="281940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endParaRPr lang="en-US" sz="1200" dirty="0"/>
            </a:p>
          </p:txBody>
        </p:sp>
        <p:sp>
          <p:nvSpPr>
            <p:cNvPr id="24" name="Cell 3-3"/>
            <p:cNvSpPr/>
            <p:nvPr/>
          </p:nvSpPr>
          <p:spPr>
            <a:xfrm>
              <a:off x="7144390" y="281940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200" dirty="0"/>
            </a:p>
          </p:txBody>
        </p:sp>
        <p:sp>
          <p:nvSpPr>
            <p:cNvPr id="25" name="Cell 3-4"/>
            <p:cNvSpPr/>
            <p:nvPr/>
          </p:nvSpPr>
          <p:spPr>
            <a:xfrm>
              <a:off x="8668329" y="281940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26" name="Cell 3-5"/>
            <p:cNvSpPr/>
            <p:nvPr/>
          </p:nvSpPr>
          <p:spPr>
            <a:xfrm>
              <a:off x="10192268" y="2819400"/>
              <a:ext cx="1377635" cy="472440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sz="1200" dirty="0"/>
            </a:p>
          </p:txBody>
        </p:sp>
        <p:sp>
          <p:nvSpPr>
            <p:cNvPr id="27" name="Activity 4"/>
            <p:cNvSpPr/>
            <p:nvPr/>
          </p:nvSpPr>
          <p:spPr>
            <a:xfrm>
              <a:off x="548640" y="3337560"/>
              <a:ext cx="3291840" cy="563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Activity 4</a:t>
              </a:r>
              <a:endParaRPr lang="en-US" sz="1200" dirty="0"/>
            </a:p>
          </p:txBody>
        </p:sp>
        <p:sp>
          <p:nvSpPr>
            <p:cNvPr id="28" name="Cell 4-1"/>
            <p:cNvSpPr/>
            <p:nvPr/>
          </p:nvSpPr>
          <p:spPr>
            <a:xfrm>
              <a:off x="4096512" y="338328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endParaRPr lang="en-US" sz="1200" dirty="0"/>
            </a:p>
          </p:txBody>
        </p:sp>
        <p:sp>
          <p:nvSpPr>
            <p:cNvPr id="29" name="Cell 4-2"/>
            <p:cNvSpPr/>
            <p:nvPr/>
          </p:nvSpPr>
          <p:spPr>
            <a:xfrm>
              <a:off x="5620451" y="338328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200" dirty="0"/>
            </a:p>
          </p:txBody>
        </p:sp>
        <p:sp>
          <p:nvSpPr>
            <p:cNvPr id="30" name="Cell 4-3"/>
            <p:cNvSpPr/>
            <p:nvPr/>
          </p:nvSpPr>
          <p:spPr>
            <a:xfrm>
              <a:off x="7144390" y="338328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31" name="Cell 4-4"/>
            <p:cNvSpPr/>
            <p:nvPr/>
          </p:nvSpPr>
          <p:spPr>
            <a:xfrm>
              <a:off x="8668329" y="3383280"/>
              <a:ext cx="1377635" cy="472440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sz="1200" dirty="0"/>
            </a:p>
          </p:txBody>
        </p:sp>
        <p:sp>
          <p:nvSpPr>
            <p:cNvPr id="32" name="Cell 4-5"/>
            <p:cNvSpPr/>
            <p:nvPr/>
          </p:nvSpPr>
          <p:spPr>
            <a:xfrm>
              <a:off x="10192268" y="3383280"/>
              <a:ext cx="1377635" cy="4724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en-US" sz="1200" dirty="0"/>
            </a:p>
          </p:txBody>
        </p:sp>
        <p:sp>
          <p:nvSpPr>
            <p:cNvPr id="33" name="Activity 5"/>
            <p:cNvSpPr/>
            <p:nvPr/>
          </p:nvSpPr>
          <p:spPr>
            <a:xfrm>
              <a:off x="548640" y="3901440"/>
              <a:ext cx="3291840" cy="563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Activity 5</a:t>
              </a:r>
              <a:endParaRPr lang="en-US" sz="1200" dirty="0"/>
            </a:p>
          </p:txBody>
        </p:sp>
        <p:sp>
          <p:nvSpPr>
            <p:cNvPr id="34" name="Cell 5-1"/>
            <p:cNvSpPr/>
            <p:nvPr/>
          </p:nvSpPr>
          <p:spPr>
            <a:xfrm>
              <a:off x="4096512" y="394716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sz="1200" dirty="0"/>
            </a:p>
          </p:txBody>
        </p:sp>
        <p:sp>
          <p:nvSpPr>
            <p:cNvPr id="35" name="Cell 5-2"/>
            <p:cNvSpPr/>
            <p:nvPr/>
          </p:nvSpPr>
          <p:spPr>
            <a:xfrm>
              <a:off x="5620451" y="394716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36" name="Cell 5-3"/>
            <p:cNvSpPr/>
            <p:nvPr/>
          </p:nvSpPr>
          <p:spPr>
            <a:xfrm>
              <a:off x="7144390" y="3947160"/>
              <a:ext cx="1377635" cy="472440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sz="1200" dirty="0"/>
            </a:p>
          </p:txBody>
        </p:sp>
        <p:sp>
          <p:nvSpPr>
            <p:cNvPr id="37" name="Cell 5-4"/>
            <p:cNvSpPr/>
            <p:nvPr/>
          </p:nvSpPr>
          <p:spPr>
            <a:xfrm>
              <a:off x="8668329" y="3947160"/>
              <a:ext cx="1377635" cy="4724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en-US" sz="1200" dirty="0"/>
            </a:p>
          </p:txBody>
        </p:sp>
        <p:sp>
          <p:nvSpPr>
            <p:cNvPr id="38" name="Cell 5-5"/>
            <p:cNvSpPr/>
            <p:nvPr/>
          </p:nvSpPr>
          <p:spPr>
            <a:xfrm>
              <a:off x="10192268" y="394716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39" name="Activity 6"/>
            <p:cNvSpPr/>
            <p:nvPr/>
          </p:nvSpPr>
          <p:spPr>
            <a:xfrm>
              <a:off x="548640" y="4465320"/>
              <a:ext cx="3291840" cy="563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Activity 6</a:t>
              </a:r>
              <a:endParaRPr lang="en-US" sz="1200" dirty="0"/>
            </a:p>
          </p:txBody>
        </p:sp>
        <p:sp>
          <p:nvSpPr>
            <p:cNvPr id="40" name="Cell 6-1"/>
            <p:cNvSpPr/>
            <p:nvPr/>
          </p:nvSpPr>
          <p:spPr>
            <a:xfrm>
              <a:off x="4096512" y="451104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41" name="Cell 6-2"/>
            <p:cNvSpPr/>
            <p:nvPr/>
          </p:nvSpPr>
          <p:spPr>
            <a:xfrm>
              <a:off x="5620451" y="4511040"/>
              <a:ext cx="1377635" cy="472440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sz="1200" dirty="0"/>
            </a:p>
          </p:txBody>
        </p:sp>
        <p:sp>
          <p:nvSpPr>
            <p:cNvPr id="42" name="Cell 6-3"/>
            <p:cNvSpPr/>
            <p:nvPr/>
          </p:nvSpPr>
          <p:spPr>
            <a:xfrm>
              <a:off x="7144390" y="4511040"/>
              <a:ext cx="1377635" cy="4724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en-US" sz="1200" dirty="0"/>
            </a:p>
          </p:txBody>
        </p:sp>
        <p:sp>
          <p:nvSpPr>
            <p:cNvPr id="43" name="Cell 6-4"/>
            <p:cNvSpPr/>
            <p:nvPr/>
          </p:nvSpPr>
          <p:spPr>
            <a:xfrm>
              <a:off x="8668329" y="451104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200" dirty="0"/>
            </a:p>
          </p:txBody>
        </p:sp>
        <p:sp>
          <p:nvSpPr>
            <p:cNvPr id="44" name="Cell 6-5"/>
            <p:cNvSpPr/>
            <p:nvPr/>
          </p:nvSpPr>
          <p:spPr>
            <a:xfrm>
              <a:off x="10192268" y="4511040"/>
              <a:ext cx="1377635" cy="47244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</a:t>
              </a:r>
              <a:endParaRPr lang="en-US" sz="1200" dirty="0"/>
            </a:p>
          </p:txBody>
        </p:sp>
        <p:sp>
          <p:nvSpPr>
            <p:cNvPr id="45" name="Note"/>
            <p:cNvSpPr/>
            <p:nvPr/>
          </p:nvSpPr>
          <p:spPr>
            <a:xfrm>
              <a:off x="548640" y="5029200"/>
              <a:ext cx="1109441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R responsible · A accountable · C consulted · I informed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V-FRM-05  ·  OKR tree</a:t>
            </a:r>
            <a:endParaRPr lang="en-US" sz="1000" dirty="0"/>
          </a:p>
        </p:txBody>
      </p:sp>
      <p:grpSp>
        <p:nvGrpSpPr>
          <p:cNvPr id="23" name="V-FRM-05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Objective label"/>
            <p:cNvSpPr/>
            <p:nvPr/>
          </p:nvSpPr>
          <p:spPr>
            <a:xfrm>
              <a:off x="548640" y="10972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Objective</a:t>
              </a:r>
              <a:endParaRPr lang="en-US" sz="1000" dirty="0"/>
            </a:p>
          </p:txBody>
        </p:sp>
        <p:sp>
          <p:nvSpPr>
            <p:cNvPr id="4" name="Objective"/>
            <p:cNvSpPr/>
            <p:nvPr/>
          </p:nvSpPr>
          <p:spPr>
            <a:xfrm>
              <a:off x="548640" y="1417320"/>
              <a:ext cx="11094415" cy="82296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182880" tIns="182880" rIns="182880" bIns="18288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Qualitative, inspiring objective</a:t>
              </a:r>
              <a:endParaRPr lang="en-US" sz="2000" dirty="0"/>
            </a:p>
          </p:txBody>
        </p:sp>
        <p:sp>
          <p:nvSpPr>
            <p:cNvPr id="5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06269" y="2240280"/>
              <a:ext cx="91" cy="3657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6" name="card#1 &gt; Key result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606040"/>
              <a:ext cx="3515258" cy="26517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7" name="Key result 1 label"/>
            <p:cNvSpPr/>
            <p:nvPr/>
          </p:nvSpPr>
          <p:spPr>
            <a:xfrm>
              <a:off x="731520" y="2788920"/>
              <a:ext cx="314949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Key result 1</a:t>
              </a:r>
              <a:endParaRPr lang="en-US" sz="1000" dirty="0"/>
            </a:p>
          </p:txBody>
        </p:sp>
        <p:sp>
          <p:nvSpPr>
            <p:cNvPr id="8" name="Key result 1"/>
            <p:cNvSpPr/>
            <p:nvPr/>
          </p:nvSpPr>
          <p:spPr>
            <a:xfrm>
              <a:off x="731520" y="3108960"/>
              <a:ext cx="314949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Measurable result</a:t>
              </a:r>
              <a:endParaRPr lang="en-US" sz="1200" dirty="0"/>
            </a:p>
          </p:txBody>
        </p:sp>
        <p:sp>
          <p:nvSpPr>
            <p:cNvPr id="9" name="Target 1"/>
            <p:cNvSpPr/>
            <p:nvPr/>
          </p:nvSpPr>
          <p:spPr>
            <a:xfrm>
              <a:off x="731520" y="3977640"/>
              <a:ext cx="314949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Target</a:t>
              </a:r>
              <a:endParaRPr lang="en-US" sz="1000" dirty="0"/>
            </a:p>
          </p:txBody>
        </p:sp>
        <p:sp>
          <p:nvSpPr>
            <p:cNvPr id="10" name="Progress 1"/>
            <p:cNvSpPr/>
            <p:nvPr/>
          </p:nvSpPr>
          <p:spPr>
            <a:xfrm>
              <a:off x="731520" y="4343400"/>
              <a:ext cx="314949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3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00%</a:t>
              </a:r>
              <a:endParaRPr lang="en-US" sz="3000" dirty="0"/>
            </a:p>
          </p:txBody>
        </p:sp>
        <p:sp>
          <p:nvSpPr>
            <p:cNvPr id="11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95848" y="2240280"/>
              <a:ext cx="91" cy="3657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12" name="card#2 &gt; Key result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38218" y="2606040"/>
              <a:ext cx="3515258" cy="26517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3" name="Key result 2 label"/>
            <p:cNvSpPr/>
            <p:nvPr/>
          </p:nvSpPr>
          <p:spPr>
            <a:xfrm>
              <a:off x="4521098" y="2788920"/>
              <a:ext cx="314949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Key result 2</a:t>
              </a:r>
              <a:endParaRPr lang="en-US" sz="1000" dirty="0"/>
            </a:p>
          </p:txBody>
        </p:sp>
        <p:sp>
          <p:nvSpPr>
            <p:cNvPr id="14" name="Key result 2"/>
            <p:cNvSpPr/>
            <p:nvPr/>
          </p:nvSpPr>
          <p:spPr>
            <a:xfrm>
              <a:off x="4521098" y="3108960"/>
              <a:ext cx="314949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Measurable result</a:t>
              </a:r>
              <a:endParaRPr lang="en-US" sz="1200" dirty="0"/>
            </a:p>
          </p:txBody>
        </p:sp>
        <p:sp>
          <p:nvSpPr>
            <p:cNvPr id="15" name="Target 2"/>
            <p:cNvSpPr/>
            <p:nvPr/>
          </p:nvSpPr>
          <p:spPr>
            <a:xfrm>
              <a:off x="4521098" y="3977640"/>
              <a:ext cx="314949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Target</a:t>
              </a:r>
              <a:endParaRPr lang="en-US" sz="1000" dirty="0"/>
            </a:p>
          </p:txBody>
        </p:sp>
        <p:sp>
          <p:nvSpPr>
            <p:cNvPr id="16" name="Progress 2"/>
            <p:cNvSpPr/>
            <p:nvPr/>
          </p:nvSpPr>
          <p:spPr>
            <a:xfrm>
              <a:off x="4521098" y="4343400"/>
              <a:ext cx="314949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3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00%</a:t>
              </a:r>
              <a:endParaRPr lang="en-US" sz="3000" dirty="0"/>
            </a:p>
          </p:txBody>
        </p:sp>
        <p:sp>
          <p:nvSpPr>
            <p:cNvPr id="17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85426" y="2240280"/>
              <a:ext cx="91" cy="3657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18" name="card#3 &gt; Key result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27797" y="2606040"/>
              <a:ext cx="3515258" cy="26517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9" name="Key result 3 label"/>
            <p:cNvSpPr/>
            <p:nvPr/>
          </p:nvSpPr>
          <p:spPr>
            <a:xfrm>
              <a:off x="8310677" y="2788920"/>
              <a:ext cx="314949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b="1" spc="100" kern="0" dirty="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Key result 3</a:t>
              </a:r>
              <a:endParaRPr lang="en-US" sz="1000" dirty="0"/>
            </a:p>
          </p:txBody>
        </p:sp>
        <p:sp>
          <p:nvSpPr>
            <p:cNvPr id="20" name="Key result 3"/>
            <p:cNvSpPr/>
            <p:nvPr/>
          </p:nvSpPr>
          <p:spPr>
            <a:xfrm>
              <a:off x="8310677" y="3108960"/>
              <a:ext cx="314949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Measurable result</a:t>
              </a:r>
              <a:endParaRPr lang="en-US" sz="1200" dirty="0"/>
            </a:p>
          </p:txBody>
        </p:sp>
        <p:sp>
          <p:nvSpPr>
            <p:cNvPr id="21" name="Target 3"/>
            <p:cNvSpPr/>
            <p:nvPr/>
          </p:nvSpPr>
          <p:spPr>
            <a:xfrm>
              <a:off x="8310677" y="3977640"/>
              <a:ext cx="314949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Target</a:t>
              </a:r>
              <a:endParaRPr lang="en-US" sz="1000" dirty="0"/>
            </a:p>
          </p:txBody>
        </p:sp>
        <p:sp>
          <p:nvSpPr>
            <p:cNvPr id="22" name="Progress 3"/>
            <p:cNvSpPr/>
            <p:nvPr/>
          </p:nvSpPr>
          <p:spPr>
            <a:xfrm>
              <a:off x="8310677" y="4343400"/>
              <a:ext cx="314949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3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00%</a:t>
              </a:r>
              <a:endParaRPr lang="en-US" sz="3000" dirty="0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V-FRM-06  ·  Value chain</a:t>
            </a:r>
            <a:endParaRPr lang="en-US" sz="1000" dirty="0"/>
          </a:p>
        </p:txBody>
      </p:sp>
      <p:grpSp>
        <p:nvGrpSpPr>
          <p:cNvPr id="13" name="V-FRM-06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Support 1"/>
            <p:cNvSpPr/>
            <p:nvPr/>
          </p:nvSpPr>
          <p:spPr>
            <a:xfrm>
              <a:off x="548640" y="1097280"/>
              <a:ext cx="9905695" cy="474345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Firm infrastructure</a:t>
              </a:r>
              <a:endParaRPr lang="en-US" sz="1200" dirty="0"/>
            </a:p>
          </p:txBody>
        </p:sp>
        <p:sp>
          <p:nvSpPr>
            <p:cNvPr id="4" name="Support 2"/>
            <p:cNvSpPr/>
            <p:nvPr/>
          </p:nvSpPr>
          <p:spPr>
            <a:xfrm>
              <a:off x="548640" y="1617345"/>
              <a:ext cx="9905695" cy="474345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People</a:t>
              </a:r>
              <a:endParaRPr lang="en-US" sz="1200" dirty="0"/>
            </a:p>
          </p:txBody>
        </p:sp>
        <p:sp>
          <p:nvSpPr>
            <p:cNvPr id="5" name="Support 3"/>
            <p:cNvSpPr/>
            <p:nvPr/>
          </p:nvSpPr>
          <p:spPr>
            <a:xfrm>
              <a:off x="548640" y="2137410"/>
              <a:ext cx="9905695" cy="474345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Technology</a:t>
              </a:r>
              <a:endParaRPr lang="en-US" sz="1200" dirty="0"/>
            </a:p>
          </p:txBody>
        </p:sp>
        <p:sp>
          <p:nvSpPr>
            <p:cNvPr id="6" name="Support 4"/>
            <p:cNvSpPr/>
            <p:nvPr/>
          </p:nvSpPr>
          <p:spPr>
            <a:xfrm>
              <a:off x="548640" y="2657475"/>
              <a:ext cx="9905695" cy="474345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Procurement</a:t>
              </a:r>
              <a:endParaRPr lang="en-US" sz="1200" dirty="0"/>
            </a:p>
          </p:txBody>
        </p:sp>
        <p:sp>
          <p:nvSpPr>
            <p:cNvPr id="7" name="Primary 1"/>
            <p:cNvSpPr/>
            <p:nvPr/>
          </p:nvSpPr>
          <p:spPr>
            <a:xfrm>
              <a:off x="548640" y="3223260"/>
              <a:ext cx="2145731" cy="2034540"/>
            </a:xfrm>
            <a:prstGeom prst="homePlate">
              <a:avLst/>
            </a:prstGeom>
            <a:solidFill>
              <a:schemeClr val="accent2"/>
            </a:solidFill>
            <a:ln/>
          </p:spPr>
          <p:txBody>
            <a:bodyPr wrap="square" lIns="73152" tIns="73152" rIns="73152" bIns="73152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Inbound</a:t>
              </a:r>
              <a:endParaRPr lang="en-US" sz="1200" dirty="0"/>
            </a:p>
          </p:txBody>
        </p:sp>
        <p:sp>
          <p:nvSpPr>
            <p:cNvPr id="8" name="Primary 2"/>
            <p:cNvSpPr/>
            <p:nvPr/>
          </p:nvSpPr>
          <p:spPr>
            <a:xfrm>
              <a:off x="2511491" y="3223260"/>
              <a:ext cx="2145731" cy="2034540"/>
            </a:xfrm>
            <a:prstGeom prst="chevron">
              <a:avLst/>
            </a:prstGeom>
            <a:solidFill>
              <a:schemeClr val="accent2"/>
            </a:solidFill>
            <a:ln/>
          </p:spPr>
          <p:txBody>
            <a:bodyPr wrap="square" lIns="73152" tIns="73152" rIns="73152" bIns="73152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Operations</a:t>
              </a:r>
              <a:endParaRPr lang="en-US" sz="1200" dirty="0"/>
            </a:p>
          </p:txBody>
        </p:sp>
        <p:sp>
          <p:nvSpPr>
            <p:cNvPr id="9" name="Primary 3"/>
            <p:cNvSpPr/>
            <p:nvPr/>
          </p:nvSpPr>
          <p:spPr>
            <a:xfrm>
              <a:off x="4474342" y="3223260"/>
              <a:ext cx="2145731" cy="2034540"/>
            </a:xfrm>
            <a:prstGeom prst="chevron">
              <a:avLst/>
            </a:prstGeom>
            <a:solidFill>
              <a:schemeClr val="accent2"/>
            </a:solidFill>
            <a:ln/>
          </p:spPr>
          <p:txBody>
            <a:bodyPr wrap="square" lIns="73152" tIns="73152" rIns="73152" bIns="73152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Outbound</a:t>
              </a:r>
              <a:endParaRPr lang="en-US" sz="1200" dirty="0"/>
            </a:p>
          </p:txBody>
        </p:sp>
        <p:sp>
          <p:nvSpPr>
            <p:cNvPr id="10" name="Primary 4"/>
            <p:cNvSpPr/>
            <p:nvPr/>
          </p:nvSpPr>
          <p:spPr>
            <a:xfrm>
              <a:off x="6437193" y="3223260"/>
              <a:ext cx="2145731" cy="2034540"/>
            </a:xfrm>
            <a:prstGeom prst="chevron">
              <a:avLst/>
            </a:prstGeom>
            <a:solidFill>
              <a:schemeClr val="accent2"/>
            </a:solidFill>
            <a:ln/>
          </p:spPr>
          <p:txBody>
            <a:bodyPr wrap="square" lIns="73152" tIns="73152" rIns="73152" bIns="73152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Marketing and sales</a:t>
              </a:r>
              <a:endParaRPr lang="en-US" sz="1200" dirty="0"/>
            </a:p>
          </p:txBody>
        </p:sp>
        <p:sp>
          <p:nvSpPr>
            <p:cNvPr id="11" name="Primary 5"/>
            <p:cNvSpPr/>
            <p:nvPr/>
          </p:nvSpPr>
          <p:spPr>
            <a:xfrm>
              <a:off x="8400044" y="3223260"/>
              <a:ext cx="2145731" cy="2034540"/>
            </a:xfrm>
            <a:prstGeom prst="chevron">
              <a:avLst/>
            </a:prstGeom>
            <a:solidFill>
              <a:schemeClr val="accent2"/>
            </a:solidFill>
            <a:ln/>
          </p:spPr>
          <p:txBody>
            <a:bodyPr wrap="square" lIns="73152" tIns="73152" rIns="73152" bIns="73152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Service</a:t>
              </a:r>
              <a:endParaRPr lang="en-US" sz="1200" dirty="0"/>
            </a:p>
          </p:txBody>
        </p:sp>
        <p:sp>
          <p:nvSpPr>
            <p:cNvPr id="12" name="Margin"/>
            <p:cNvSpPr/>
            <p:nvPr/>
          </p:nvSpPr>
          <p:spPr>
            <a:xfrm>
              <a:off x="10545775" y="1097280"/>
              <a:ext cx="1097280" cy="4160520"/>
            </a:xfrm>
            <a:prstGeom prst="homePlat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Margin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V-SIG-01  ·  Meshing gears</a:t>
            </a:r>
            <a:endParaRPr lang="en-US" sz="1000" dirty="0"/>
          </a:p>
        </p:txBody>
      </p:sp>
      <p:grpSp>
        <p:nvGrpSpPr>
          <p:cNvPr id="15" name="V-SIG-01"/>
          <p:cNvGrpSpPr/>
          <p:nvPr/>
        </p:nvGrpSpPr>
        <p:grpSpPr>
          <a:xfrm>
            <a:off x="694892" y="1600200"/>
            <a:ext cx="7077508" cy="3154680"/>
            <a:chOff x="694892" y="1600200"/>
            <a:chExt cx="7077508" cy="315468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4892" y="2066492"/>
              <a:ext cx="2542135" cy="2542135"/>
            </a:xfrm>
            <a:custGeom>
              <a:avLst/>
              <a:gdLst/>
              <a:ahLst/>
              <a:cxnLst/>
              <a:rect l="l" t="t" r="r" b="b"/>
              <a:pathLst>
                <a:path w="2542135" h="2542135">
                  <a:moveTo>
                    <a:pt x="2318736" y="1179942"/>
                  </a:moveTo>
                  <a:lnTo>
                    <a:pt x="2540843" y="1214049"/>
                  </a:lnTo>
                  <a:lnTo>
                    <a:pt x="2540843" y="1328075"/>
                  </a:lnTo>
                  <a:lnTo>
                    <a:pt x="2318736" y="1362182"/>
                  </a:lnTo>
                  <a:lnTo>
                    <a:pt x="2299076" y="1492758"/>
                  </a:lnTo>
                  <a:lnTo>
                    <a:pt x="2501250" y="1590873"/>
                  </a:lnTo>
                  <a:lnTo>
                    <a:pt x="2467600" y="1699870"/>
                  </a:lnTo>
                  <a:lnTo>
                    <a:pt x="2245309" y="1666951"/>
                  </a:lnTo>
                  <a:lnTo>
                    <a:pt x="2187976" y="1785915"/>
                  </a:lnTo>
                  <a:lnTo>
                    <a:pt x="2352294" y="1939260"/>
                  </a:lnTo>
                  <a:lnTo>
                    <a:pt x="2288103" y="2033443"/>
                  </a:lnTo>
                  <a:lnTo>
                    <a:pt x="2085381" y="1936516"/>
                  </a:lnTo>
                  <a:lnTo>
                    <a:pt x="1995495" y="2033351"/>
                  </a:lnTo>
                  <a:lnTo>
                    <a:pt x="2107326" y="2228301"/>
                  </a:lnTo>
                  <a:lnTo>
                    <a:pt x="2018172" y="2299350"/>
                  </a:lnTo>
                  <a:lnTo>
                    <a:pt x="1853032" y="2147011"/>
                  </a:lnTo>
                  <a:lnTo>
                    <a:pt x="1738640" y="2213031"/>
                  </a:lnTo>
                  <a:lnTo>
                    <a:pt x="1788018" y="2432213"/>
                  </a:lnTo>
                  <a:lnTo>
                    <a:pt x="1681856" y="2473909"/>
                  </a:lnTo>
                  <a:lnTo>
                    <a:pt x="1569019" y="2279599"/>
                  </a:lnTo>
                  <a:lnTo>
                    <a:pt x="1440271" y="2308951"/>
                  </a:lnTo>
                  <a:lnTo>
                    <a:pt x="1422806" y="2533071"/>
                  </a:lnTo>
                  <a:lnTo>
                    <a:pt x="1309055" y="2541575"/>
                  </a:lnTo>
                  <a:lnTo>
                    <a:pt x="1258489" y="2322576"/>
                  </a:lnTo>
                  <a:lnTo>
                    <a:pt x="1126815" y="2312700"/>
                  </a:lnTo>
                  <a:lnTo>
                    <a:pt x="1044153" y="2521732"/>
                  </a:lnTo>
                  <a:lnTo>
                    <a:pt x="932962" y="2496312"/>
                  </a:lnTo>
                  <a:lnTo>
                    <a:pt x="949056" y="2272193"/>
                  </a:lnTo>
                  <a:lnTo>
                    <a:pt x="826160" y="2223912"/>
                  </a:lnTo>
                  <a:lnTo>
                    <a:pt x="685526" y="2399294"/>
                  </a:lnTo>
                  <a:lnTo>
                    <a:pt x="586770" y="2342236"/>
                  </a:lnTo>
                  <a:lnTo>
                    <a:pt x="668335" y="2132838"/>
                  </a:lnTo>
                  <a:lnTo>
                    <a:pt x="565099" y="2050451"/>
                  </a:lnTo>
                  <a:lnTo>
                    <a:pt x="379019" y="2176546"/>
                  </a:lnTo>
                  <a:lnTo>
                    <a:pt x="301478" y="2092970"/>
                  </a:lnTo>
                  <a:lnTo>
                    <a:pt x="441107" y="1916857"/>
                  </a:lnTo>
                  <a:lnTo>
                    <a:pt x="366674" y="1807769"/>
                  </a:lnTo>
                  <a:lnTo>
                    <a:pt x="151790" y="1873423"/>
                  </a:lnTo>
                  <a:lnTo>
                    <a:pt x="102321" y="1770644"/>
                  </a:lnTo>
                  <a:lnTo>
                    <a:pt x="287579" y="1643543"/>
                  </a:lnTo>
                  <a:lnTo>
                    <a:pt x="248717" y="1517355"/>
                  </a:lnTo>
                  <a:lnTo>
                    <a:pt x="23957" y="1516715"/>
                  </a:lnTo>
                  <a:lnTo>
                    <a:pt x="6949" y="1403970"/>
                  </a:lnTo>
                  <a:lnTo>
                    <a:pt x="221559" y="1337127"/>
                  </a:lnTo>
                  <a:lnTo>
                    <a:pt x="221559" y="1204996"/>
                  </a:lnTo>
                  <a:lnTo>
                    <a:pt x="6949" y="1138245"/>
                  </a:lnTo>
                  <a:lnTo>
                    <a:pt x="23957" y="1025408"/>
                  </a:lnTo>
                  <a:lnTo>
                    <a:pt x="248717" y="1024768"/>
                  </a:lnTo>
                  <a:lnTo>
                    <a:pt x="287579" y="898581"/>
                  </a:lnTo>
                  <a:lnTo>
                    <a:pt x="102321" y="771479"/>
                  </a:lnTo>
                  <a:lnTo>
                    <a:pt x="151790" y="668792"/>
                  </a:lnTo>
                  <a:lnTo>
                    <a:pt x="366674" y="734355"/>
                  </a:lnTo>
                  <a:lnTo>
                    <a:pt x="441107" y="625267"/>
                  </a:lnTo>
                  <a:lnTo>
                    <a:pt x="301478" y="449153"/>
                  </a:lnTo>
                  <a:lnTo>
                    <a:pt x="379019" y="365577"/>
                  </a:lnTo>
                  <a:lnTo>
                    <a:pt x="565099" y="491673"/>
                  </a:lnTo>
                  <a:lnTo>
                    <a:pt x="668335" y="409377"/>
                  </a:lnTo>
                  <a:lnTo>
                    <a:pt x="586770" y="199888"/>
                  </a:lnTo>
                  <a:lnTo>
                    <a:pt x="685526" y="142921"/>
                  </a:lnTo>
                  <a:lnTo>
                    <a:pt x="826160" y="318211"/>
                  </a:lnTo>
                  <a:lnTo>
                    <a:pt x="949056" y="269931"/>
                  </a:lnTo>
                  <a:lnTo>
                    <a:pt x="932962" y="45811"/>
                  </a:lnTo>
                  <a:lnTo>
                    <a:pt x="1044153" y="20391"/>
                  </a:lnTo>
                  <a:lnTo>
                    <a:pt x="1126815" y="229423"/>
                  </a:lnTo>
                  <a:lnTo>
                    <a:pt x="1258489" y="219547"/>
                  </a:lnTo>
                  <a:lnTo>
                    <a:pt x="1309055" y="549"/>
                  </a:lnTo>
                  <a:lnTo>
                    <a:pt x="1422806" y="9053"/>
                  </a:lnTo>
                  <a:lnTo>
                    <a:pt x="1440271" y="233172"/>
                  </a:lnTo>
                  <a:lnTo>
                    <a:pt x="1569019" y="262524"/>
                  </a:lnTo>
                  <a:lnTo>
                    <a:pt x="1681856" y="68214"/>
                  </a:lnTo>
                  <a:lnTo>
                    <a:pt x="1788018" y="109911"/>
                  </a:lnTo>
                  <a:lnTo>
                    <a:pt x="1738640" y="329093"/>
                  </a:lnTo>
                  <a:lnTo>
                    <a:pt x="1853032" y="395204"/>
                  </a:lnTo>
                  <a:lnTo>
                    <a:pt x="2018172" y="242773"/>
                  </a:lnTo>
                  <a:lnTo>
                    <a:pt x="2107326" y="313822"/>
                  </a:lnTo>
                  <a:lnTo>
                    <a:pt x="1995495" y="508772"/>
                  </a:lnTo>
                  <a:lnTo>
                    <a:pt x="2085381" y="605607"/>
                  </a:lnTo>
                  <a:lnTo>
                    <a:pt x="2288103" y="508681"/>
                  </a:lnTo>
                  <a:lnTo>
                    <a:pt x="2352294" y="602864"/>
                  </a:lnTo>
                  <a:lnTo>
                    <a:pt x="2187976" y="756209"/>
                  </a:lnTo>
                  <a:lnTo>
                    <a:pt x="2245309" y="875172"/>
                  </a:lnTo>
                  <a:lnTo>
                    <a:pt x="2467600" y="842254"/>
                  </a:lnTo>
                  <a:lnTo>
                    <a:pt x="2501250" y="951250"/>
                  </a:lnTo>
                  <a:lnTo>
                    <a:pt x="2299076" y="1049365"/>
                  </a:ln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4" name="Gear 1"/>
            <p:cNvSpPr/>
            <p:nvPr/>
          </p:nvSpPr>
          <p:spPr>
            <a:xfrm>
              <a:off x="1315610" y="2687210"/>
              <a:ext cx="1300700" cy="1300700"/>
            </a:xfrm>
            <a:prstGeom prst="ellipse">
              <a:avLst/>
            </a:prstGeom>
            <a:solidFill>
              <a:schemeClr val="bg1"/>
            </a:solidFill>
            <a:ln/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Label</a:t>
              </a:r>
              <a:endParaRPr lang="en-US" sz="1200" dirty="0"/>
            </a:p>
          </p:txBody>
        </p:sp>
        <p:sp>
          <p:nvSpPr>
            <p:cNvPr id="5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40368" y="1633668"/>
              <a:ext cx="1767909" cy="1767909"/>
            </a:xfrm>
            <a:custGeom>
              <a:avLst/>
              <a:gdLst/>
              <a:ahLst/>
              <a:cxnLst/>
              <a:rect l="l" t="t" r="r" b="b"/>
              <a:pathLst>
                <a:path w="1767909" h="1767909">
                  <a:moveTo>
                    <a:pt x="316657" y="1230051"/>
                  </a:moveTo>
                  <a:lnTo>
                    <a:pt x="101956" y="1295979"/>
                  </a:lnTo>
                  <a:lnTo>
                    <a:pt x="53675" y="1187348"/>
                  </a:lnTo>
                  <a:lnTo>
                    <a:pt x="246705" y="1072408"/>
                  </a:lnTo>
                  <a:lnTo>
                    <a:pt x="222748" y="949604"/>
                  </a:lnTo>
                  <a:lnTo>
                    <a:pt x="549" y="915863"/>
                  </a:lnTo>
                  <a:lnTo>
                    <a:pt x="4298" y="797082"/>
                  </a:lnTo>
                  <a:lnTo>
                    <a:pt x="228051" y="777240"/>
                  </a:lnTo>
                  <a:lnTo>
                    <a:pt x="259690" y="656173"/>
                  </a:lnTo>
                  <a:lnTo>
                    <a:pt x="74158" y="529438"/>
                  </a:lnTo>
                  <a:lnTo>
                    <a:pt x="129113" y="424007"/>
                  </a:lnTo>
                  <a:lnTo>
                    <a:pt x="339334" y="503194"/>
                  </a:lnTo>
                  <a:lnTo>
                    <a:pt x="420350" y="407914"/>
                  </a:lnTo>
                  <a:lnTo>
                    <a:pt x="308153" y="213238"/>
                  </a:lnTo>
                  <a:lnTo>
                    <a:pt x="403433" y="142006"/>
                  </a:lnTo>
                  <a:lnTo>
                    <a:pt x="558516" y="304587"/>
                  </a:lnTo>
                  <a:lnTo>
                    <a:pt x="672816" y="253929"/>
                  </a:lnTo>
                  <a:lnTo>
                    <a:pt x="656265" y="29809"/>
                  </a:lnTo>
                  <a:lnTo>
                    <a:pt x="772942" y="7041"/>
                  </a:lnTo>
                  <a:lnTo>
                    <a:pt x="842071" y="220736"/>
                  </a:lnTo>
                  <a:lnTo>
                    <a:pt x="967069" y="224668"/>
                  </a:lnTo>
                  <a:lnTo>
                    <a:pt x="1049365" y="15636"/>
                  </a:lnTo>
                  <a:lnTo>
                    <a:pt x="1164397" y="45720"/>
                  </a:lnTo>
                  <a:lnTo>
                    <a:pt x="1133947" y="268285"/>
                  </a:lnTo>
                  <a:lnTo>
                    <a:pt x="1244864" y="325984"/>
                  </a:lnTo>
                  <a:lnTo>
                    <a:pt x="1409730" y="173370"/>
                  </a:lnTo>
                  <a:lnTo>
                    <a:pt x="1500348" y="250363"/>
                  </a:lnTo>
                  <a:lnTo>
                    <a:pt x="1376355" y="437723"/>
                  </a:lnTo>
                  <a:lnTo>
                    <a:pt x="1451244" y="537850"/>
                  </a:lnTo>
                  <a:lnTo>
                    <a:pt x="1665945" y="471922"/>
                  </a:lnTo>
                  <a:lnTo>
                    <a:pt x="1714226" y="580553"/>
                  </a:lnTo>
                  <a:lnTo>
                    <a:pt x="1521196" y="695584"/>
                  </a:lnTo>
                  <a:lnTo>
                    <a:pt x="1545245" y="818297"/>
                  </a:lnTo>
                  <a:lnTo>
                    <a:pt x="1767352" y="852038"/>
                  </a:lnTo>
                  <a:lnTo>
                    <a:pt x="1763603" y="970910"/>
                  </a:lnTo>
                  <a:lnTo>
                    <a:pt x="1539850" y="990661"/>
                  </a:lnTo>
                  <a:lnTo>
                    <a:pt x="1508211" y="1111728"/>
                  </a:lnTo>
                  <a:lnTo>
                    <a:pt x="1693743" y="1238463"/>
                  </a:lnTo>
                  <a:lnTo>
                    <a:pt x="1638788" y="1343894"/>
                  </a:lnTo>
                  <a:lnTo>
                    <a:pt x="1428567" y="1264707"/>
                  </a:lnTo>
                  <a:lnTo>
                    <a:pt x="1347551" y="1359987"/>
                  </a:lnTo>
                  <a:lnTo>
                    <a:pt x="1459748" y="1554663"/>
                  </a:lnTo>
                  <a:lnTo>
                    <a:pt x="1364468" y="1625895"/>
                  </a:lnTo>
                  <a:lnTo>
                    <a:pt x="1209477" y="1463314"/>
                  </a:lnTo>
                  <a:lnTo>
                    <a:pt x="1095085" y="1513972"/>
                  </a:lnTo>
                  <a:lnTo>
                    <a:pt x="1111636" y="1738092"/>
                  </a:lnTo>
                  <a:lnTo>
                    <a:pt x="994959" y="1760952"/>
                  </a:lnTo>
                  <a:lnTo>
                    <a:pt x="925830" y="1547165"/>
                  </a:lnTo>
                  <a:lnTo>
                    <a:pt x="800832" y="1543233"/>
                  </a:lnTo>
                  <a:lnTo>
                    <a:pt x="718536" y="1752265"/>
                  </a:lnTo>
                  <a:lnTo>
                    <a:pt x="603504" y="1722272"/>
                  </a:lnTo>
                  <a:lnTo>
                    <a:pt x="633954" y="1499616"/>
                  </a:lnTo>
                  <a:lnTo>
                    <a:pt x="523037" y="1441917"/>
                  </a:lnTo>
                  <a:lnTo>
                    <a:pt x="358170" y="1594531"/>
                  </a:lnTo>
                  <a:lnTo>
                    <a:pt x="267553" y="1517538"/>
                  </a:lnTo>
                  <a:lnTo>
                    <a:pt x="391546" y="1330178"/>
                  </a:lnTo>
                  <a:close/>
                </a:path>
              </a:pathLst>
            </a:custGeom>
            <a:solidFill>
              <a:schemeClr val="accent3"/>
            </a:solidFill>
            <a:ln/>
          </p:spPr>
        </p:sp>
        <p:sp>
          <p:nvSpPr>
            <p:cNvPr id="6" name="Gear 2"/>
            <p:cNvSpPr/>
            <p:nvPr/>
          </p:nvSpPr>
          <p:spPr>
            <a:xfrm>
              <a:off x="3290755" y="2084055"/>
              <a:ext cx="867134" cy="867134"/>
            </a:xfrm>
            <a:prstGeom prst="ellipse">
              <a:avLst/>
            </a:prstGeom>
            <a:solidFill>
              <a:schemeClr val="bg1"/>
            </a:solidFill>
            <a:ln/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Label</a:t>
              </a:r>
              <a:endParaRPr lang="en-US" sz="1200" dirty="0"/>
            </a:p>
          </p:txBody>
        </p:sp>
        <p:sp>
          <p:nvSpPr>
            <p:cNvPr id="7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86826" y="3030800"/>
              <a:ext cx="1325494" cy="1325494"/>
            </a:xfrm>
            <a:custGeom>
              <a:avLst/>
              <a:gdLst/>
              <a:ahLst/>
              <a:cxnLst/>
              <a:rect l="l" t="t" r="r" b="b"/>
              <a:pathLst>
                <a:path w="1325494" h="1325494">
                  <a:moveTo>
                    <a:pt x="354056" y="344637"/>
                  </a:moveTo>
                  <a:lnTo>
                    <a:pt x="244785" y="148407"/>
                  </a:lnTo>
                  <a:lnTo>
                    <a:pt x="348569" y="79187"/>
                  </a:lnTo>
                  <a:lnTo>
                    <a:pt x="487650" y="255483"/>
                  </a:lnTo>
                  <a:lnTo>
                    <a:pt x="599938" y="223937"/>
                  </a:lnTo>
                  <a:lnTo>
                    <a:pt x="626913" y="1006"/>
                  </a:lnTo>
                  <a:lnTo>
                    <a:pt x="751545" y="5944"/>
                  </a:lnTo>
                  <a:lnTo>
                    <a:pt x="760506" y="230337"/>
                  </a:lnTo>
                  <a:lnTo>
                    <a:pt x="869869" y="270845"/>
                  </a:lnTo>
                  <a:lnTo>
                    <a:pt x="1022756" y="106253"/>
                  </a:lnTo>
                  <a:lnTo>
                    <a:pt x="1120597" y="183612"/>
                  </a:lnTo>
                  <a:lnTo>
                    <a:pt x="995964" y="370423"/>
                  </a:lnTo>
                  <a:lnTo>
                    <a:pt x="1060704" y="467441"/>
                  </a:lnTo>
                  <a:lnTo>
                    <a:pt x="1281074" y="424190"/>
                  </a:lnTo>
                  <a:lnTo>
                    <a:pt x="1314816" y="544251"/>
                  </a:lnTo>
                  <a:lnTo>
                    <a:pt x="1104138" y="622066"/>
                  </a:lnTo>
                  <a:lnTo>
                    <a:pt x="1099475" y="738652"/>
                  </a:lnTo>
                  <a:lnTo>
                    <a:pt x="1303203" y="833201"/>
                  </a:lnTo>
                  <a:lnTo>
                    <a:pt x="1259952" y="950153"/>
                  </a:lnTo>
                  <a:lnTo>
                    <a:pt x="1043788" y="889345"/>
                  </a:lnTo>
                  <a:lnTo>
                    <a:pt x="971459" y="980877"/>
                  </a:lnTo>
                  <a:lnTo>
                    <a:pt x="1080729" y="1177107"/>
                  </a:lnTo>
                  <a:lnTo>
                    <a:pt x="976945" y="1246236"/>
                  </a:lnTo>
                  <a:lnTo>
                    <a:pt x="837773" y="1070031"/>
                  </a:lnTo>
                  <a:lnTo>
                    <a:pt x="725485" y="1101578"/>
                  </a:lnTo>
                  <a:lnTo>
                    <a:pt x="698602" y="1324508"/>
                  </a:lnTo>
                  <a:lnTo>
                    <a:pt x="573969" y="1319479"/>
                  </a:lnTo>
                  <a:lnTo>
                    <a:pt x="565008" y="1095085"/>
                  </a:lnTo>
                  <a:lnTo>
                    <a:pt x="455554" y="1054669"/>
                  </a:lnTo>
                  <a:lnTo>
                    <a:pt x="302758" y="1219170"/>
                  </a:lnTo>
                  <a:lnTo>
                    <a:pt x="204826" y="1141903"/>
                  </a:lnTo>
                  <a:lnTo>
                    <a:pt x="329550" y="955091"/>
                  </a:lnTo>
                  <a:lnTo>
                    <a:pt x="264810" y="858073"/>
                  </a:lnTo>
                  <a:lnTo>
                    <a:pt x="44440" y="901324"/>
                  </a:lnTo>
                  <a:lnTo>
                    <a:pt x="10698" y="781263"/>
                  </a:lnTo>
                  <a:lnTo>
                    <a:pt x="221285" y="703356"/>
                  </a:lnTo>
                  <a:lnTo>
                    <a:pt x="226040" y="586862"/>
                  </a:lnTo>
                  <a:lnTo>
                    <a:pt x="22311" y="492313"/>
                  </a:lnTo>
                  <a:lnTo>
                    <a:pt x="65562" y="375361"/>
                  </a:lnTo>
                  <a:lnTo>
                    <a:pt x="281727" y="436169"/>
                  </a:lnTo>
                  <a:close/>
                </a:path>
              </a:pathLst>
            </a:custGeom>
            <a:solidFill>
              <a:schemeClr val="accent4"/>
            </a:solidFill>
            <a:ln/>
          </p:spPr>
        </p:sp>
        <p:sp>
          <p:nvSpPr>
            <p:cNvPr id="8" name="Gear 3"/>
            <p:cNvSpPr/>
            <p:nvPr/>
          </p:nvSpPr>
          <p:spPr>
            <a:xfrm>
              <a:off x="4039882" y="3383857"/>
              <a:ext cx="619381" cy="619381"/>
            </a:xfrm>
            <a:prstGeom prst="ellipse">
              <a:avLst/>
            </a:prstGeom>
            <a:solidFill>
              <a:schemeClr val="bg1"/>
            </a:solidFill>
            <a:ln/>
          </p:spPr>
          <p:txBody>
            <a:bodyPr wrap="square" lIns="36576" tIns="36576" rIns="36576" bIns="36576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Label</a:t>
              </a:r>
              <a:endParaRPr lang="en-US" sz="1000" dirty="0"/>
            </a:p>
          </p:txBody>
        </p:sp>
        <p:sp>
          <p:nvSpPr>
            <p:cNvPr id="9" name="Gear 1 text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0680" y="1655064"/>
              <a:ext cx="182880" cy="1828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0" name="Gear 1 text"/>
            <p:cNvSpPr/>
            <p:nvPr/>
          </p:nvSpPr>
          <p:spPr>
            <a:xfrm>
              <a:off x="5760720" y="1600200"/>
              <a:ext cx="20116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part drives</a:t>
              </a:r>
              <a:endParaRPr lang="en-US" sz="1000" dirty="0"/>
            </a:p>
          </p:txBody>
        </p:sp>
        <p:sp>
          <p:nvSpPr>
            <p:cNvPr id="11" name="Gear 2 text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0680" y="2798064"/>
              <a:ext cx="182880" cy="182880"/>
            </a:xfrm>
            <a:prstGeom prst="ellipse">
              <a:avLst/>
            </a:prstGeom>
            <a:solidFill>
              <a:schemeClr val="accent3"/>
            </a:solidFill>
            <a:ln/>
          </p:spPr>
        </p:sp>
        <p:sp>
          <p:nvSpPr>
            <p:cNvPr id="12" name="Gear 2 text"/>
            <p:cNvSpPr/>
            <p:nvPr/>
          </p:nvSpPr>
          <p:spPr>
            <a:xfrm>
              <a:off x="5760720" y="2743200"/>
              <a:ext cx="20116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part drives</a:t>
              </a:r>
              <a:endParaRPr lang="en-US" sz="1000" dirty="0"/>
            </a:p>
          </p:txBody>
        </p:sp>
        <p:sp>
          <p:nvSpPr>
            <p:cNvPr id="13" name="Gear 3 text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0680" y="3941064"/>
              <a:ext cx="182880" cy="182880"/>
            </a:xfrm>
            <a:prstGeom prst="ellipse">
              <a:avLst/>
            </a:prstGeom>
            <a:solidFill>
              <a:schemeClr val="accent4"/>
            </a:solidFill>
            <a:ln/>
          </p:spPr>
        </p:sp>
        <p:sp>
          <p:nvSpPr>
            <p:cNvPr id="14" name="Gear 3 text"/>
            <p:cNvSpPr/>
            <p:nvPr/>
          </p:nvSpPr>
          <p:spPr>
            <a:xfrm>
              <a:off x="5760720" y="3886200"/>
              <a:ext cx="20116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part drives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V-SIG-02  ·  Light bulb</a:t>
            </a:r>
            <a:endParaRPr lang="en-US" sz="1000" dirty="0"/>
          </a:p>
        </p:txBody>
      </p:sp>
      <p:grpSp>
        <p:nvGrpSpPr>
          <p:cNvPr id="17" name="V-SIG-02"/>
          <p:cNvGrpSpPr/>
          <p:nvPr/>
        </p:nvGrpSpPr>
        <p:grpSpPr>
          <a:xfrm>
            <a:off x="398798" y="1097280"/>
            <a:ext cx="7523444" cy="3885103"/>
            <a:chOff x="398798" y="1097280"/>
            <a:chExt cx="7523444" cy="3885103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36392" y="1901952"/>
              <a:ext cx="2048256" cy="2166031"/>
            </a:xfrm>
            <a:custGeom>
              <a:avLst/>
              <a:gdLst/>
              <a:ahLst/>
              <a:cxnLst/>
              <a:rect l="l" t="t" r="r" b="b"/>
              <a:pathLst>
                <a:path w="2048256" h="2166031">
                  <a:moveTo>
                    <a:pt x="335310" y="1781983"/>
                  </a:moveTo>
                  <a:arcTo hR="1024128" wR="1024128" stAng="7936116" swAng="16527768"/>
                  <a:lnTo>
                    <a:pt x="1444752" y="2166031"/>
                  </a:lnTo>
                  <a:lnTo>
                    <a:pt x="603504" y="2166031"/>
                  </a:lnTo>
                  <a:close/>
                </a:path>
              </a:pathLst>
            </a:custGeom>
            <a:solidFill>
              <a:schemeClr val="bg2"/>
            </a:solidFill>
            <a:ln w="22225">
              <a:solidFill>
                <a:schemeClr val="tx1"/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12464" y="4122847"/>
              <a:ext cx="896112" cy="173736"/>
            </a:xfrm>
            <a:prstGeom prst="roundRect">
              <a:avLst>
                <a:gd name="adj" fmla="val 42105"/>
              </a:avLst>
            </a:prstGeom>
            <a:solidFill>
              <a:schemeClr val="accent1"/>
            </a:solidFill>
            <a:ln/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58184" y="4351447"/>
              <a:ext cx="804672" cy="173736"/>
            </a:xfrm>
            <a:prstGeom prst="roundRect">
              <a:avLst>
                <a:gd name="adj" fmla="val 42105"/>
              </a:avLst>
            </a:prstGeom>
            <a:solidFill>
              <a:schemeClr val="accent1"/>
            </a:solidFill>
            <a:ln/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03904" y="4580047"/>
              <a:ext cx="713232" cy="173736"/>
            </a:xfrm>
            <a:prstGeom prst="roundRect">
              <a:avLst>
                <a:gd name="adj" fmla="val 42105"/>
              </a:avLst>
            </a:prstGeom>
            <a:solidFill>
              <a:schemeClr val="accent1"/>
            </a:solidFill>
            <a:ln/>
          </p:spPr>
        </p:sp>
        <p:sp>
          <p:nvSpPr>
            <p:cNvPr id="7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41064" y="4799503"/>
              <a:ext cx="438912" cy="182880"/>
            </a:xfrm>
            <a:custGeom>
              <a:avLst/>
              <a:gdLst/>
              <a:ahLst/>
              <a:cxnLst/>
              <a:rect l="l" t="t" r="r" b="b"/>
              <a:pathLst>
                <a:path w="438912" h="182880">
                  <a:moveTo>
                    <a:pt x="438912" y="0"/>
                  </a:moveTo>
                  <a:arcTo hR="182880" wR="219456" stAng="0" swAng="10800000"/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8" name="Idea"/>
            <p:cNvSpPr/>
            <p:nvPr/>
          </p:nvSpPr>
          <p:spPr>
            <a:xfrm>
              <a:off x="3383280" y="2423160"/>
              <a:ext cx="155448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The idea</a:t>
              </a:r>
              <a:endParaRPr lang="en-US" sz="1600" dirty="0"/>
            </a:p>
          </p:txBody>
        </p:sp>
        <p:sp>
          <p:nvSpPr>
            <p:cNvPr id="9" name="Label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11646" y="2652972"/>
              <a:ext cx="378213" cy="66689"/>
            </a:xfrm>
            <a:prstGeom prst="line">
              <a:avLst/>
            </a:prstGeom>
            <a:noFill/>
            <a:ln w="25400">
              <a:solidFill>
                <a:schemeClr val="accent3"/>
              </a:solidFill>
              <a:prstDash val="solid"/>
            </a:ln>
          </p:spPr>
        </p:sp>
        <p:sp>
          <p:nvSpPr>
            <p:cNvPr id="10" name="decoration#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37729" y="1826340"/>
              <a:ext cx="158697" cy="189127"/>
            </a:xfrm>
            <a:prstGeom prst="line">
              <a:avLst/>
            </a:prstGeom>
            <a:noFill/>
            <a:ln w="25400">
              <a:solidFill>
                <a:schemeClr val="accent3"/>
              </a:solidFill>
              <a:prstDash val="solid"/>
            </a:ln>
          </p:spPr>
        </p:sp>
        <p:sp>
          <p:nvSpPr>
            <p:cNvPr id="11" name="Label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60520" y="1353312"/>
              <a:ext cx="91" cy="384048"/>
            </a:xfrm>
            <a:prstGeom prst="line">
              <a:avLst/>
            </a:prstGeom>
            <a:noFill/>
            <a:ln w="25400">
              <a:solidFill>
                <a:schemeClr val="accent3"/>
              </a:solidFill>
              <a:prstDash val="solid"/>
            </a:ln>
          </p:spPr>
        </p:sp>
        <p:sp>
          <p:nvSpPr>
            <p:cNvPr id="12" name="decoration#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4924614" y="1826340"/>
              <a:ext cx="158697" cy="189127"/>
            </a:xfrm>
            <a:prstGeom prst="line">
              <a:avLst/>
            </a:prstGeom>
            <a:noFill/>
            <a:ln w="25400">
              <a:solidFill>
                <a:schemeClr val="accent3"/>
              </a:solidFill>
              <a:prstDash val="solid"/>
            </a:ln>
          </p:spPr>
        </p:sp>
        <p:sp>
          <p:nvSpPr>
            <p:cNvPr id="13" name="Label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5331181" y="2652972"/>
              <a:ext cx="378213" cy="66689"/>
            </a:xfrm>
            <a:prstGeom prst="line">
              <a:avLst/>
            </a:prstGeom>
            <a:noFill/>
            <a:ln w="25400">
              <a:solidFill>
                <a:schemeClr val="accent3"/>
              </a:solidFill>
              <a:prstDash val="solid"/>
            </a:ln>
          </p:spPr>
        </p:sp>
        <p:sp>
          <p:nvSpPr>
            <p:cNvPr id="14" name="Label 1"/>
            <p:cNvSpPr/>
            <p:nvPr/>
          </p:nvSpPr>
          <p:spPr>
            <a:xfrm>
              <a:off x="398798" y="2287212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Short label</a:t>
              </a:r>
              <a:endParaRPr lang="en-US" sz="1200" dirty="0"/>
            </a:p>
          </p:txBody>
        </p:sp>
        <p:sp>
          <p:nvSpPr>
            <p:cNvPr id="15" name="Label 2"/>
            <p:cNvSpPr/>
            <p:nvPr/>
          </p:nvSpPr>
          <p:spPr>
            <a:xfrm>
              <a:off x="3108960" y="1097280"/>
              <a:ext cx="2103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Short label</a:t>
              </a:r>
              <a:endParaRPr lang="en-US" sz="1200" dirty="0"/>
            </a:p>
          </p:txBody>
        </p:sp>
        <p:sp>
          <p:nvSpPr>
            <p:cNvPr id="16" name="Label 3"/>
            <p:cNvSpPr/>
            <p:nvPr/>
          </p:nvSpPr>
          <p:spPr>
            <a:xfrm>
              <a:off x="5819122" y="2287212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Short label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V-SIG-03  ·  Puzzle</a:t>
            </a:r>
            <a:endParaRPr lang="en-US" sz="1000" dirty="0"/>
          </a:p>
        </p:txBody>
      </p:sp>
      <p:grpSp>
        <p:nvGrpSpPr>
          <p:cNvPr id="15" name="V-SIG-03"/>
          <p:cNvGrpSpPr/>
          <p:nvPr/>
        </p:nvGrpSpPr>
        <p:grpSpPr>
          <a:xfrm>
            <a:off x="2148840" y="1165860"/>
            <a:ext cx="4023360" cy="4023360"/>
            <a:chOff x="2148840" y="1165860"/>
            <a:chExt cx="4023360" cy="402336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8840" y="1165860"/>
              <a:ext cx="2534717" cy="2011680"/>
            </a:xfrm>
            <a:custGeom>
              <a:avLst/>
              <a:gdLst/>
              <a:ahLst/>
              <a:cxnLst/>
              <a:rect l="l" t="t" r="r" b="b"/>
              <a:pathLst>
                <a:path w="2534717" h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764438"/>
                  </a:lnTo>
                  <a:cubicBezTo>
                    <a:pt x="2152498" y="865022"/>
                    <a:pt x="2474366" y="583387"/>
                    <a:pt x="2494483" y="1005840"/>
                  </a:cubicBezTo>
                  <a:cubicBezTo>
                    <a:pt x="2474366" y="1428293"/>
                    <a:pt x="2152498" y="1146658"/>
                    <a:pt x="2011680" y="1247242"/>
                  </a:cubicBezTo>
                  <a:lnTo>
                    <a:pt x="2011680" y="2011680"/>
                  </a:lnTo>
                  <a:lnTo>
                    <a:pt x="1247242" y="2011680"/>
                  </a:lnTo>
                  <a:cubicBezTo>
                    <a:pt x="1146658" y="1870862"/>
                    <a:pt x="1428293" y="1548994"/>
                    <a:pt x="1005840" y="1528877"/>
                  </a:cubicBezTo>
                  <a:cubicBezTo>
                    <a:pt x="583387" y="1548994"/>
                    <a:pt x="865022" y="1870862"/>
                    <a:pt x="764438" y="2011680"/>
                  </a:cubicBezTo>
                  <a:lnTo>
                    <a:pt x="0" y="2011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0">
              <a:solidFill>
                <a:schemeClr val="bg1"/>
              </a:solidFill>
              <a:prstDash val="solid"/>
            </a:ln>
          </p:spPr>
        </p:sp>
        <p:sp>
          <p:nvSpPr>
            <p:cNvPr id="4" name="Piece 1"/>
            <p:cNvSpPr/>
            <p:nvPr/>
          </p:nvSpPr>
          <p:spPr>
            <a:xfrm>
              <a:off x="2377440" y="1440180"/>
              <a:ext cx="1554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Piece 1</a:t>
              </a:r>
              <a:endParaRPr lang="en-US" sz="1200" dirty="0"/>
            </a:p>
          </p:txBody>
        </p:sp>
        <p:sp>
          <p:nvSpPr>
            <p:cNvPr id="5" name="Piece 1 text"/>
            <p:cNvSpPr/>
            <p:nvPr/>
          </p:nvSpPr>
          <p:spPr>
            <a:xfrm>
              <a:off x="2377440" y="1851660"/>
              <a:ext cx="15544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this part brings</a:t>
              </a:r>
              <a:endParaRPr lang="en-US" sz="1000" dirty="0"/>
            </a:p>
          </p:txBody>
        </p:sp>
        <p:sp>
          <p:nvSpPr>
            <p:cNvPr id="6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60520" y="1165860"/>
              <a:ext cx="2011680" cy="2534717"/>
            </a:xfrm>
            <a:custGeom>
              <a:avLst/>
              <a:gdLst/>
              <a:ahLst/>
              <a:cxnLst/>
              <a:rect l="l" t="t" r="r" b="b"/>
              <a:pathLst>
                <a:path w="2011680" h="2534717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1247242" y="2011680"/>
                  </a:lnTo>
                  <a:cubicBezTo>
                    <a:pt x="1146658" y="2152498"/>
                    <a:pt x="1428293" y="2474366"/>
                    <a:pt x="1005840" y="2494483"/>
                  </a:cubicBezTo>
                  <a:cubicBezTo>
                    <a:pt x="583387" y="2474366"/>
                    <a:pt x="865022" y="2152498"/>
                    <a:pt x="764438" y="2011680"/>
                  </a:cubicBezTo>
                  <a:lnTo>
                    <a:pt x="0" y="2011680"/>
                  </a:lnTo>
                  <a:lnTo>
                    <a:pt x="0" y="1247242"/>
                  </a:lnTo>
                  <a:cubicBezTo>
                    <a:pt x="140818" y="1146658"/>
                    <a:pt x="462686" y="1428293"/>
                    <a:pt x="482803" y="1005840"/>
                  </a:cubicBezTo>
                  <a:cubicBezTo>
                    <a:pt x="462686" y="583387"/>
                    <a:pt x="140818" y="865022"/>
                    <a:pt x="0" y="76443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31750">
              <a:solidFill>
                <a:schemeClr val="bg1"/>
              </a:solidFill>
              <a:prstDash val="solid"/>
            </a:ln>
          </p:spPr>
        </p:sp>
        <p:sp>
          <p:nvSpPr>
            <p:cNvPr id="7" name="Piece 2"/>
            <p:cNvSpPr/>
            <p:nvPr/>
          </p:nvSpPr>
          <p:spPr>
            <a:xfrm>
              <a:off x="4782312" y="1440180"/>
              <a:ext cx="1188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Piece 2</a:t>
              </a:r>
              <a:endParaRPr lang="en-US" sz="1200" dirty="0"/>
            </a:p>
          </p:txBody>
        </p:sp>
        <p:sp>
          <p:nvSpPr>
            <p:cNvPr id="8" name="Piece 2 text"/>
            <p:cNvSpPr/>
            <p:nvPr/>
          </p:nvSpPr>
          <p:spPr>
            <a:xfrm>
              <a:off x="4782312" y="1851660"/>
              <a:ext cx="118872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part brings</a:t>
              </a:r>
              <a:endParaRPr lang="en-US" sz="1000" dirty="0"/>
            </a:p>
          </p:txBody>
        </p:sp>
        <p:sp>
          <p:nvSpPr>
            <p:cNvPr id="9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8840" y="2654503"/>
              <a:ext cx="2011680" cy="2534717"/>
            </a:xfrm>
            <a:custGeom>
              <a:avLst/>
              <a:gdLst/>
              <a:ahLst/>
              <a:cxnLst/>
              <a:rect l="l" t="t" r="r" b="b"/>
              <a:pathLst>
                <a:path w="2011680" h="2534717">
                  <a:moveTo>
                    <a:pt x="0" y="523037"/>
                  </a:moveTo>
                  <a:lnTo>
                    <a:pt x="764438" y="523037"/>
                  </a:lnTo>
                  <a:cubicBezTo>
                    <a:pt x="865022" y="382219"/>
                    <a:pt x="583387" y="60350"/>
                    <a:pt x="1005840" y="40234"/>
                  </a:cubicBezTo>
                  <a:cubicBezTo>
                    <a:pt x="1428293" y="60350"/>
                    <a:pt x="1146658" y="382219"/>
                    <a:pt x="1247242" y="523037"/>
                  </a:cubicBezTo>
                  <a:lnTo>
                    <a:pt x="2011680" y="523037"/>
                  </a:lnTo>
                  <a:lnTo>
                    <a:pt x="2011680" y="1287475"/>
                  </a:lnTo>
                  <a:cubicBezTo>
                    <a:pt x="1870862" y="1388059"/>
                    <a:pt x="1548994" y="1106424"/>
                    <a:pt x="1528877" y="1528877"/>
                  </a:cubicBezTo>
                  <a:cubicBezTo>
                    <a:pt x="1548994" y="1951330"/>
                    <a:pt x="1870862" y="1669694"/>
                    <a:pt x="2011680" y="1770278"/>
                  </a:cubicBezTo>
                  <a:lnTo>
                    <a:pt x="2011680" y="2534717"/>
                  </a:lnTo>
                  <a:lnTo>
                    <a:pt x="0" y="2534717"/>
                  </a:lnTo>
                  <a:lnTo>
                    <a:pt x="0" y="523037"/>
                  </a:lnTo>
                  <a:close/>
                </a:path>
              </a:pathLst>
            </a:custGeom>
            <a:solidFill>
              <a:schemeClr val="accent5"/>
            </a:solidFill>
            <a:ln w="31750">
              <a:solidFill>
                <a:schemeClr val="bg1"/>
              </a:solidFill>
              <a:prstDash val="solid"/>
            </a:ln>
          </p:spPr>
        </p:sp>
        <p:sp>
          <p:nvSpPr>
            <p:cNvPr id="10" name="Piece 3"/>
            <p:cNvSpPr/>
            <p:nvPr/>
          </p:nvSpPr>
          <p:spPr>
            <a:xfrm>
              <a:off x="2350008" y="3451860"/>
              <a:ext cx="1188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Piece 3</a:t>
              </a:r>
              <a:endParaRPr lang="en-US" sz="1200" dirty="0"/>
            </a:p>
          </p:txBody>
        </p:sp>
        <p:sp>
          <p:nvSpPr>
            <p:cNvPr id="11" name="Piece 3 text"/>
            <p:cNvSpPr/>
            <p:nvPr/>
          </p:nvSpPr>
          <p:spPr>
            <a:xfrm>
              <a:off x="2350008" y="3863340"/>
              <a:ext cx="118872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this part brings</a:t>
              </a:r>
              <a:endParaRPr lang="en-US" sz="1000" dirty="0"/>
            </a:p>
          </p:txBody>
        </p:sp>
        <p:sp>
          <p:nvSpPr>
            <p:cNvPr id="12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37483" y="3177540"/>
              <a:ext cx="2534717" cy="2011680"/>
            </a:xfrm>
            <a:custGeom>
              <a:avLst/>
              <a:gdLst/>
              <a:ahLst/>
              <a:cxnLst/>
              <a:rect l="l" t="t" r="r" b="b"/>
              <a:pathLst>
                <a:path w="2534717" h="2011680">
                  <a:moveTo>
                    <a:pt x="523037" y="0"/>
                  </a:moveTo>
                  <a:lnTo>
                    <a:pt x="1287475" y="0"/>
                  </a:lnTo>
                  <a:cubicBezTo>
                    <a:pt x="1388059" y="140818"/>
                    <a:pt x="1106424" y="462686"/>
                    <a:pt x="1528877" y="482803"/>
                  </a:cubicBezTo>
                  <a:cubicBezTo>
                    <a:pt x="1951330" y="462686"/>
                    <a:pt x="1669694" y="140818"/>
                    <a:pt x="1770278" y="0"/>
                  </a:cubicBezTo>
                  <a:lnTo>
                    <a:pt x="2534717" y="0"/>
                  </a:lnTo>
                  <a:lnTo>
                    <a:pt x="2534717" y="2011680"/>
                  </a:lnTo>
                  <a:lnTo>
                    <a:pt x="523037" y="2011680"/>
                  </a:lnTo>
                  <a:lnTo>
                    <a:pt x="523037" y="1247242"/>
                  </a:lnTo>
                  <a:cubicBezTo>
                    <a:pt x="382219" y="1146658"/>
                    <a:pt x="60350" y="1428293"/>
                    <a:pt x="40234" y="1005840"/>
                  </a:cubicBezTo>
                  <a:cubicBezTo>
                    <a:pt x="60350" y="583387"/>
                    <a:pt x="382219" y="865022"/>
                    <a:pt x="523037" y="764438"/>
                  </a:cubicBezTo>
                  <a:lnTo>
                    <a:pt x="523037" y="0"/>
                  </a:lnTo>
                  <a:close/>
                </a:path>
              </a:pathLst>
            </a:custGeom>
            <a:solidFill>
              <a:schemeClr val="accent2"/>
            </a:solidFill>
            <a:ln w="31750">
              <a:solidFill>
                <a:schemeClr val="bg1"/>
              </a:solidFill>
              <a:prstDash val="solid"/>
            </a:ln>
          </p:spPr>
        </p:sp>
        <p:sp>
          <p:nvSpPr>
            <p:cNvPr id="13" name="Piece 4"/>
            <p:cNvSpPr/>
            <p:nvPr/>
          </p:nvSpPr>
          <p:spPr>
            <a:xfrm>
              <a:off x="4389120" y="3799332"/>
              <a:ext cx="1554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Piece 4</a:t>
              </a:r>
              <a:endParaRPr lang="en-US" sz="1200" dirty="0"/>
            </a:p>
          </p:txBody>
        </p:sp>
        <p:sp>
          <p:nvSpPr>
            <p:cNvPr id="14" name="Piece 4 text"/>
            <p:cNvSpPr/>
            <p:nvPr/>
          </p:nvSpPr>
          <p:spPr>
            <a:xfrm>
              <a:off x="4389120" y="4210812"/>
              <a:ext cx="155448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this part brings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V-SIG-04  ·  Winding road</a:t>
            </a:r>
            <a:endParaRPr lang="en-US" sz="1000" dirty="0"/>
          </a:p>
        </p:txBody>
      </p:sp>
      <p:grpSp>
        <p:nvGrpSpPr>
          <p:cNvPr id="21" name="V-SIG-04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11094415" cy="4160520"/>
            </a:xfrm>
            <a:custGeom>
              <a:avLst/>
              <a:gdLst/>
              <a:ahLst/>
              <a:cxnLst/>
              <a:rect l="l" t="t" r="r" b="b"/>
              <a:pathLst>
                <a:path w="11094415" h="4160520">
                  <a:moveTo>
                    <a:pt x="0" y="3703320"/>
                  </a:moveTo>
                  <a:cubicBezTo>
                    <a:pt x="1775125" y="3703320"/>
                    <a:pt x="2107966" y="2514600"/>
                    <a:pt x="3883091" y="2514600"/>
                  </a:cubicBezTo>
                  <a:cubicBezTo>
                    <a:pt x="5658124" y="2514600"/>
                    <a:pt x="5547208" y="3611880"/>
                    <a:pt x="7433249" y="3611880"/>
                  </a:cubicBezTo>
                  <a:cubicBezTo>
                    <a:pt x="9319290" y="3611880"/>
                    <a:pt x="9319290" y="2423160"/>
                    <a:pt x="11094415" y="2423160"/>
                  </a:cubicBezTo>
                </a:path>
              </a:pathLst>
            </a:custGeom>
            <a:ln w="381000">
              <a:solidFill>
                <a:schemeClr val="accent5"/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11094415" cy="4160520"/>
            </a:xfrm>
            <a:custGeom>
              <a:avLst/>
              <a:gdLst/>
              <a:ahLst/>
              <a:cxnLst/>
              <a:rect l="l" t="t" r="r" b="b"/>
              <a:pathLst>
                <a:path w="11094415" h="4160520">
                  <a:moveTo>
                    <a:pt x="0" y="3703320"/>
                  </a:moveTo>
                  <a:cubicBezTo>
                    <a:pt x="1775125" y="3703320"/>
                    <a:pt x="2107966" y="2514600"/>
                    <a:pt x="3883091" y="2514600"/>
                  </a:cubicBezTo>
                  <a:cubicBezTo>
                    <a:pt x="5658124" y="2514600"/>
                    <a:pt x="5547208" y="3611880"/>
                    <a:pt x="7433249" y="3611880"/>
                  </a:cubicBezTo>
                  <a:cubicBezTo>
                    <a:pt x="9319290" y="3611880"/>
                    <a:pt x="9319290" y="2423160"/>
                    <a:pt x="11094415" y="2423160"/>
                  </a:cubicBezTo>
                </a:path>
              </a:pathLst>
            </a:custGeom>
            <a:ln w="25400">
              <a:solidFill>
                <a:schemeClr val="bg1"/>
              </a:solidFill>
              <a:prstDash val="dash"/>
            </a:ln>
          </p:spPr>
        </p:sp>
        <p:sp>
          <p:nvSpPr>
            <p:cNvPr id="5" name="Milestone 1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51560" y="1691640"/>
              <a:ext cx="91" cy="3074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</p:sp>
        <p:sp>
          <p:nvSpPr>
            <p:cNvPr id="6" name="Milestone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7552" y="4701768"/>
              <a:ext cx="128016" cy="128016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Milestone 1"/>
            <p:cNvSpPr/>
            <p:nvPr/>
          </p:nvSpPr>
          <p:spPr>
            <a:xfrm>
              <a:off x="1051560" y="1188720"/>
              <a:ext cx="2148840" cy="502920"/>
            </a:xfrm>
            <a:prstGeom prst="homePlate">
              <a:avLst/>
            </a:prstGeom>
            <a:solidFill>
              <a:schemeClr val="accent2"/>
            </a:solidFill>
            <a:ln/>
          </p:spPr>
          <p:txBody>
            <a:bodyPr wrap="square" lIns="109728" tIns="109728" rIns="109728" bIns="109728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200" dirty="0"/>
            </a:p>
          </p:txBody>
        </p:sp>
        <p:sp>
          <p:nvSpPr>
            <p:cNvPr id="8" name="Milestone 1 text"/>
            <p:cNvSpPr/>
            <p:nvPr/>
          </p:nvSpPr>
          <p:spPr>
            <a:xfrm>
              <a:off x="1188720" y="1801368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changes at this point</a:t>
              </a:r>
              <a:endParaRPr lang="en-US" sz="1000" dirty="0"/>
            </a:p>
          </p:txBody>
        </p:sp>
        <p:sp>
          <p:nvSpPr>
            <p:cNvPr id="9" name="Milestone 2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35298" y="1691640"/>
              <a:ext cx="91" cy="1970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</p:sp>
        <p:sp>
          <p:nvSpPr>
            <p:cNvPr id="10" name="Milestone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71290" y="3597657"/>
              <a:ext cx="128016" cy="128016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11" name="Milestone 2"/>
            <p:cNvSpPr/>
            <p:nvPr/>
          </p:nvSpPr>
          <p:spPr>
            <a:xfrm>
              <a:off x="3835298" y="1188720"/>
              <a:ext cx="2148840" cy="502920"/>
            </a:xfrm>
            <a:prstGeom prst="homePlate">
              <a:avLst/>
            </a:prstGeom>
            <a:solidFill>
              <a:schemeClr val="accent2"/>
            </a:solidFill>
            <a:ln/>
          </p:spPr>
          <p:txBody>
            <a:bodyPr wrap="square" lIns="109728" tIns="109728" rIns="109728" bIns="109728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200" dirty="0"/>
            </a:p>
          </p:txBody>
        </p:sp>
        <p:sp>
          <p:nvSpPr>
            <p:cNvPr id="12" name="Milestone 2 text"/>
            <p:cNvSpPr/>
            <p:nvPr/>
          </p:nvSpPr>
          <p:spPr>
            <a:xfrm>
              <a:off x="3972458" y="1801368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changes at this point</a:t>
              </a:r>
              <a:endParaRPr lang="en-US" sz="1000" dirty="0"/>
            </a:p>
          </p:txBody>
        </p:sp>
        <p:sp>
          <p:nvSpPr>
            <p:cNvPr id="13" name="Milestone 3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19037" y="1691640"/>
              <a:ext cx="91" cy="27337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</p:sp>
        <p:sp>
          <p:nvSpPr>
            <p:cNvPr id="14" name="Milestone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029" y="4361335"/>
              <a:ext cx="128016" cy="128016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15" name="Milestone 3"/>
            <p:cNvSpPr/>
            <p:nvPr/>
          </p:nvSpPr>
          <p:spPr>
            <a:xfrm>
              <a:off x="6619037" y="1188720"/>
              <a:ext cx="2148840" cy="502920"/>
            </a:xfrm>
            <a:prstGeom prst="homePlate">
              <a:avLst/>
            </a:prstGeom>
            <a:solidFill>
              <a:schemeClr val="accent2"/>
            </a:solidFill>
            <a:ln/>
          </p:spPr>
          <p:txBody>
            <a:bodyPr wrap="square" lIns="109728" tIns="109728" rIns="109728" bIns="109728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200" dirty="0"/>
            </a:p>
          </p:txBody>
        </p:sp>
        <p:sp>
          <p:nvSpPr>
            <p:cNvPr id="16" name="Milestone 3 text"/>
            <p:cNvSpPr/>
            <p:nvPr/>
          </p:nvSpPr>
          <p:spPr>
            <a:xfrm>
              <a:off x="6756197" y="1801368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changes at this point</a:t>
              </a:r>
              <a:endParaRPr lang="en-US" sz="1000" dirty="0"/>
            </a:p>
          </p:txBody>
        </p:sp>
        <p:sp>
          <p:nvSpPr>
            <p:cNvPr id="17" name="Milestone 4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402775" y="1691640"/>
              <a:ext cx="91" cy="26949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</p:sp>
        <p:sp>
          <p:nvSpPr>
            <p:cNvPr id="18" name="Milestone 4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8767" y="4322547"/>
              <a:ext cx="128016" cy="128016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19" name="Milestone 4"/>
            <p:cNvSpPr/>
            <p:nvPr/>
          </p:nvSpPr>
          <p:spPr>
            <a:xfrm>
              <a:off x="9402775" y="1188720"/>
              <a:ext cx="2148840" cy="502920"/>
            </a:xfrm>
            <a:prstGeom prst="homePlate">
              <a:avLst/>
            </a:prstGeom>
            <a:solidFill>
              <a:schemeClr val="accent1"/>
            </a:solidFill>
            <a:ln/>
          </p:spPr>
          <p:txBody>
            <a:bodyPr wrap="square" lIns="109728" tIns="109728" rIns="109728" bIns="109728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Milestone</a:t>
              </a:r>
              <a:endParaRPr lang="en-US" sz="1200" dirty="0"/>
            </a:p>
          </p:txBody>
        </p:sp>
        <p:sp>
          <p:nvSpPr>
            <p:cNvPr id="20" name="Milestone 4 text"/>
            <p:cNvSpPr/>
            <p:nvPr/>
          </p:nvSpPr>
          <p:spPr>
            <a:xfrm>
              <a:off x="9539935" y="1801368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changes at this point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V-SIG-05  ·  Mountain and summit flag</a:t>
            </a:r>
            <a:endParaRPr lang="en-US" sz="1000" dirty="0"/>
          </a:p>
        </p:txBody>
      </p:sp>
      <p:grpSp>
        <p:nvGrpSpPr>
          <p:cNvPr id="17" name="V-SIG-05"/>
          <p:cNvGrpSpPr/>
          <p:nvPr/>
        </p:nvGrpSpPr>
        <p:grpSpPr>
          <a:xfrm>
            <a:off x="412394" y="1097280"/>
            <a:ext cx="7360006" cy="4160520"/>
            <a:chOff x="412394" y="1097280"/>
            <a:chExt cx="7360006" cy="416052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7223760" cy="4160520"/>
            </a:xfrm>
            <a:custGeom>
              <a:avLst/>
              <a:gdLst/>
              <a:ahLst/>
              <a:cxnLst/>
              <a:rect l="l" t="t" r="r" b="b"/>
              <a:pathLst>
                <a:path w="7223760" h="4160520">
                  <a:moveTo>
                    <a:pt x="4023360" y="4069080"/>
                  </a:moveTo>
                  <a:lnTo>
                    <a:pt x="6172200" y="1737360"/>
                  </a:lnTo>
                  <a:lnTo>
                    <a:pt x="7223760" y="4069080"/>
                  </a:lnTo>
                  <a:close/>
                </a:path>
              </a:pathLst>
            </a:custGeom>
            <a:solidFill>
              <a:schemeClr val="accent6"/>
            </a:solidFill>
            <a:ln/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7223760" cy="4160520"/>
            </a:xfrm>
            <a:custGeom>
              <a:avLst/>
              <a:gdLst/>
              <a:ahLst/>
              <a:cxnLst/>
              <a:rect l="l" t="t" r="r" b="b"/>
              <a:pathLst>
                <a:path w="7223760" h="4160520">
                  <a:moveTo>
                    <a:pt x="548640" y="4069080"/>
                  </a:moveTo>
                  <a:lnTo>
                    <a:pt x="4709160" y="777240"/>
                  </a:lnTo>
                  <a:lnTo>
                    <a:pt x="5257800" y="4069080"/>
                  </a:lnTo>
                  <a:close/>
                </a:path>
              </a:pathLst>
            </a:custGeom>
            <a:solidFill>
              <a:schemeClr val="accent5"/>
            </a:solidFill>
            <a:ln/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7223760" cy="4160520"/>
            </a:xfrm>
            <a:custGeom>
              <a:avLst/>
              <a:gdLst/>
              <a:ahLst/>
              <a:cxnLst/>
              <a:rect l="l" t="t" r="r" b="b"/>
              <a:pathLst>
                <a:path w="7223760" h="4160520">
                  <a:moveTo>
                    <a:pt x="4709160" y="777240"/>
                  </a:moveTo>
                  <a:lnTo>
                    <a:pt x="6583680" y="4069080"/>
                  </a:lnTo>
                  <a:lnTo>
                    <a:pt x="5257800" y="4069080"/>
                  </a:lnTo>
                  <a:close/>
                </a:path>
              </a:pathLst>
            </a:custGeom>
            <a:solidFill>
              <a:schemeClr val="accent4"/>
            </a:solidFill>
            <a:ln/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5166360"/>
              <a:ext cx="7223760" cy="91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57800" y="1216152"/>
              <a:ext cx="91" cy="65836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olid"/>
            </a:ln>
          </p:spPr>
        </p:sp>
        <p:sp>
          <p:nvSpPr>
            <p:cNvPr id="8" name="decoration#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57800" y="1216152"/>
              <a:ext cx="548640" cy="329184"/>
            </a:xfrm>
            <a:custGeom>
              <a:avLst/>
              <a:gdLst/>
              <a:ahLst/>
              <a:cxnLst/>
              <a:rect l="l" t="t" r="r" b="b"/>
              <a:pathLst>
                <a:path w="548640" h="329184">
                  <a:moveTo>
                    <a:pt x="0" y="0"/>
                  </a:moveTo>
                  <a:lnTo>
                    <a:pt x="548640" y="164592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9" name="Summit"/>
            <p:cNvSpPr/>
            <p:nvPr/>
          </p:nvSpPr>
          <p:spPr>
            <a:xfrm>
              <a:off x="5943600" y="1143000"/>
              <a:ext cx="18288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The goal</a:t>
              </a:r>
              <a:endParaRPr lang="en-US" sz="1600" dirty="0"/>
            </a:p>
          </p:txBody>
        </p:sp>
        <p:sp>
          <p:nvSpPr>
            <p:cNvPr id="10" name="Summit text"/>
            <p:cNvSpPr/>
            <p:nvPr/>
          </p:nvSpPr>
          <p:spPr>
            <a:xfrm>
              <a:off x="5943600" y="1755648"/>
              <a:ext cx="18288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success looks like</a:t>
              </a:r>
              <a:endParaRPr lang="en-US" sz="1000" dirty="0"/>
            </a:p>
          </p:txBody>
        </p:sp>
        <p:sp>
          <p:nvSpPr>
            <p:cNvPr id="11" name="Step 1 number"/>
            <p:cNvSpPr/>
            <p:nvPr/>
          </p:nvSpPr>
          <p:spPr>
            <a:xfrm>
              <a:off x="1820570" y="4250131"/>
              <a:ext cx="384048" cy="38404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200" dirty="0"/>
            </a:p>
          </p:txBody>
        </p:sp>
        <p:sp>
          <p:nvSpPr>
            <p:cNvPr id="12" name="Step 1"/>
            <p:cNvSpPr/>
            <p:nvPr/>
          </p:nvSpPr>
          <p:spPr>
            <a:xfrm>
              <a:off x="412394" y="3619195"/>
              <a:ext cx="1463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 on the way</a:t>
              </a:r>
              <a:endParaRPr lang="en-US" sz="1200" dirty="0"/>
            </a:p>
          </p:txBody>
        </p:sp>
        <p:sp>
          <p:nvSpPr>
            <p:cNvPr id="13" name="Step 2 number"/>
            <p:cNvSpPr/>
            <p:nvPr/>
          </p:nvSpPr>
          <p:spPr>
            <a:xfrm>
              <a:off x="2902306" y="3394253"/>
              <a:ext cx="384048" cy="38404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200" dirty="0"/>
            </a:p>
          </p:txBody>
        </p:sp>
        <p:sp>
          <p:nvSpPr>
            <p:cNvPr id="14" name="Step 2"/>
            <p:cNvSpPr/>
            <p:nvPr/>
          </p:nvSpPr>
          <p:spPr>
            <a:xfrm>
              <a:off x="1494130" y="2763317"/>
              <a:ext cx="1463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 on the way</a:t>
              </a:r>
              <a:endParaRPr lang="en-US" sz="1200" dirty="0"/>
            </a:p>
          </p:txBody>
        </p:sp>
        <p:sp>
          <p:nvSpPr>
            <p:cNvPr id="15" name="Step 3 number"/>
            <p:cNvSpPr/>
            <p:nvPr/>
          </p:nvSpPr>
          <p:spPr>
            <a:xfrm>
              <a:off x="3984041" y="2538374"/>
              <a:ext cx="384048" cy="38404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200" dirty="0"/>
            </a:p>
          </p:txBody>
        </p:sp>
        <p:sp>
          <p:nvSpPr>
            <p:cNvPr id="16" name="Step 3"/>
            <p:cNvSpPr/>
            <p:nvPr/>
          </p:nvSpPr>
          <p:spPr>
            <a:xfrm>
              <a:off x="2575865" y="1907438"/>
              <a:ext cx="1463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Step on the way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V-SIG-06  ·  Target</a:t>
            </a:r>
            <a:endParaRPr lang="en-US" sz="1000" dirty="0"/>
          </a:p>
        </p:txBody>
      </p:sp>
      <p:grpSp>
        <p:nvGrpSpPr>
          <p:cNvPr id="20" name="V-SIG-06"/>
          <p:cNvGrpSpPr/>
          <p:nvPr/>
        </p:nvGrpSpPr>
        <p:grpSpPr>
          <a:xfrm>
            <a:off x="822960" y="1211580"/>
            <a:ext cx="6949440" cy="3931920"/>
            <a:chOff x="822960" y="1211580"/>
            <a:chExt cx="6949440" cy="393192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22960" y="1211580"/>
              <a:ext cx="3931920" cy="393192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25880" y="1714500"/>
              <a:ext cx="2926080" cy="2926080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8800" y="2217420"/>
              <a:ext cx="1920240" cy="1920240"/>
            </a:xfrm>
            <a:prstGeom prst="ellipse">
              <a:avLst/>
            </a:prstGeom>
            <a:solidFill>
              <a:schemeClr val="accent3"/>
            </a:solidFill>
            <a:ln w="19050">
              <a:solidFill>
                <a:schemeClr val="bg1"/>
              </a:solidFill>
              <a:prstDash val="solid"/>
            </a:ln>
          </p:spPr>
        </p:sp>
        <p:sp>
          <p:nvSpPr>
            <p:cNvPr id="6" name="Centre"/>
            <p:cNvSpPr/>
            <p:nvPr/>
          </p:nvSpPr>
          <p:spPr>
            <a:xfrm>
              <a:off x="2276856" y="2665476"/>
              <a:ext cx="1024128" cy="102412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txBody>
            <a:bodyPr wrap="square" lIns="45720" tIns="45720" rIns="45720" bIns="4572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Main aim</a:t>
              </a:r>
              <a:endParaRPr lang="en-US" sz="1200" dirty="0"/>
            </a:p>
          </p:txBody>
        </p:sp>
        <p:sp>
          <p:nvSpPr>
            <p:cNvPr id="7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2813" y="1796292"/>
              <a:ext cx="1239834" cy="1040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tailEnd type="triangle"/>
            </a:ln>
          </p:spPr>
        </p:sp>
        <p:sp>
          <p:nvSpPr>
            <p:cNvPr id="8" name="Ring 1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21048" y="1796796"/>
              <a:ext cx="109728" cy="109728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9" name="Ring 1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75912" y="1851660"/>
              <a:ext cx="1290448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10" name="Ring 1"/>
            <p:cNvSpPr/>
            <p:nvPr/>
          </p:nvSpPr>
          <p:spPr>
            <a:xfrm>
              <a:off x="5257800" y="1668780"/>
              <a:ext cx="2514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ring</a:t>
              </a:r>
              <a:endParaRPr lang="en-US" sz="1200" dirty="0"/>
            </a:p>
          </p:txBody>
        </p:sp>
        <p:sp>
          <p:nvSpPr>
            <p:cNvPr id="11" name="Ring 1 text"/>
            <p:cNvSpPr/>
            <p:nvPr/>
          </p:nvSpPr>
          <p:spPr>
            <a:xfrm>
              <a:off x="5257800" y="2052828"/>
              <a:ext cx="2514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it covers</a:t>
              </a:r>
              <a:endParaRPr lang="en-US" sz="1000" dirty="0"/>
            </a:p>
          </p:txBody>
        </p:sp>
        <p:sp>
          <p:nvSpPr>
            <p:cNvPr id="12" name="Ring 2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02602" y="2802636"/>
              <a:ext cx="109728" cy="109728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13" name="Ring 2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57466" y="2857500"/>
              <a:ext cx="1208894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14" name="Ring 2"/>
            <p:cNvSpPr/>
            <p:nvPr/>
          </p:nvSpPr>
          <p:spPr>
            <a:xfrm>
              <a:off x="5257800" y="2674620"/>
              <a:ext cx="2514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Middle ring</a:t>
              </a:r>
              <a:endParaRPr lang="en-US" sz="1200" dirty="0"/>
            </a:p>
          </p:txBody>
        </p:sp>
        <p:sp>
          <p:nvSpPr>
            <p:cNvPr id="15" name="Ring 2 text"/>
            <p:cNvSpPr/>
            <p:nvPr/>
          </p:nvSpPr>
          <p:spPr>
            <a:xfrm>
              <a:off x="5257800" y="3058668"/>
              <a:ext cx="2514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it covers</a:t>
              </a:r>
              <a:endParaRPr lang="en-US" sz="1000" dirty="0"/>
            </a:p>
          </p:txBody>
        </p:sp>
        <p:sp>
          <p:nvSpPr>
            <p:cNvPr id="16" name="Ring 3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24796" y="3671316"/>
              <a:ext cx="109728" cy="109728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17" name="Ring 3 mark stem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79660" y="3726180"/>
              <a:ext cx="188670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</p:sp>
        <p:sp>
          <p:nvSpPr>
            <p:cNvPr id="18" name="Ring 3"/>
            <p:cNvSpPr/>
            <p:nvPr/>
          </p:nvSpPr>
          <p:spPr>
            <a:xfrm>
              <a:off x="5257800" y="3543300"/>
              <a:ext cx="2514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Inner ring</a:t>
              </a:r>
              <a:endParaRPr lang="en-US" sz="1200" dirty="0"/>
            </a:p>
          </p:txBody>
        </p:sp>
        <p:sp>
          <p:nvSpPr>
            <p:cNvPr id="19" name="Ring 3 text"/>
            <p:cNvSpPr/>
            <p:nvPr/>
          </p:nvSpPr>
          <p:spPr>
            <a:xfrm>
              <a:off x="5257800" y="3927348"/>
              <a:ext cx="2514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What it covers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V-ORB-01-3  ·  Orbit, 3 satellites</a:t>
            </a:r>
            <a:endParaRPr lang="en-US" sz="1000" dirty="0"/>
          </a:p>
        </p:txBody>
      </p:sp>
      <p:grpSp>
        <p:nvGrpSpPr>
          <p:cNvPr id="21" name="V-ORB-01-3"/>
          <p:cNvGrpSpPr/>
          <p:nvPr/>
        </p:nvGrpSpPr>
        <p:grpSpPr>
          <a:xfrm>
            <a:off x="548640" y="1163897"/>
            <a:ext cx="8880196" cy="4093903"/>
            <a:chOff x="548640" y="1163897"/>
            <a:chExt cx="8880196" cy="4093903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04208" y="1485900"/>
              <a:ext cx="3383280" cy="3383280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484468" y="2187673"/>
              <a:ext cx="182880" cy="316757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84468" y="3850650"/>
              <a:ext cx="182880" cy="316757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4952848" y="3177540"/>
              <a:ext cx="365760" cy="0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18608" y="2400300"/>
              <a:ext cx="1554480" cy="15544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8" name="Centre"/>
            <p:cNvSpPr/>
            <p:nvPr/>
          </p:nvSpPr>
          <p:spPr>
            <a:xfrm>
              <a:off x="5505145" y="2711196"/>
              <a:ext cx="1181405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400" dirty="0"/>
            </a:p>
          </p:txBody>
        </p:sp>
        <p:sp>
          <p:nvSpPr>
            <p:cNvPr id="9" name="Centre text"/>
            <p:cNvSpPr/>
            <p:nvPr/>
          </p:nvSpPr>
          <p:spPr>
            <a:xfrm>
              <a:off x="5505145" y="3204972"/>
              <a:ext cx="1181405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10" name="label#1 &gt; Satellit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93028" y="1163897"/>
              <a:ext cx="1097280" cy="1097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1" name="Satellite 1"/>
            <p:cNvSpPr/>
            <p:nvPr/>
          </p:nvSpPr>
          <p:spPr>
            <a:xfrm>
              <a:off x="6502756" y="1383353"/>
              <a:ext cx="877824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2" name="Satellite 1 text"/>
            <p:cNvSpPr/>
            <p:nvPr/>
          </p:nvSpPr>
          <p:spPr>
            <a:xfrm>
              <a:off x="7600036" y="1520513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3" name="label#2 &gt; Satellit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93028" y="4093903"/>
              <a:ext cx="1097280" cy="1097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4" name="Satellite 2"/>
            <p:cNvSpPr/>
            <p:nvPr/>
          </p:nvSpPr>
          <p:spPr>
            <a:xfrm>
              <a:off x="6502756" y="4313359"/>
              <a:ext cx="877824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5" name="Satellite 2 text"/>
            <p:cNvSpPr/>
            <p:nvPr/>
          </p:nvSpPr>
          <p:spPr>
            <a:xfrm>
              <a:off x="7600036" y="4450519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6" name="label#3 &gt; Satellit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55568" y="2628900"/>
              <a:ext cx="1097280" cy="1097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7" name="Satellite 3"/>
            <p:cNvSpPr/>
            <p:nvPr/>
          </p:nvSpPr>
          <p:spPr>
            <a:xfrm>
              <a:off x="3965296" y="2848356"/>
              <a:ext cx="877824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8" name="Satellite 3 text"/>
            <p:cNvSpPr/>
            <p:nvPr/>
          </p:nvSpPr>
          <p:spPr>
            <a:xfrm>
              <a:off x="1917040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9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6542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20" name="Takeaway"/>
            <p:cNvSpPr/>
            <p:nvPr/>
          </p:nvSpPr>
          <p:spPr>
            <a:xfrm>
              <a:off x="548640" y="47091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V-ORB-01-4  ·  Orbit, 4 satellites</a:t>
            </a:r>
            <a:endParaRPr lang="en-US" sz="1000" dirty="0"/>
          </a:p>
        </p:txBody>
      </p:sp>
      <p:grpSp>
        <p:nvGrpSpPr>
          <p:cNvPr id="25" name="V-ORB-01-4"/>
          <p:cNvGrpSpPr/>
          <p:nvPr/>
        </p:nvGrpSpPr>
        <p:grpSpPr>
          <a:xfrm>
            <a:off x="548640" y="1455590"/>
            <a:ext cx="9207686" cy="3802210"/>
            <a:chOff x="548640" y="1455590"/>
            <a:chExt cx="9207686" cy="380221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04208" y="1485900"/>
              <a:ext cx="3383280" cy="3383280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645439" y="2353152"/>
              <a:ext cx="274796" cy="274796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45439" y="3727132"/>
              <a:ext cx="274796" cy="274796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5271460" y="3727132"/>
              <a:ext cx="274796" cy="274796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71460" y="2353152"/>
              <a:ext cx="274796" cy="274796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8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18608" y="2400300"/>
              <a:ext cx="1554480" cy="15544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9" name="Centre"/>
            <p:cNvSpPr/>
            <p:nvPr/>
          </p:nvSpPr>
          <p:spPr>
            <a:xfrm>
              <a:off x="5505145" y="2711196"/>
              <a:ext cx="1181405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400" dirty="0"/>
            </a:p>
          </p:txBody>
        </p:sp>
        <p:sp>
          <p:nvSpPr>
            <p:cNvPr id="10" name="Centre text"/>
            <p:cNvSpPr/>
            <p:nvPr/>
          </p:nvSpPr>
          <p:spPr>
            <a:xfrm>
              <a:off x="5505145" y="3204972"/>
              <a:ext cx="1181405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11" name="label#1 &gt; Satellit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66238" y="1455590"/>
              <a:ext cx="1051560" cy="10515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2" name="Satellite 1"/>
            <p:cNvSpPr/>
            <p:nvPr/>
          </p:nvSpPr>
          <p:spPr>
            <a:xfrm>
              <a:off x="6871394" y="1665902"/>
              <a:ext cx="841248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3" name="Satellite 1 text"/>
            <p:cNvSpPr/>
            <p:nvPr/>
          </p:nvSpPr>
          <p:spPr>
            <a:xfrm>
              <a:off x="7927526" y="178934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4" name="label#2 &gt; Satellit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66238" y="3847930"/>
              <a:ext cx="1051560" cy="10515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5" name="Satellite 2"/>
            <p:cNvSpPr/>
            <p:nvPr/>
          </p:nvSpPr>
          <p:spPr>
            <a:xfrm>
              <a:off x="6871394" y="4058242"/>
              <a:ext cx="841248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6" name="Satellite 2 text"/>
            <p:cNvSpPr/>
            <p:nvPr/>
          </p:nvSpPr>
          <p:spPr>
            <a:xfrm>
              <a:off x="7927526" y="418168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7" name="label#3 &gt; Satellit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73897" y="3847930"/>
              <a:ext cx="1051560" cy="10515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8" name="Satellite 3"/>
            <p:cNvSpPr/>
            <p:nvPr/>
          </p:nvSpPr>
          <p:spPr>
            <a:xfrm>
              <a:off x="4479053" y="4058242"/>
              <a:ext cx="841248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9" name="Satellite 3 text"/>
            <p:cNvSpPr/>
            <p:nvPr/>
          </p:nvSpPr>
          <p:spPr>
            <a:xfrm>
              <a:off x="2435369" y="418168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0" name="label#4 &gt; Satellit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73897" y="1455590"/>
              <a:ext cx="1051560" cy="10515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1" name="Satellite 4"/>
            <p:cNvSpPr/>
            <p:nvPr/>
          </p:nvSpPr>
          <p:spPr>
            <a:xfrm>
              <a:off x="4479053" y="1665902"/>
              <a:ext cx="841248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2" name="Satellite 4 text"/>
            <p:cNvSpPr/>
            <p:nvPr/>
          </p:nvSpPr>
          <p:spPr>
            <a:xfrm>
              <a:off x="2435369" y="178934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3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6542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24" name="Takeaway"/>
            <p:cNvSpPr/>
            <p:nvPr/>
          </p:nvSpPr>
          <p:spPr>
            <a:xfrm>
              <a:off x="548640" y="47091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V-ORB-01-5  ·  Orbit, 5 satellites</a:t>
            </a:r>
            <a:endParaRPr lang="en-US" sz="1000" dirty="0"/>
          </a:p>
        </p:txBody>
      </p:sp>
      <p:grpSp>
        <p:nvGrpSpPr>
          <p:cNvPr id="29" name="V-ORB-01-5"/>
          <p:cNvGrpSpPr/>
          <p:nvPr/>
        </p:nvGrpSpPr>
        <p:grpSpPr>
          <a:xfrm>
            <a:off x="548640" y="1115568"/>
            <a:ext cx="9627940" cy="4142232"/>
            <a:chOff x="548640" y="1115568"/>
            <a:chExt cx="9627940" cy="4142232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56563" y="1538256"/>
              <a:ext cx="3278569" cy="3278569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336028" y="2096793"/>
              <a:ext cx="110976" cy="341547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73088" y="3177540"/>
              <a:ext cx="359124" cy="91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36028" y="3916739"/>
              <a:ext cx="110976" cy="341547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5176510" y="3634390"/>
              <a:ext cx="290538" cy="211088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8" name="decoration#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510" y="2509602"/>
              <a:ext cx="290538" cy="211088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9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18608" y="2400300"/>
              <a:ext cx="1554480" cy="15544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0" name="Centre"/>
            <p:cNvSpPr/>
            <p:nvPr/>
          </p:nvSpPr>
          <p:spPr>
            <a:xfrm>
              <a:off x="5505145" y="2711196"/>
              <a:ext cx="1181405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400" dirty="0"/>
            </a:p>
          </p:txBody>
        </p:sp>
        <p:sp>
          <p:nvSpPr>
            <p:cNvPr id="11" name="Centre text"/>
            <p:cNvSpPr/>
            <p:nvPr/>
          </p:nvSpPr>
          <p:spPr>
            <a:xfrm>
              <a:off x="5505145" y="3204972"/>
              <a:ext cx="1181405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12" name="label#1 &gt; Satellit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99494" y="1115568"/>
              <a:ext cx="1005840" cy="10058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3" name="Satellite 1"/>
            <p:cNvSpPr/>
            <p:nvPr/>
          </p:nvSpPr>
          <p:spPr>
            <a:xfrm>
              <a:off x="6200078" y="1316736"/>
              <a:ext cx="804672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4" name="Satellite 1 text"/>
            <p:cNvSpPr/>
            <p:nvPr/>
          </p:nvSpPr>
          <p:spPr>
            <a:xfrm>
              <a:off x="7215062" y="1426464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5" name="label#2 &gt; Satellit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32212" y="2674620"/>
              <a:ext cx="1005840" cy="10058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6" name="Satellite 2"/>
            <p:cNvSpPr/>
            <p:nvPr/>
          </p:nvSpPr>
          <p:spPr>
            <a:xfrm>
              <a:off x="7332796" y="2875788"/>
              <a:ext cx="804672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7" name="Satellite 2 text"/>
            <p:cNvSpPr/>
            <p:nvPr/>
          </p:nvSpPr>
          <p:spPr>
            <a:xfrm>
              <a:off x="8347780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8" name="label#3 &gt; Satellit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99494" y="4233672"/>
              <a:ext cx="1005840" cy="10058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9" name="Satellite 3"/>
            <p:cNvSpPr/>
            <p:nvPr/>
          </p:nvSpPr>
          <p:spPr>
            <a:xfrm>
              <a:off x="6200078" y="4434840"/>
              <a:ext cx="804672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0" name="Satellite 3 text"/>
            <p:cNvSpPr/>
            <p:nvPr/>
          </p:nvSpPr>
          <p:spPr>
            <a:xfrm>
              <a:off x="7215062" y="4544568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1" name="label#4 &gt; Satellit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66719" y="3638167"/>
              <a:ext cx="1005840" cy="10058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2" name="Satellite 4"/>
            <p:cNvSpPr/>
            <p:nvPr/>
          </p:nvSpPr>
          <p:spPr>
            <a:xfrm>
              <a:off x="4367303" y="3839335"/>
              <a:ext cx="804672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3" name="Satellite 4 text"/>
            <p:cNvSpPr/>
            <p:nvPr/>
          </p:nvSpPr>
          <p:spPr>
            <a:xfrm>
              <a:off x="2328191" y="3949063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4" name="label#5 &gt; Satellit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66719" y="1711073"/>
              <a:ext cx="1005840" cy="10058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5" name="Satellite 5"/>
            <p:cNvSpPr/>
            <p:nvPr/>
          </p:nvSpPr>
          <p:spPr>
            <a:xfrm>
              <a:off x="4367303" y="1912241"/>
              <a:ext cx="804672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6" name="Satellite 5 text"/>
            <p:cNvSpPr/>
            <p:nvPr/>
          </p:nvSpPr>
          <p:spPr>
            <a:xfrm>
              <a:off x="2328191" y="2021969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7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6542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28" name="Takeaway"/>
            <p:cNvSpPr/>
            <p:nvPr/>
          </p:nvSpPr>
          <p:spPr>
            <a:xfrm>
              <a:off x="548640" y="47091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V-ORB-01-6  ·  Orbit, 6 satellites</a:t>
            </a:r>
            <a:endParaRPr lang="en-US" sz="1000" dirty="0"/>
          </a:p>
        </p:txBody>
      </p:sp>
      <p:grpSp>
        <p:nvGrpSpPr>
          <p:cNvPr id="33" name="V-ORB-01-6"/>
          <p:cNvGrpSpPr/>
          <p:nvPr/>
        </p:nvGrpSpPr>
        <p:grpSpPr>
          <a:xfrm>
            <a:off x="548640" y="1218761"/>
            <a:ext cx="9671152" cy="4039039"/>
            <a:chOff x="548640" y="1218761"/>
            <a:chExt cx="9671152" cy="4039039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04208" y="1485900"/>
              <a:ext cx="3383280" cy="3383280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484468" y="2140159"/>
              <a:ext cx="210312" cy="364271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73088" y="3177540"/>
              <a:ext cx="420624" cy="91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84468" y="3850650"/>
              <a:ext cx="210312" cy="364271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5496916" y="3850650"/>
              <a:ext cx="210312" cy="364271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8" name="decoration#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4897984" y="3177540"/>
              <a:ext cx="420624" cy="0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9" name="decoration#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96916" y="2140159"/>
              <a:ext cx="210312" cy="364271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0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18608" y="2400300"/>
              <a:ext cx="1554480" cy="15544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1" name="Centre"/>
            <p:cNvSpPr/>
            <p:nvPr/>
          </p:nvSpPr>
          <p:spPr>
            <a:xfrm>
              <a:off x="5505145" y="2711196"/>
              <a:ext cx="1181405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400" dirty="0"/>
            </a:p>
          </p:txBody>
        </p:sp>
        <p:sp>
          <p:nvSpPr>
            <p:cNvPr id="12" name="Centre text"/>
            <p:cNvSpPr/>
            <p:nvPr/>
          </p:nvSpPr>
          <p:spPr>
            <a:xfrm>
              <a:off x="5505145" y="3204972"/>
              <a:ext cx="1181405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13" name="label#1 &gt; Satellit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47892" y="1218761"/>
              <a:ext cx="987552" cy="98755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4" name="Satellite 1"/>
            <p:cNvSpPr/>
            <p:nvPr/>
          </p:nvSpPr>
          <p:spPr>
            <a:xfrm>
              <a:off x="6546647" y="1416271"/>
              <a:ext cx="790042" cy="5925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5" name="Satellite 1 text"/>
            <p:cNvSpPr/>
            <p:nvPr/>
          </p:nvSpPr>
          <p:spPr>
            <a:xfrm>
              <a:off x="7545172" y="1520513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6" name="label#2 &gt; Satellit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93712" y="2683764"/>
              <a:ext cx="987552" cy="98755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7" name="Satellite 2"/>
            <p:cNvSpPr/>
            <p:nvPr/>
          </p:nvSpPr>
          <p:spPr>
            <a:xfrm>
              <a:off x="7392467" y="2881274"/>
              <a:ext cx="790042" cy="5925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8" name="Satellite 2 text"/>
            <p:cNvSpPr/>
            <p:nvPr/>
          </p:nvSpPr>
          <p:spPr>
            <a:xfrm>
              <a:off x="8390992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9" name="label#3 &gt; Satellit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47892" y="4148767"/>
              <a:ext cx="987552" cy="98755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0" name="Satellite 3"/>
            <p:cNvSpPr/>
            <p:nvPr/>
          </p:nvSpPr>
          <p:spPr>
            <a:xfrm>
              <a:off x="6546647" y="4346278"/>
              <a:ext cx="790042" cy="5925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1" name="Satellite 3 text"/>
            <p:cNvSpPr/>
            <p:nvPr/>
          </p:nvSpPr>
          <p:spPr>
            <a:xfrm>
              <a:off x="7545172" y="4450519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2" name="label#4 &gt; Satellit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6252" y="4148767"/>
              <a:ext cx="987552" cy="98755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3" name="Satellite 4"/>
            <p:cNvSpPr/>
            <p:nvPr/>
          </p:nvSpPr>
          <p:spPr>
            <a:xfrm>
              <a:off x="4855007" y="4346278"/>
              <a:ext cx="790042" cy="5925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4" name="Satellite 4 text"/>
            <p:cNvSpPr/>
            <p:nvPr/>
          </p:nvSpPr>
          <p:spPr>
            <a:xfrm>
              <a:off x="2817724" y="4450519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5" name="label#5 &gt; Satellit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10432" y="2683764"/>
              <a:ext cx="987552" cy="98755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6" name="Satellite 5"/>
            <p:cNvSpPr/>
            <p:nvPr/>
          </p:nvSpPr>
          <p:spPr>
            <a:xfrm>
              <a:off x="4009187" y="2881274"/>
              <a:ext cx="790042" cy="5925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7" name="Satellite 5 text"/>
            <p:cNvSpPr/>
            <p:nvPr/>
          </p:nvSpPr>
          <p:spPr>
            <a:xfrm>
              <a:off x="1971904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8" name="label#6 &gt; Satellite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6252" y="1218761"/>
              <a:ext cx="987552" cy="98755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9" name="Satellite 6"/>
            <p:cNvSpPr/>
            <p:nvPr/>
          </p:nvSpPr>
          <p:spPr>
            <a:xfrm>
              <a:off x="4855007" y="1416271"/>
              <a:ext cx="790042" cy="5925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30" name="Satellite 6 text"/>
            <p:cNvSpPr/>
            <p:nvPr/>
          </p:nvSpPr>
          <p:spPr>
            <a:xfrm>
              <a:off x="2817724" y="1520513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1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6542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32" name="Takeaway"/>
            <p:cNvSpPr/>
            <p:nvPr/>
          </p:nvSpPr>
          <p:spPr>
            <a:xfrm>
              <a:off x="548640" y="47091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V-ORB-01-7  ·  Orbit, 7 satellites</a:t>
            </a:r>
            <a:endParaRPr lang="en-US" sz="1000" dirty="0"/>
          </a:p>
        </p:txBody>
      </p:sp>
      <p:grpSp>
        <p:nvGrpSpPr>
          <p:cNvPr id="37" name="V-ORB-01-7"/>
          <p:cNvGrpSpPr/>
          <p:nvPr/>
        </p:nvGrpSpPr>
        <p:grpSpPr>
          <a:xfrm>
            <a:off x="548640" y="1115568"/>
            <a:ext cx="9427355" cy="4142232"/>
            <a:chOff x="548640" y="1115568"/>
            <a:chExt cx="9427355" cy="4142232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68564" y="1550257"/>
              <a:ext cx="3254567" cy="3254567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268800" y="2054623"/>
              <a:ext cx="83346" cy="365165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796117" y="2677795"/>
              <a:ext cx="337463" cy="162513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96117" y="3514772"/>
              <a:ext cx="337463" cy="162513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68800" y="3935293"/>
              <a:ext cx="83346" cy="365165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8" name="decoration#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5377715" y="3785211"/>
              <a:ext cx="233531" cy="292839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9" name="decoration#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944052" y="3177540"/>
              <a:ext cx="374555" cy="0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0" name="decoration#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77715" y="2277030"/>
              <a:ext cx="233531" cy="292839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1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18608" y="2400300"/>
              <a:ext cx="1554480" cy="15544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2" name="Centre"/>
            <p:cNvSpPr/>
            <p:nvPr/>
          </p:nvSpPr>
          <p:spPr>
            <a:xfrm>
              <a:off x="5505145" y="2711196"/>
              <a:ext cx="1181405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400" dirty="0"/>
            </a:p>
          </p:txBody>
        </p:sp>
        <p:sp>
          <p:nvSpPr>
            <p:cNvPr id="13" name="Centre text"/>
            <p:cNvSpPr/>
            <p:nvPr/>
          </p:nvSpPr>
          <p:spPr>
            <a:xfrm>
              <a:off x="5505145" y="3204972"/>
              <a:ext cx="1181405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14" name="label#1 &gt; Satellit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82464" y="1115568"/>
              <a:ext cx="950976" cy="9509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5" name="Satellite 1"/>
            <p:cNvSpPr/>
            <p:nvPr/>
          </p:nvSpPr>
          <p:spPr>
            <a:xfrm>
              <a:off x="6077562" y="1305763"/>
              <a:ext cx="760781" cy="5705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6" name="Satellite 1 text"/>
            <p:cNvSpPr/>
            <p:nvPr/>
          </p:nvSpPr>
          <p:spPr>
            <a:xfrm>
              <a:off x="7043168" y="1399032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7" name="label#2 &gt; Satellit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086491" y="1996000"/>
              <a:ext cx="950976" cy="9509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8" name="Satellite 2"/>
            <p:cNvSpPr/>
            <p:nvPr/>
          </p:nvSpPr>
          <p:spPr>
            <a:xfrm>
              <a:off x="7181589" y="2186195"/>
              <a:ext cx="760781" cy="5705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9" name="Satellite 2 text"/>
            <p:cNvSpPr/>
            <p:nvPr/>
          </p:nvSpPr>
          <p:spPr>
            <a:xfrm>
              <a:off x="8147195" y="2279464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0" name="label#3 &gt; Satellit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086491" y="3408104"/>
              <a:ext cx="950976" cy="9509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1" name="Satellite 3"/>
            <p:cNvSpPr/>
            <p:nvPr/>
          </p:nvSpPr>
          <p:spPr>
            <a:xfrm>
              <a:off x="7181589" y="3598299"/>
              <a:ext cx="760781" cy="5705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2" name="Satellite 3 text"/>
            <p:cNvSpPr/>
            <p:nvPr/>
          </p:nvSpPr>
          <p:spPr>
            <a:xfrm>
              <a:off x="8147195" y="3691568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3" name="label#4 &gt; Satellit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82464" y="4288536"/>
              <a:ext cx="950976" cy="9509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4" name="Satellite 4"/>
            <p:cNvSpPr/>
            <p:nvPr/>
          </p:nvSpPr>
          <p:spPr>
            <a:xfrm>
              <a:off x="6077562" y="4478731"/>
              <a:ext cx="760781" cy="5705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5" name="Satellite 4 text"/>
            <p:cNvSpPr/>
            <p:nvPr/>
          </p:nvSpPr>
          <p:spPr>
            <a:xfrm>
              <a:off x="7043168" y="4572000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6" name="label#5 &gt; Satellit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05765" y="3974313"/>
              <a:ext cx="950976" cy="9509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7" name="Satellite 5"/>
            <p:cNvSpPr/>
            <p:nvPr/>
          </p:nvSpPr>
          <p:spPr>
            <a:xfrm>
              <a:off x="4700863" y="4164509"/>
              <a:ext cx="760781" cy="5705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8" name="Satellite 5 text"/>
            <p:cNvSpPr/>
            <p:nvPr/>
          </p:nvSpPr>
          <p:spPr>
            <a:xfrm>
              <a:off x="2667237" y="4257777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9" name="label#6 &gt; Satellite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3076" y="2702052"/>
              <a:ext cx="950976" cy="9509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30" name="Satellite 6"/>
            <p:cNvSpPr/>
            <p:nvPr/>
          </p:nvSpPr>
          <p:spPr>
            <a:xfrm>
              <a:off x="4088174" y="2892247"/>
              <a:ext cx="760781" cy="5705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31" name="Satellite 6 text"/>
            <p:cNvSpPr/>
            <p:nvPr/>
          </p:nvSpPr>
          <p:spPr>
            <a:xfrm>
              <a:off x="2054548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2" name="label#7 &gt; Satellit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05765" y="1429791"/>
              <a:ext cx="950976" cy="95097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33" name="Satellite 7"/>
            <p:cNvSpPr/>
            <p:nvPr/>
          </p:nvSpPr>
          <p:spPr>
            <a:xfrm>
              <a:off x="4700863" y="1619986"/>
              <a:ext cx="760781" cy="5705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34" name="Satellite 7 text"/>
            <p:cNvSpPr/>
            <p:nvPr/>
          </p:nvSpPr>
          <p:spPr>
            <a:xfrm>
              <a:off x="2667237" y="1713255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5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6542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36" name="Takeaway"/>
            <p:cNvSpPr/>
            <p:nvPr/>
          </p:nvSpPr>
          <p:spPr>
            <a:xfrm>
              <a:off x="548640" y="47091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V-ORB-01-8  ·  Orbit, 8 satellites</a:t>
            </a:r>
            <a:endParaRPr lang="en-US" sz="1000" dirty="0"/>
          </a:p>
        </p:txBody>
      </p:sp>
      <p:grpSp>
        <p:nvGrpSpPr>
          <p:cNvPr id="41" name="V-ORB-01-8"/>
          <p:cNvGrpSpPr/>
          <p:nvPr/>
        </p:nvGrpSpPr>
        <p:grpSpPr>
          <a:xfrm>
            <a:off x="548640" y="1157468"/>
            <a:ext cx="9505807" cy="4100332"/>
            <a:chOff x="548640" y="1157468"/>
            <a:chExt cx="9505807" cy="4100332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04208" y="1485900"/>
              <a:ext cx="3383280" cy="3383280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393284" y="2037066"/>
              <a:ext cx="174963" cy="422398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6813924" y="2705140"/>
              <a:ext cx="422398" cy="174963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13924" y="3474977"/>
              <a:ext cx="422398" cy="174963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93284" y="3895616"/>
              <a:ext cx="174963" cy="422398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8" name="decoration#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5623448" y="3895616"/>
              <a:ext cx="174963" cy="422398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9" name="decoration#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4955374" y="3474977"/>
              <a:ext cx="422398" cy="174963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0" name="decoration#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955374" y="2705140"/>
              <a:ext cx="422398" cy="174963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1" name="decoration#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23448" y="2037066"/>
              <a:ext cx="174963" cy="422398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12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18608" y="2400300"/>
              <a:ext cx="1554480" cy="15544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3" name="Centre"/>
            <p:cNvSpPr/>
            <p:nvPr/>
          </p:nvSpPr>
          <p:spPr>
            <a:xfrm>
              <a:off x="5505145" y="2711196"/>
              <a:ext cx="1181405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400" dirty="0"/>
            </a:p>
          </p:txBody>
        </p:sp>
        <p:sp>
          <p:nvSpPr>
            <p:cNvPr id="14" name="Centre text"/>
            <p:cNvSpPr/>
            <p:nvPr/>
          </p:nvSpPr>
          <p:spPr>
            <a:xfrm>
              <a:off x="5505145" y="3204972"/>
              <a:ext cx="1181405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15" name="label#1 &gt; Satellit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86010" y="1157468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6" name="Satellite 1"/>
            <p:cNvSpPr/>
            <p:nvPr/>
          </p:nvSpPr>
          <p:spPr>
            <a:xfrm>
              <a:off x="6377450" y="1340348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7" name="Satellite 1 text"/>
            <p:cNvSpPr/>
            <p:nvPr/>
          </p:nvSpPr>
          <p:spPr>
            <a:xfrm>
              <a:off x="7310138" y="1422644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8" name="label#2 &gt; Satellit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01519" y="2072977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9" name="Satellite 2"/>
            <p:cNvSpPr/>
            <p:nvPr/>
          </p:nvSpPr>
          <p:spPr>
            <a:xfrm>
              <a:off x="7292959" y="2255857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0" name="Satellite 2 text"/>
            <p:cNvSpPr/>
            <p:nvPr/>
          </p:nvSpPr>
          <p:spPr>
            <a:xfrm>
              <a:off x="8225647" y="2338153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1" name="label#3 &gt; Satellit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01519" y="3367703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2" name="Satellite 3"/>
            <p:cNvSpPr/>
            <p:nvPr/>
          </p:nvSpPr>
          <p:spPr>
            <a:xfrm>
              <a:off x="7292959" y="3550583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3" name="Satellite 3 text"/>
            <p:cNvSpPr/>
            <p:nvPr/>
          </p:nvSpPr>
          <p:spPr>
            <a:xfrm>
              <a:off x="8225647" y="3632879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4" name="label#4 &gt; Satellit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86010" y="4283212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5" name="Satellite 4"/>
            <p:cNvSpPr/>
            <p:nvPr/>
          </p:nvSpPr>
          <p:spPr>
            <a:xfrm>
              <a:off x="6377450" y="4466092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6" name="Satellite 4 text"/>
            <p:cNvSpPr/>
            <p:nvPr/>
          </p:nvSpPr>
          <p:spPr>
            <a:xfrm>
              <a:off x="7310138" y="4548388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7" name="label#5 &gt; Satellit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991285" y="4283212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8" name="Satellite 5"/>
            <p:cNvSpPr/>
            <p:nvPr/>
          </p:nvSpPr>
          <p:spPr>
            <a:xfrm>
              <a:off x="5082725" y="4466092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9" name="Satellite 5 text"/>
            <p:cNvSpPr/>
            <p:nvPr/>
          </p:nvSpPr>
          <p:spPr>
            <a:xfrm>
              <a:off x="3052757" y="4548388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0" name="label#6 &gt; Satellite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075776" y="3367703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31" name="Satellite 6"/>
            <p:cNvSpPr/>
            <p:nvPr/>
          </p:nvSpPr>
          <p:spPr>
            <a:xfrm>
              <a:off x="4167216" y="3550583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32" name="Satellite 6 text"/>
            <p:cNvSpPr/>
            <p:nvPr/>
          </p:nvSpPr>
          <p:spPr>
            <a:xfrm>
              <a:off x="2137248" y="3632879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3" name="label#7 &gt; Satellit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075776" y="2072977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34" name="Satellite 7"/>
            <p:cNvSpPr/>
            <p:nvPr/>
          </p:nvSpPr>
          <p:spPr>
            <a:xfrm>
              <a:off x="4167216" y="2255857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35" name="Satellite 7 text"/>
            <p:cNvSpPr/>
            <p:nvPr/>
          </p:nvSpPr>
          <p:spPr>
            <a:xfrm>
              <a:off x="2137248" y="2338153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6" name="label#8 &gt; Satellit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991285" y="1157468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37" name="Satellite 8"/>
            <p:cNvSpPr/>
            <p:nvPr/>
          </p:nvSpPr>
          <p:spPr>
            <a:xfrm>
              <a:off x="5082725" y="1340348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38" name="Satellite 8 text"/>
            <p:cNvSpPr/>
            <p:nvPr/>
          </p:nvSpPr>
          <p:spPr>
            <a:xfrm>
              <a:off x="3052757" y="1422644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9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6542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40" name="Takeaway"/>
            <p:cNvSpPr/>
            <p:nvPr/>
          </p:nvSpPr>
          <p:spPr>
            <a:xfrm>
              <a:off x="548640" y="47091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V-ORB-02-2x4  ·  Two orbits, 2 + 4 satellites</a:t>
            </a:r>
            <a:endParaRPr lang="en-US" sz="1000" dirty="0"/>
          </a:p>
        </p:txBody>
      </p:sp>
      <p:grpSp>
        <p:nvGrpSpPr>
          <p:cNvPr id="26" name="V-ORB-02-2x4"/>
          <p:cNvGrpSpPr/>
          <p:nvPr/>
        </p:nvGrpSpPr>
        <p:grpSpPr>
          <a:xfrm>
            <a:off x="548640" y="1394460"/>
            <a:ext cx="10076644" cy="3863340"/>
            <a:chOff x="548640" y="1394460"/>
            <a:chExt cx="10076644" cy="3863340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78328" y="1394460"/>
              <a:ext cx="6035040" cy="3566160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04208" y="2208276"/>
              <a:ext cx="3383280" cy="1938528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32908" y="2514600"/>
              <a:ext cx="1325880" cy="13258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6" name="Centre"/>
            <p:cNvSpPr/>
            <p:nvPr/>
          </p:nvSpPr>
          <p:spPr>
            <a:xfrm>
              <a:off x="5592013" y="2779776"/>
              <a:ext cx="1007669" cy="3794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000" dirty="0"/>
            </a:p>
          </p:txBody>
        </p:sp>
        <p:sp>
          <p:nvSpPr>
            <p:cNvPr id="7" name="Centre text"/>
            <p:cNvSpPr/>
            <p:nvPr/>
          </p:nvSpPr>
          <p:spPr>
            <a:xfrm>
              <a:off x="5592013" y="3204972"/>
              <a:ext cx="1007669" cy="3579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8" name="label#1 &gt; Inne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57720" y="2747772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9" name="Inner 1"/>
            <p:cNvSpPr/>
            <p:nvPr/>
          </p:nvSpPr>
          <p:spPr>
            <a:xfrm>
              <a:off x="7443673" y="2919679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0" name="label#2 &gt; Inne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440" y="2747772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11" name="Inner 2"/>
            <p:cNvSpPr/>
            <p:nvPr/>
          </p:nvSpPr>
          <p:spPr>
            <a:xfrm>
              <a:off x="4060393" y="2919679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2" name="label#3 &gt; Oute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72356" y="1459512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3" name="Outer 1"/>
            <p:cNvSpPr/>
            <p:nvPr/>
          </p:nvSpPr>
          <p:spPr>
            <a:xfrm>
              <a:off x="7863796" y="1642392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14" name="Outer 1 text"/>
            <p:cNvSpPr/>
            <p:nvPr/>
          </p:nvSpPr>
          <p:spPr>
            <a:xfrm>
              <a:off x="8796484" y="1724688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5" name="label#4 &gt; Oute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72356" y="3981168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6" name="Outer 2"/>
            <p:cNvSpPr/>
            <p:nvPr/>
          </p:nvSpPr>
          <p:spPr>
            <a:xfrm>
              <a:off x="7863796" y="4164048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17" name="Outer 2 text"/>
            <p:cNvSpPr/>
            <p:nvPr/>
          </p:nvSpPr>
          <p:spPr>
            <a:xfrm>
              <a:off x="8796484" y="4246344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8" name="label#5 &gt; Outer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04939" y="3981168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9" name="Outer 3"/>
            <p:cNvSpPr/>
            <p:nvPr/>
          </p:nvSpPr>
          <p:spPr>
            <a:xfrm>
              <a:off x="3596379" y="4164048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0" name="Outer 3 text"/>
            <p:cNvSpPr/>
            <p:nvPr/>
          </p:nvSpPr>
          <p:spPr>
            <a:xfrm>
              <a:off x="1566411" y="4246344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1" name="label#6 &gt; Outer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04939" y="1459512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2" name="Outer 4"/>
            <p:cNvSpPr/>
            <p:nvPr/>
          </p:nvSpPr>
          <p:spPr>
            <a:xfrm>
              <a:off x="3596379" y="1642392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3" name="Outer 4 text"/>
            <p:cNvSpPr/>
            <p:nvPr/>
          </p:nvSpPr>
          <p:spPr>
            <a:xfrm>
              <a:off x="1566411" y="1724688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4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6542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25" name="Takeaway"/>
            <p:cNvSpPr/>
            <p:nvPr/>
          </p:nvSpPr>
          <p:spPr>
            <a:xfrm>
              <a:off x="548640" y="47091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V-ORB-02-3x5  ·  Two orbits, 3 + 5 satellites</a:t>
            </a:r>
            <a:endParaRPr lang="en-US" sz="1000" dirty="0"/>
          </a:p>
        </p:txBody>
      </p:sp>
      <p:grpSp>
        <p:nvGrpSpPr>
          <p:cNvPr id="31" name="V-ORB-02-3x5"/>
          <p:cNvGrpSpPr/>
          <p:nvPr/>
        </p:nvGrpSpPr>
        <p:grpSpPr>
          <a:xfrm>
            <a:off x="548640" y="1115568"/>
            <a:ext cx="10960456" cy="4142232"/>
            <a:chOff x="548640" y="1115568"/>
            <a:chExt cx="10960456" cy="4142232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78328" y="1490183"/>
              <a:ext cx="6035040" cy="3374714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04208" y="2208276"/>
              <a:ext cx="3383280" cy="1938528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32908" y="2514600"/>
              <a:ext cx="1325880" cy="13258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6" name="Centre"/>
            <p:cNvSpPr/>
            <p:nvPr/>
          </p:nvSpPr>
          <p:spPr>
            <a:xfrm>
              <a:off x="5592013" y="2779776"/>
              <a:ext cx="1007669" cy="3794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000" dirty="0"/>
            </a:p>
          </p:txBody>
        </p:sp>
        <p:sp>
          <p:nvSpPr>
            <p:cNvPr id="7" name="Centre text"/>
            <p:cNvSpPr/>
            <p:nvPr/>
          </p:nvSpPr>
          <p:spPr>
            <a:xfrm>
              <a:off x="5592013" y="3204972"/>
              <a:ext cx="1007669" cy="3579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8" name="label#1 &gt; Inne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57720" y="2747772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9" name="Inner 1"/>
            <p:cNvSpPr/>
            <p:nvPr/>
          </p:nvSpPr>
          <p:spPr>
            <a:xfrm>
              <a:off x="7443673" y="2919679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0" name="label#2 &gt; Inne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820260" y="3587179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11" name="Inner 2"/>
            <p:cNvSpPr/>
            <p:nvPr/>
          </p:nvSpPr>
          <p:spPr>
            <a:xfrm>
              <a:off x="4906213" y="3759086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2" name="label#3 &gt; Inner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820260" y="1908365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13" name="Inner 3"/>
            <p:cNvSpPr/>
            <p:nvPr/>
          </p:nvSpPr>
          <p:spPr>
            <a:xfrm>
              <a:off x="4906213" y="2080272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4" name="label#4 &gt; Oute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71113" y="1115568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5" name="Outer 1"/>
            <p:cNvSpPr/>
            <p:nvPr/>
          </p:nvSpPr>
          <p:spPr>
            <a:xfrm>
              <a:off x="6662553" y="1298448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16" name="Outer 1 text"/>
            <p:cNvSpPr/>
            <p:nvPr/>
          </p:nvSpPr>
          <p:spPr>
            <a:xfrm>
              <a:off x="7595241" y="12710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7" name="label#5 &gt; Oute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56168" y="2720340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8" name="Outer 2"/>
            <p:cNvSpPr/>
            <p:nvPr/>
          </p:nvSpPr>
          <p:spPr>
            <a:xfrm>
              <a:off x="8747608" y="2903220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19" name="Outer 2 text"/>
            <p:cNvSpPr/>
            <p:nvPr/>
          </p:nvSpPr>
          <p:spPr>
            <a:xfrm>
              <a:off x="9680296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0" name="label#6 &gt; Outer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71113" y="4325112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1" name="Outer 3"/>
            <p:cNvSpPr/>
            <p:nvPr/>
          </p:nvSpPr>
          <p:spPr>
            <a:xfrm>
              <a:off x="6662553" y="4507992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2" name="Outer 3 text"/>
            <p:cNvSpPr/>
            <p:nvPr/>
          </p:nvSpPr>
          <p:spPr>
            <a:xfrm>
              <a:off x="7595241" y="47000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3" name="label#7 &gt; Outer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97423" y="3712144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4" name="Outer 4"/>
            <p:cNvSpPr/>
            <p:nvPr/>
          </p:nvSpPr>
          <p:spPr>
            <a:xfrm>
              <a:off x="3288863" y="3895024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5" name="Outer 4 text"/>
            <p:cNvSpPr/>
            <p:nvPr/>
          </p:nvSpPr>
          <p:spPr>
            <a:xfrm>
              <a:off x="1258895" y="3977320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6" name="label#8 &gt; Outer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97423" y="1728536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7" name="Outer 5"/>
            <p:cNvSpPr/>
            <p:nvPr/>
          </p:nvSpPr>
          <p:spPr>
            <a:xfrm>
              <a:off x="3288863" y="1911416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8" name="Outer 5 text"/>
            <p:cNvSpPr/>
            <p:nvPr/>
          </p:nvSpPr>
          <p:spPr>
            <a:xfrm>
              <a:off x="1258895" y="1993712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9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6542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30" name="Takeaway"/>
            <p:cNvSpPr/>
            <p:nvPr/>
          </p:nvSpPr>
          <p:spPr>
            <a:xfrm>
              <a:off x="548640" y="47091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V-ORB-02-3x6  ·  Two orbits, 3 + 6 satellites</a:t>
            </a:r>
            <a:endParaRPr lang="en-US" sz="1000" dirty="0"/>
          </a:p>
        </p:txBody>
      </p:sp>
      <p:grpSp>
        <p:nvGrpSpPr>
          <p:cNvPr id="34" name="V-ORB-02-3x6"/>
          <p:cNvGrpSpPr/>
          <p:nvPr/>
        </p:nvGrpSpPr>
        <p:grpSpPr>
          <a:xfrm>
            <a:off x="548640" y="1176147"/>
            <a:ext cx="10960456" cy="4081653"/>
            <a:chOff x="548640" y="1176147"/>
            <a:chExt cx="10960456" cy="4081653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78328" y="1394460"/>
              <a:ext cx="6035040" cy="3566160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04208" y="2208276"/>
              <a:ext cx="3383280" cy="1938528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32908" y="2514600"/>
              <a:ext cx="1325880" cy="13258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6" name="Centre"/>
            <p:cNvSpPr/>
            <p:nvPr/>
          </p:nvSpPr>
          <p:spPr>
            <a:xfrm>
              <a:off x="5592013" y="2779776"/>
              <a:ext cx="1007669" cy="3794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000" dirty="0"/>
            </a:p>
          </p:txBody>
        </p:sp>
        <p:sp>
          <p:nvSpPr>
            <p:cNvPr id="7" name="Centre text"/>
            <p:cNvSpPr/>
            <p:nvPr/>
          </p:nvSpPr>
          <p:spPr>
            <a:xfrm>
              <a:off x="5592013" y="3204972"/>
              <a:ext cx="1007669" cy="3579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8" name="label#1 &gt; Inne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11900" y="1908365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9" name="Inner 1"/>
            <p:cNvSpPr/>
            <p:nvPr/>
          </p:nvSpPr>
          <p:spPr>
            <a:xfrm>
              <a:off x="6597853" y="2080272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0" name="label#2 &gt; Inne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11900" y="3587179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11" name="Inner 2"/>
            <p:cNvSpPr/>
            <p:nvPr/>
          </p:nvSpPr>
          <p:spPr>
            <a:xfrm>
              <a:off x="6597853" y="3759086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2" name="label#3 &gt; Inner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440" y="2747772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13" name="Inner 3"/>
            <p:cNvSpPr/>
            <p:nvPr/>
          </p:nvSpPr>
          <p:spPr>
            <a:xfrm>
              <a:off x="4060393" y="2919679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4" name="label#4 &gt; Oute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147408" y="1176147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5" name="Outer 1"/>
            <p:cNvSpPr/>
            <p:nvPr/>
          </p:nvSpPr>
          <p:spPr>
            <a:xfrm>
              <a:off x="7238848" y="1359027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16" name="Outer 1 text"/>
            <p:cNvSpPr/>
            <p:nvPr/>
          </p:nvSpPr>
          <p:spPr>
            <a:xfrm>
              <a:off x="8171536" y="1423035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7" name="label#5 &gt; Oute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56168" y="2720340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8" name="Outer 2"/>
            <p:cNvSpPr/>
            <p:nvPr/>
          </p:nvSpPr>
          <p:spPr>
            <a:xfrm>
              <a:off x="8747608" y="2903220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19" name="Outer 2 text"/>
            <p:cNvSpPr/>
            <p:nvPr/>
          </p:nvSpPr>
          <p:spPr>
            <a:xfrm>
              <a:off x="9680296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0" name="label#6 &gt; Outer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147408" y="4264533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1" name="Outer 3"/>
            <p:cNvSpPr/>
            <p:nvPr/>
          </p:nvSpPr>
          <p:spPr>
            <a:xfrm>
              <a:off x="7238848" y="4447413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2" name="Outer 3 text"/>
            <p:cNvSpPr/>
            <p:nvPr/>
          </p:nvSpPr>
          <p:spPr>
            <a:xfrm>
              <a:off x="8171536" y="4547997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3" name="label#7 &gt; Outer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29888" y="4264533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4" name="Outer 4"/>
            <p:cNvSpPr/>
            <p:nvPr/>
          </p:nvSpPr>
          <p:spPr>
            <a:xfrm>
              <a:off x="4221328" y="4447413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5" name="Outer 4 text"/>
            <p:cNvSpPr/>
            <p:nvPr/>
          </p:nvSpPr>
          <p:spPr>
            <a:xfrm>
              <a:off x="2191360" y="4547997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6" name="label#8 &gt; Outer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21128" y="2720340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7" name="Outer 5"/>
            <p:cNvSpPr/>
            <p:nvPr/>
          </p:nvSpPr>
          <p:spPr>
            <a:xfrm>
              <a:off x="2712568" y="2903220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8" name="Outer 5 text"/>
            <p:cNvSpPr/>
            <p:nvPr/>
          </p:nvSpPr>
          <p:spPr>
            <a:xfrm>
              <a:off x="682600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9" name="label#9 &gt; Outer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29888" y="1176147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30" name="Outer 6"/>
            <p:cNvSpPr/>
            <p:nvPr/>
          </p:nvSpPr>
          <p:spPr>
            <a:xfrm>
              <a:off x="4221328" y="1359027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31" name="Outer 6 text"/>
            <p:cNvSpPr/>
            <p:nvPr/>
          </p:nvSpPr>
          <p:spPr>
            <a:xfrm>
              <a:off x="2191360" y="1423035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2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4256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33" name="Takeaway"/>
            <p:cNvSpPr/>
            <p:nvPr/>
          </p:nvSpPr>
          <p:spPr>
            <a:xfrm>
              <a:off x="548640" y="4480560"/>
              <a:ext cx="15544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V-ORB-02-4x6  ·  Two orbits, 4 + 6 satellites</a:t>
            </a:r>
            <a:endParaRPr lang="en-US" sz="1000" dirty="0"/>
          </a:p>
        </p:txBody>
      </p:sp>
      <p:grpSp>
        <p:nvGrpSpPr>
          <p:cNvPr id="36" name="V-ORB-02-4x6"/>
          <p:cNvGrpSpPr/>
          <p:nvPr/>
        </p:nvGrpSpPr>
        <p:grpSpPr>
          <a:xfrm>
            <a:off x="548640" y="1176147"/>
            <a:ext cx="10960456" cy="4081653"/>
            <a:chOff x="548640" y="1176147"/>
            <a:chExt cx="10960456" cy="4081653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78328" y="1394460"/>
              <a:ext cx="6035040" cy="3566160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04208" y="2208276"/>
              <a:ext cx="3383280" cy="1938528"/>
            </a:xfrm>
            <a:prstGeom prst="ellipse">
              <a:avLst/>
            </a:pr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32908" y="2514600"/>
              <a:ext cx="1325880" cy="132588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6" name="Centre"/>
            <p:cNvSpPr/>
            <p:nvPr/>
          </p:nvSpPr>
          <p:spPr>
            <a:xfrm>
              <a:off x="5592013" y="2779776"/>
              <a:ext cx="1007669" cy="3794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000" dirty="0"/>
            </a:p>
          </p:txBody>
        </p:sp>
        <p:sp>
          <p:nvSpPr>
            <p:cNvPr id="7" name="Centre text"/>
            <p:cNvSpPr/>
            <p:nvPr/>
          </p:nvSpPr>
          <p:spPr>
            <a:xfrm>
              <a:off x="5592013" y="3204972"/>
              <a:ext cx="1007669" cy="3579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8" name="label#1 &gt; Inne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86203" y="1900035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9" name="Inner 1"/>
            <p:cNvSpPr/>
            <p:nvPr/>
          </p:nvSpPr>
          <p:spPr>
            <a:xfrm>
              <a:off x="6572157" y="2071942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0" name="label#2 &gt; Inne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145621" y="3217681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11" name="Inner 2"/>
            <p:cNvSpPr/>
            <p:nvPr/>
          </p:nvSpPr>
          <p:spPr>
            <a:xfrm>
              <a:off x="7231575" y="3389588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2" name="label#3 &gt; Inner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845956" y="3595509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13" name="Inner 3"/>
            <p:cNvSpPr/>
            <p:nvPr/>
          </p:nvSpPr>
          <p:spPr>
            <a:xfrm>
              <a:off x="4931910" y="3767417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4" name="label#4 &gt; Inner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86538" y="2277863"/>
              <a:ext cx="859536" cy="859536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sp>
          <p:nvSpPr>
            <p:cNvPr id="15" name="Inner 4"/>
            <p:cNvSpPr/>
            <p:nvPr/>
          </p:nvSpPr>
          <p:spPr>
            <a:xfrm>
              <a:off x="4272492" y="2449771"/>
              <a:ext cx="687629" cy="515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Inner item</a:t>
              </a:r>
              <a:endParaRPr lang="en-US" sz="1000" dirty="0"/>
            </a:p>
          </p:txBody>
        </p:sp>
        <p:sp>
          <p:nvSpPr>
            <p:cNvPr id="16" name="label#5 &gt; Outer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147408" y="1176147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7" name="Outer 1"/>
            <p:cNvSpPr/>
            <p:nvPr/>
          </p:nvSpPr>
          <p:spPr>
            <a:xfrm>
              <a:off x="7238848" y="1359027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18" name="Outer 1 text"/>
            <p:cNvSpPr/>
            <p:nvPr/>
          </p:nvSpPr>
          <p:spPr>
            <a:xfrm>
              <a:off x="8171536" y="1423035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9" name="label#6 &gt; Outer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56168" y="2720340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0" name="Outer 2"/>
            <p:cNvSpPr/>
            <p:nvPr/>
          </p:nvSpPr>
          <p:spPr>
            <a:xfrm>
              <a:off x="8747608" y="2903220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1" name="Outer 2 text"/>
            <p:cNvSpPr/>
            <p:nvPr/>
          </p:nvSpPr>
          <p:spPr>
            <a:xfrm>
              <a:off x="9680296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2" name="label#7 &gt; Outer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147408" y="4264533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3" name="Outer 3"/>
            <p:cNvSpPr/>
            <p:nvPr/>
          </p:nvSpPr>
          <p:spPr>
            <a:xfrm>
              <a:off x="7238848" y="4447413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4" name="Outer 3 text"/>
            <p:cNvSpPr/>
            <p:nvPr/>
          </p:nvSpPr>
          <p:spPr>
            <a:xfrm>
              <a:off x="8171536" y="4547997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5" name="label#8 &gt; Outer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29888" y="4264533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6" name="Outer 4"/>
            <p:cNvSpPr/>
            <p:nvPr/>
          </p:nvSpPr>
          <p:spPr>
            <a:xfrm>
              <a:off x="4221328" y="4447413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27" name="Outer 4 text"/>
            <p:cNvSpPr/>
            <p:nvPr/>
          </p:nvSpPr>
          <p:spPr>
            <a:xfrm>
              <a:off x="2191360" y="4547997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8" name="label#9 &gt; Outer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21128" y="2720340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9" name="Outer 5"/>
            <p:cNvSpPr/>
            <p:nvPr/>
          </p:nvSpPr>
          <p:spPr>
            <a:xfrm>
              <a:off x="2712568" y="2903220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30" name="Outer 5 text"/>
            <p:cNvSpPr/>
            <p:nvPr/>
          </p:nvSpPr>
          <p:spPr>
            <a:xfrm>
              <a:off x="682600" y="298551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1" name="label#10 &gt; Outer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29888" y="1176147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32" name="Outer 6"/>
            <p:cNvSpPr/>
            <p:nvPr/>
          </p:nvSpPr>
          <p:spPr>
            <a:xfrm>
              <a:off x="4221328" y="1359027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Outer item</a:t>
              </a:r>
              <a:endParaRPr lang="en-US" sz="1000" dirty="0"/>
            </a:p>
          </p:txBody>
        </p:sp>
        <p:sp>
          <p:nvSpPr>
            <p:cNvPr id="33" name="Outer 6 text"/>
            <p:cNvSpPr/>
            <p:nvPr/>
          </p:nvSpPr>
          <p:spPr>
            <a:xfrm>
              <a:off x="2191360" y="1423035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34" name="Takeaway mark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4425696"/>
              <a:ext cx="457200" cy="9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solid"/>
            </a:ln>
          </p:spPr>
        </p:sp>
        <p:sp>
          <p:nvSpPr>
            <p:cNvPr id="35" name="Takeaway"/>
            <p:cNvSpPr/>
            <p:nvPr/>
          </p:nvSpPr>
          <p:spPr>
            <a:xfrm>
              <a:off x="548640" y="4480560"/>
              <a:ext cx="15544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the picture says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V-ORB-03-3  ·  Half orbit, 3 satellites</a:t>
            </a:r>
            <a:endParaRPr lang="en-US" sz="1000" dirty="0"/>
          </a:p>
        </p:txBody>
      </p:sp>
      <p:grpSp>
        <p:nvGrpSpPr>
          <p:cNvPr id="19" name="V-ORB-03-3"/>
          <p:cNvGrpSpPr/>
          <p:nvPr/>
        </p:nvGrpSpPr>
        <p:grpSpPr>
          <a:xfrm>
            <a:off x="548640" y="1150749"/>
            <a:ext cx="5394960" cy="3733542"/>
            <a:chOff x="548640" y="1150749"/>
            <a:chExt cx="5394960" cy="3733542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34440" y="1389888"/>
              <a:ext cx="1627632" cy="3255264"/>
            </a:xfrm>
            <a:custGeom>
              <a:avLst/>
              <a:gdLst/>
              <a:ahLst/>
              <a:cxnLst/>
              <a:rect l="l" t="t" r="r" b="b"/>
              <a:pathLst>
                <a:path w="1627632" h="3255264">
                  <a:moveTo>
                    <a:pt x="0" y="0"/>
                  </a:moveTo>
                  <a:arcTo hR="1627632" wR="1627632" stAng="16200000" swAng="10800000"/>
                </a:path>
              </a:pathLst>
            </a:cu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1577340" y="2003896"/>
              <a:ext cx="242316" cy="419704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20240" y="3017520"/>
              <a:ext cx="484632" cy="91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77340" y="3611440"/>
              <a:ext cx="242316" cy="419704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331720"/>
              <a:ext cx="1371600" cy="137160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8" name="Centre"/>
            <p:cNvSpPr/>
            <p:nvPr/>
          </p:nvSpPr>
          <p:spPr>
            <a:xfrm>
              <a:off x="713232" y="2606040"/>
              <a:ext cx="1042416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200" dirty="0"/>
            </a:p>
          </p:txBody>
        </p:sp>
        <p:sp>
          <p:nvSpPr>
            <p:cNvPr id="9" name="Centre text"/>
            <p:cNvSpPr/>
            <p:nvPr/>
          </p:nvSpPr>
          <p:spPr>
            <a:xfrm>
              <a:off x="713232" y="3044952"/>
              <a:ext cx="1042416" cy="3703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10" name="label#1 &gt; Satellit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91056" y="1150749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1" name="Satellite 1"/>
            <p:cNvSpPr/>
            <p:nvPr/>
          </p:nvSpPr>
          <p:spPr>
            <a:xfrm>
              <a:off x="1682496" y="1333629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2" name="Satellite 1 text"/>
            <p:cNvSpPr/>
            <p:nvPr/>
          </p:nvSpPr>
          <p:spPr>
            <a:xfrm>
              <a:off x="2615184" y="1415925"/>
              <a:ext cx="33284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3" name="label#2 &gt; Satellit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404872" y="2560320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4" name="Satellite 2"/>
            <p:cNvSpPr/>
            <p:nvPr/>
          </p:nvSpPr>
          <p:spPr>
            <a:xfrm>
              <a:off x="2496312" y="2743200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5" name="Satellite 2 text"/>
            <p:cNvSpPr/>
            <p:nvPr/>
          </p:nvSpPr>
          <p:spPr>
            <a:xfrm>
              <a:off x="3429000" y="2825496"/>
              <a:ext cx="2514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6" name="label#3 &gt; Satellit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91056" y="3969891"/>
              <a:ext cx="914400" cy="9144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7" name="Satellite 3"/>
            <p:cNvSpPr/>
            <p:nvPr/>
          </p:nvSpPr>
          <p:spPr>
            <a:xfrm>
              <a:off x="1682496" y="4152771"/>
              <a:ext cx="731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8" name="Satellite 3 text"/>
            <p:cNvSpPr/>
            <p:nvPr/>
          </p:nvSpPr>
          <p:spPr>
            <a:xfrm>
              <a:off x="2615184" y="4235067"/>
              <a:ext cx="33284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V-ORB-03-4  ·  Half orbit, 4 satellites</a:t>
            </a:r>
            <a:endParaRPr lang="en-US" sz="1000" dirty="0"/>
          </a:p>
        </p:txBody>
      </p:sp>
      <p:grpSp>
        <p:nvGrpSpPr>
          <p:cNvPr id="23" name="V-ORB-03-4"/>
          <p:cNvGrpSpPr/>
          <p:nvPr/>
        </p:nvGrpSpPr>
        <p:grpSpPr>
          <a:xfrm>
            <a:off x="548640" y="1115568"/>
            <a:ext cx="5394960" cy="3803904"/>
            <a:chOff x="548640" y="1115568"/>
            <a:chExt cx="5394960" cy="3803904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34440" y="1414142"/>
              <a:ext cx="1603378" cy="3206756"/>
            </a:xfrm>
            <a:custGeom>
              <a:avLst/>
              <a:gdLst/>
              <a:ahLst/>
              <a:cxnLst/>
              <a:rect l="l" t="t" r="r" b="b"/>
              <a:pathLst>
                <a:path w="1603378" h="3206756">
                  <a:moveTo>
                    <a:pt x="0" y="0"/>
                  </a:moveTo>
                  <a:arcTo hR="1603400" wR="1603400" stAng="16200000" swAng="10800000"/>
                </a:path>
              </a:pathLst>
            </a:cu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1496884" y="1924798"/>
              <a:ext cx="190176" cy="459126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1868037" y="2564900"/>
              <a:ext cx="459126" cy="190176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68037" y="3279964"/>
              <a:ext cx="459126" cy="190176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96884" y="3651117"/>
              <a:ext cx="190176" cy="459126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8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331720"/>
              <a:ext cx="1371600" cy="137160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9" name="Centre"/>
            <p:cNvSpPr/>
            <p:nvPr/>
          </p:nvSpPr>
          <p:spPr>
            <a:xfrm>
              <a:off x="713232" y="2606040"/>
              <a:ext cx="1042416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200" dirty="0"/>
            </a:p>
          </p:txBody>
        </p:sp>
        <p:sp>
          <p:nvSpPr>
            <p:cNvPr id="10" name="Centre text"/>
            <p:cNvSpPr/>
            <p:nvPr/>
          </p:nvSpPr>
          <p:spPr>
            <a:xfrm>
              <a:off x="713232" y="3044952"/>
              <a:ext cx="1042416" cy="3703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11" name="label#1 &gt; Satellit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7402" y="1115568"/>
              <a:ext cx="841248" cy="8412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2" name="Satellite 1"/>
            <p:cNvSpPr/>
            <p:nvPr/>
          </p:nvSpPr>
          <p:spPr>
            <a:xfrm>
              <a:off x="1511527" y="1283818"/>
              <a:ext cx="672998" cy="5047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3" name="Satellite 1 text"/>
            <p:cNvSpPr/>
            <p:nvPr/>
          </p:nvSpPr>
          <p:spPr>
            <a:xfrm>
              <a:off x="2378378" y="1344168"/>
              <a:ext cx="356522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4" name="label#2 &gt; Satellit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295144" y="1983310"/>
              <a:ext cx="841248" cy="8412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5" name="Satellite 2"/>
            <p:cNvSpPr/>
            <p:nvPr/>
          </p:nvSpPr>
          <p:spPr>
            <a:xfrm>
              <a:off x="2379269" y="2151559"/>
              <a:ext cx="672998" cy="5047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6" name="Satellite 2 text"/>
            <p:cNvSpPr/>
            <p:nvPr/>
          </p:nvSpPr>
          <p:spPr>
            <a:xfrm>
              <a:off x="3246120" y="2211910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7" name="label#3 &gt; Satellit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295144" y="3210482"/>
              <a:ext cx="841248" cy="8412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8" name="Satellite 3"/>
            <p:cNvSpPr/>
            <p:nvPr/>
          </p:nvSpPr>
          <p:spPr>
            <a:xfrm>
              <a:off x="2379269" y="3378732"/>
              <a:ext cx="672998" cy="5047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9" name="Satellite 3 text"/>
            <p:cNvSpPr/>
            <p:nvPr/>
          </p:nvSpPr>
          <p:spPr>
            <a:xfrm>
              <a:off x="3246120" y="3439082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0" name="label#4 &gt; Satellit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7402" y="4078224"/>
              <a:ext cx="841248" cy="8412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1" name="Satellite 4"/>
            <p:cNvSpPr/>
            <p:nvPr/>
          </p:nvSpPr>
          <p:spPr>
            <a:xfrm>
              <a:off x="1511527" y="4246474"/>
              <a:ext cx="672998" cy="5047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2" name="Satellite 4 text"/>
            <p:cNvSpPr/>
            <p:nvPr/>
          </p:nvSpPr>
          <p:spPr>
            <a:xfrm>
              <a:off x="2378378" y="4306824"/>
              <a:ext cx="356522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V-ORB-03-5  ·  Half orbit, 5 satellites</a:t>
            </a:r>
            <a:endParaRPr lang="en-US" sz="1000" dirty="0"/>
          </a:p>
        </p:txBody>
      </p:sp>
      <p:grpSp>
        <p:nvGrpSpPr>
          <p:cNvPr id="27" name="V-ORB-03-5"/>
          <p:cNvGrpSpPr/>
          <p:nvPr/>
        </p:nvGrpSpPr>
        <p:grpSpPr>
          <a:xfrm>
            <a:off x="548640" y="1115568"/>
            <a:ext cx="5394960" cy="3803904"/>
            <a:chOff x="548640" y="1115568"/>
            <a:chExt cx="5394960" cy="3803904"/>
          </a:xfrm>
        </p:grpSpPr>
        <p:sp>
          <p:nvSpPr>
            <p:cNvPr id="3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34440" y="1421501"/>
              <a:ext cx="1596019" cy="3192037"/>
            </a:xfrm>
            <a:custGeom>
              <a:avLst/>
              <a:gdLst/>
              <a:ahLst/>
              <a:cxnLst/>
              <a:rect l="l" t="t" r="r" b="b"/>
              <a:pathLst>
                <a:path w="1596019" h="3192037">
                  <a:moveTo>
                    <a:pt x="0" y="0"/>
                  </a:moveTo>
                  <a:arcTo hR="1595994" wR="1595994" stAng="16200000" swAng="10800000"/>
                </a:path>
              </a:pathLst>
            </a:custGeom>
            <a:ln w="15875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4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1446364" y="1864867"/>
              <a:ext cx="162596" cy="500418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5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1789264" y="2305141"/>
              <a:ext cx="425681" cy="309275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6" name="decoration#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20240" y="3017520"/>
              <a:ext cx="526171" cy="91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7" name="decoration#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89264" y="3420623"/>
              <a:ext cx="425681" cy="309275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8" name="decoration#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46364" y="3669755"/>
              <a:ext cx="162596" cy="500418"/>
            </a:xfrm>
            <a:prstGeom prst="line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</p:sp>
        <p:sp>
          <p:nvSpPr>
            <p:cNvPr id="9" name="callout#1 &gt; Centr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2331720"/>
              <a:ext cx="1371600" cy="137160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0" name="Centre"/>
            <p:cNvSpPr/>
            <p:nvPr/>
          </p:nvSpPr>
          <p:spPr>
            <a:xfrm>
              <a:off x="713232" y="2606040"/>
              <a:ext cx="1042416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Centre</a:t>
              </a:r>
              <a:endParaRPr lang="en-US" sz="1200" dirty="0"/>
            </a:p>
          </p:txBody>
        </p:sp>
        <p:sp>
          <p:nvSpPr>
            <p:cNvPr id="11" name="Centre text"/>
            <p:cNvSpPr/>
            <p:nvPr/>
          </p:nvSpPr>
          <p:spPr>
            <a:xfrm>
              <a:off x="713232" y="3044952"/>
              <a:ext cx="1042416" cy="3703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sits at the core</a:t>
              </a:r>
              <a:endParaRPr lang="en-US" sz="1000" dirty="0"/>
            </a:p>
          </p:txBody>
        </p:sp>
        <p:sp>
          <p:nvSpPr>
            <p:cNvPr id="12" name="label#1 &gt; Satellit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43589" y="1115568"/>
              <a:ext cx="768096" cy="7680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3" name="Satellite 1"/>
            <p:cNvSpPr/>
            <p:nvPr/>
          </p:nvSpPr>
          <p:spPr>
            <a:xfrm>
              <a:off x="1420399" y="1269187"/>
              <a:ext cx="614477" cy="4608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4" name="Satellite 1 text"/>
            <p:cNvSpPr/>
            <p:nvPr/>
          </p:nvSpPr>
          <p:spPr>
            <a:xfrm>
              <a:off x="2221413" y="1234440"/>
              <a:ext cx="3722187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5" name="label#2 &gt; Satellit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1598" y="1695356"/>
              <a:ext cx="768096" cy="7680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6" name="Satellite 2"/>
            <p:cNvSpPr/>
            <p:nvPr/>
          </p:nvSpPr>
          <p:spPr>
            <a:xfrm>
              <a:off x="2218408" y="1848975"/>
              <a:ext cx="614477" cy="4608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17" name="Satellite 2 text"/>
            <p:cNvSpPr/>
            <p:nvPr/>
          </p:nvSpPr>
          <p:spPr>
            <a:xfrm>
              <a:off x="3019422" y="1887380"/>
              <a:ext cx="292417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18" name="label#3 &gt; Satellit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446411" y="2633472"/>
              <a:ext cx="768096" cy="7680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19" name="Satellite 3"/>
            <p:cNvSpPr/>
            <p:nvPr/>
          </p:nvSpPr>
          <p:spPr>
            <a:xfrm>
              <a:off x="2523220" y="2787091"/>
              <a:ext cx="614477" cy="4608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0" name="Satellite 3 text"/>
            <p:cNvSpPr/>
            <p:nvPr/>
          </p:nvSpPr>
          <p:spPr>
            <a:xfrm>
              <a:off x="3324235" y="2825496"/>
              <a:ext cx="261936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1" name="label#4 &gt; Satellit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1598" y="3571588"/>
              <a:ext cx="768096" cy="7680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2" name="Satellite 4"/>
            <p:cNvSpPr/>
            <p:nvPr/>
          </p:nvSpPr>
          <p:spPr>
            <a:xfrm>
              <a:off x="2218408" y="3725207"/>
              <a:ext cx="614477" cy="4608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3" name="Satellite 4 text"/>
            <p:cNvSpPr/>
            <p:nvPr/>
          </p:nvSpPr>
          <p:spPr>
            <a:xfrm>
              <a:off x="3019422" y="3763612"/>
              <a:ext cx="292417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  <p:sp>
          <p:nvSpPr>
            <p:cNvPr id="24" name="label#5 &gt; Satellit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43589" y="4151376"/>
              <a:ext cx="768096" cy="7680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  <a:prstDash val="solid"/>
            </a:ln>
          </p:spPr>
        </p:sp>
        <p:sp>
          <p:nvSpPr>
            <p:cNvPr id="25" name="Satellite 5"/>
            <p:cNvSpPr/>
            <p:nvPr/>
          </p:nvSpPr>
          <p:spPr>
            <a:xfrm>
              <a:off x="1420399" y="4304995"/>
              <a:ext cx="614477" cy="4608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Satellite name</a:t>
              </a:r>
              <a:endParaRPr lang="en-US" sz="1000" dirty="0"/>
            </a:p>
          </p:txBody>
        </p:sp>
        <p:sp>
          <p:nvSpPr>
            <p:cNvPr id="26" name="Satellite 5 text"/>
            <p:cNvSpPr/>
            <p:nvPr/>
          </p:nvSpPr>
          <p:spPr>
            <a:xfrm>
              <a:off x="2221413" y="4416552"/>
              <a:ext cx="3722187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Short text about this satellite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ake Clean Neutral">
  <a:themeElements>
    <a:clrScheme name="Make Clean Neutral">
      <a:dk1>
        <a:srgbClr val="111111"/>
      </a:dk1>
      <a:lt1>
        <a:srgbClr val="FFFFFF"/>
      </a:lt1>
      <a:dk2>
        <a:srgbClr val="404040"/>
      </a:dk2>
      <a:lt2>
        <a:srgbClr val="F2F2F2"/>
      </a:lt2>
      <a:accent1>
        <a:srgbClr val="1F1F1F"/>
      </a:accent1>
      <a:accent2>
        <a:srgbClr val="595959"/>
      </a:accent2>
      <a:accent3>
        <a:srgbClr val="8C8C8C"/>
      </a:accent3>
      <a:accent4>
        <a:srgbClr val="B3B3B3"/>
      </a:accent4>
      <a:accent5>
        <a:srgbClr val="D0D0D0"/>
      </a:accent5>
      <a:accent6>
        <a:srgbClr val="E6E6E6"/>
      </a:accent6>
      <a:hlink>
        <a:srgbClr val="404040"/>
      </a:hlink>
      <a:folHlink>
        <a:srgbClr val="8C8C8C"/>
      </a:folHlink>
    </a:clrScheme>
    <a:fontScheme name="Make Clean Neutr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github.com/MaximeRumpler/Make_Clean_PPTX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Clean PPTX, visuals</dc:title>
  <dc:subject>PptxGenJS Presentation</dc:subject>
  <dc:creator>Make Clean PPTX</dc:creator>
  <cp:lastModifiedBy>Make Clean PPTX</cp:lastModifiedBy>
  <cp:revision>1</cp:revision>
  <dcterms:created xsi:type="dcterms:W3CDTF">2026-10-25T00:00:00Z</dcterms:created>
  <dcterms:modified xsi:type="dcterms:W3CDTF">2026-10-25T00:00:00Z</dcterms:modified>
</cp:coreProperties>
</file>